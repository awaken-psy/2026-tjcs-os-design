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0"/>
  </p:notesMasterIdLst>
  <p:sldIdLst>
    <p:sldId id="1356" r:id="rId2"/>
    <p:sldId id="1838" r:id="rId3"/>
    <p:sldId id="1859" r:id="rId4"/>
    <p:sldId id="1867" r:id="rId5"/>
    <p:sldId id="1866" r:id="rId6"/>
    <p:sldId id="1858" r:id="rId7"/>
    <p:sldId id="1860" r:id="rId8"/>
    <p:sldId id="1862" r:id="rId9"/>
    <p:sldId id="1868" r:id="rId10"/>
    <p:sldId id="1861" r:id="rId11"/>
    <p:sldId id="1874" r:id="rId12"/>
    <p:sldId id="1864" r:id="rId13"/>
    <p:sldId id="1869" r:id="rId14"/>
    <p:sldId id="1865" r:id="rId15"/>
    <p:sldId id="1872" r:id="rId16"/>
    <p:sldId id="1870" r:id="rId17"/>
    <p:sldId id="1873" r:id="rId18"/>
    <p:sldId id="1871" r:id="rId19"/>
    <p:sldId id="1875" r:id="rId20"/>
    <p:sldId id="1839" r:id="rId21"/>
    <p:sldId id="1844" r:id="rId22"/>
    <p:sldId id="1848" r:id="rId23"/>
    <p:sldId id="1849" r:id="rId24"/>
    <p:sldId id="1847" r:id="rId25"/>
    <p:sldId id="1853" r:id="rId26"/>
    <p:sldId id="1855" r:id="rId27"/>
    <p:sldId id="1856" r:id="rId28"/>
    <p:sldId id="1876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E6DCD2"/>
    <a:srgbClr val="F1F8EC"/>
    <a:srgbClr val="6076B4"/>
    <a:srgbClr val="76BC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27" autoAdjust="0"/>
    <p:restoredTop sz="94660"/>
  </p:normalViewPr>
  <p:slideViewPr>
    <p:cSldViewPr>
      <p:cViewPr varScale="1">
        <p:scale>
          <a:sx n="97" d="100"/>
          <a:sy n="97" d="100"/>
        </p:scale>
        <p:origin x="75" y="21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7EC934-AAE1-4034-878A-A8E4B28A8F37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EE2894-4A0E-4F85-8A4D-715B5FF700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588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83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9684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04968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21F69DBB-D095-476E-99CA-ACA1A381B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9834" y="6356350"/>
            <a:ext cx="2743200" cy="365125"/>
          </a:xfrm>
        </p:spPr>
        <p:txBody>
          <a:bodyPr/>
          <a:lstStyle/>
          <a:p>
            <a:fld id="{18353A2E-92EE-4F23-A078-2A07C43737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469978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58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04858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279834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353A2E-92EE-4F23-A078-2A07C437378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B8374CC-8004-4B66-B024-05A65CB22FE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6259" y="47115"/>
            <a:ext cx="1235741" cy="772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102">
            <a:extLst>
              <a:ext uri="{FF2B5EF4-FFF2-40B4-BE49-F238E27FC236}">
                <a16:creationId xmlns:a16="http://schemas.microsoft.com/office/drawing/2014/main" id="{B363AC25-6A75-4D66-B269-D6708B896258}"/>
              </a:ext>
            </a:extLst>
          </p:cNvPr>
          <p:cNvSpPr/>
          <p:nvPr userDrawn="1"/>
        </p:nvSpPr>
        <p:spPr>
          <a:xfrm>
            <a:off x="-20856" y="0"/>
            <a:ext cx="818023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551995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03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9704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970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AA6576EA-FD1D-45C0-8AC5-13812A603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9834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353A2E-92EE-4F23-A078-2A07C43737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700273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2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9722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049723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04972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A58FE217-3997-42E7-A143-99AE1AFE0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9834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353A2E-92EE-4F23-A078-2A07C437378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102">
            <a:extLst>
              <a:ext uri="{FF2B5EF4-FFF2-40B4-BE49-F238E27FC236}">
                <a16:creationId xmlns:a16="http://schemas.microsoft.com/office/drawing/2014/main" id="{A51AF415-566E-4000-B549-F8D46043F75E}"/>
              </a:ext>
            </a:extLst>
          </p:cNvPr>
          <p:cNvSpPr/>
          <p:nvPr userDrawn="1"/>
        </p:nvSpPr>
        <p:spPr>
          <a:xfrm>
            <a:off x="-20856" y="0"/>
            <a:ext cx="818023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512121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08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9709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9710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04971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9712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04971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D7A735BB-9E5F-4AD4-A13E-89E56EDF6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9834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353A2E-92EE-4F23-A078-2A07C43737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138507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8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969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A1551B-6F11-4671-A2CC-F7C234CF4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9834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353A2E-92EE-4F23-A078-2A07C437378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102">
            <a:extLst>
              <a:ext uri="{FF2B5EF4-FFF2-40B4-BE49-F238E27FC236}">
                <a16:creationId xmlns:a16="http://schemas.microsoft.com/office/drawing/2014/main" id="{8C81EF56-89FD-4A33-B162-0B59034347D5}"/>
              </a:ext>
            </a:extLst>
          </p:cNvPr>
          <p:cNvSpPr/>
          <p:nvPr userDrawn="1"/>
        </p:nvSpPr>
        <p:spPr>
          <a:xfrm>
            <a:off x="-20856" y="0"/>
            <a:ext cx="818023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911346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BA4B211E-6FC7-4BDA-8946-80BC27899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9834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353A2E-92EE-4F23-A078-2A07C437378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34D050F-E3CE-4B0F-A2FD-F6F582107C0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3595" y="47116"/>
            <a:ext cx="1068405" cy="66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直接连接符 10">
            <a:extLst>
              <a:ext uri="{FF2B5EF4-FFF2-40B4-BE49-F238E27FC236}">
                <a16:creationId xmlns:a16="http://schemas.microsoft.com/office/drawing/2014/main" id="{62806AFC-2C2B-46D1-9E46-10BC5C07BFAF}"/>
              </a:ext>
            </a:extLst>
          </p:cNvPr>
          <p:cNvSpPr/>
          <p:nvPr userDrawn="1"/>
        </p:nvSpPr>
        <p:spPr>
          <a:xfrm>
            <a:off x="797167" y="770496"/>
            <a:ext cx="11158826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  <a:prstDash val="sysDot"/>
            <a:miter lim="400000"/>
          </a:ln>
        </p:spPr>
        <p:txBody>
          <a:bodyPr lIns="45719" rIns="45719"/>
          <a:lstStyle/>
          <a:p>
            <a:pPr>
              <a:lnSpc>
                <a:spcPct val="150000"/>
              </a:lnSpc>
              <a:defRPr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defRPr>
            </a:pPr>
            <a:endParaRPr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直接连接符 10">
            <a:extLst>
              <a:ext uri="{FF2B5EF4-FFF2-40B4-BE49-F238E27FC236}">
                <a16:creationId xmlns:a16="http://schemas.microsoft.com/office/drawing/2014/main" id="{AAF716CF-16DA-415D-8E58-A8E095AB3A9F}"/>
              </a:ext>
            </a:extLst>
          </p:cNvPr>
          <p:cNvSpPr/>
          <p:nvPr userDrawn="1"/>
        </p:nvSpPr>
        <p:spPr>
          <a:xfrm>
            <a:off x="790543" y="6312620"/>
            <a:ext cx="11158826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  <a:prstDash val="sysDot"/>
            <a:miter lim="400000"/>
          </a:ln>
        </p:spPr>
        <p:txBody>
          <a:bodyPr lIns="45719" rIns="45719"/>
          <a:lstStyle/>
          <a:p>
            <a:pPr>
              <a:lnSpc>
                <a:spcPct val="150000"/>
              </a:lnSpc>
              <a:defRPr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defRPr>
            </a:pPr>
            <a:endParaRPr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矩形 102">
            <a:extLst>
              <a:ext uri="{FF2B5EF4-FFF2-40B4-BE49-F238E27FC236}">
                <a16:creationId xmlns:a16="http://schemas.microsoft.com/office/drawing/2014/main" id="{9E3A6A03-81FD-4BCC-8631-D79813AD7048}"/>
              </a:ext>
            </a:extLst>
          </p:cNvPr>
          <p:cNvSpPr/>
          <p:nvPr userDrawn="1"/>
        </p:nvSpPr>
        <p:spPr>
          <a:xfrm>
            <a:off x="-20856" y="0"/>
            <a:ext cx="818023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wrap="squar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1CE27F7-FD9D-41DF-9A77-DF71D3B7D4AF}"/>
              </a:ext>
            </a:extLst>
          </p:cNvPr>
          <p:cNvSpPr/>
          <p:nvPr userDrawn="1"/>
        </p:nvSpPr>
        <p:spPr>
          <a:xfrm>
            <a:off x="225287" y="92766"/>
            <a:ext cx="3889513" cy="66756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îŝḷîḋe">
            <a:extLst>
              <a:ext uri="{FF2B5EF4-FFF2-40B4-BE49-F238E27FC236}">
                <a16:creationId xmlns:a16="http://schemas.microsoft.com/office/drawing/2014/main" id="{04EDCEB0-1741-4F59-82FA-0392DF6BB046}"/>
              </a:ext>
            </a:extLst>
          </p:cNvPr>
          <p:cNvSpPr/>
          <p:nvPr userDrawn="1"/>
        </p:nvSpPr>
        <p:spPr bwMode="auto">
          <a:xfrm>
            <a:off x="361093" y="253621"/>
            <a:ext cx="365488" cy="359105"/>
          </a:xfrm>
          <a:custGeom>
            <a:avLst/>
            <a:gdLst>
              <a:gd name="T0" fmla="*/ 1312 w 1990"/>
              <a:gd name="T1" fmla="*/ 1552 h 1954"/>
              <a:gd name="T2" fmla="*/ 291 w 1990"/>
              <a:gd name="T3" fmla="*/ 1746 h 1954"/>
              <a:gd name="T4" fmla="*/ 0 w 1990"/>
              <a:gd name="T5" fmla="*/ 540 h 1954"/>
              <a:gd name="T6" fmla="*/ 515 w 1990"/>
              <a:gd name="T7" fmla="*/ 249 h 1954"/>
              <a:gd name="T8" fmla="*/ 1205 w 1990"/>
              <a:gd name="T9" fmla="*/ 0 h 1954"/>
              <a:gd name="T10" fmla="*/ 1496 w 1990"/>
              <a:gd name="T11" fmla="*/ 489 h 1954"/>
              <a:gd name="T12" fmla="*/ 1413 w 1990"/>
              <a:gd name="T13" fmla="*/ 291 h 1954"/>
              <a:gd name="T14" fmla="*/ 802 w 1990"/>
              <a:gd name="T15" fmla="*/ 83 h 1954"/>
              <a:gd name="T16" fmla="*/ 1039 w 1990"/>
              <a:gd name="T17" fmla="*/ 249 h 1954"/>
              <a:gd name="T18" fmla="*/ 1243 w 1990"/>
              <a:gd name="T19" fmla="*/ 499 h 1954"/>
              <a:gd name="T20" fmla="*/ 291 w 1990"/>
              <a:gd name="T21" fmla="*/ 333 h 1954"/>
              <a:gd name="T22" fmla="*/ 83 w 1990"/>
              <a:gd name="T23" fmla="*/ 1455 h 1954"/>
              <a:gd name="T24" fmla="*/ 1039 w 1990"/>
              <a:gd name="T25" fmla="*/ 1663 h 1954"/>
              <a:gd name="T26" fmla="*/ 1641 w 1990"/>
              <a:gd name="T27" fmla="*/ 1453 h 1954"/>
              <a:gd name="T28" fmla="*/ 1138 w 1990"/>
              <a:gd name="T29" fmla="*/ 583 h 1954"/>
              <a:gd name="T30" fmla="*/ 1641 w 1990"/>
              <a:gd name="T31" fmla="*/ 1453 h 1954"/>
              <a:gd name="T32" fmla="*/ 1752 w 1990"/>
              <a:gd name="T33" fmla="*/ 809 h 1954"/>
              <a:gd name="T34" fmla="*/ 1026 w 1990"/>
              <a:gd name="T35" fmla="*/ 1228 h 1954"/>
              <a:gd name="T36" fmla="*/ 1767 w 1990"/>
              <a:gd name="T37" fmla="*/ 1422 h 1954"/>
              <a:gd name="T38" fmla="*/ 1717 w 1990"/>
              <a:gd name="T39" fmla="*/ 1835 h 1954"/>
              <a:gd name="T40" fmla="*/ 1767 w 1990"/>
              <a:gd name="T41" fmla="*/ 1422 h 1954"/>
              <a:gd name="T42" fmla="*/ 1739 w 1990"/>
              <a:gd name="T43" fmla="*/ 1874 h 1954"/>
              <a:gd name="T44" fmla="*/ 1956 w 1990"/>
              <a:gd name="T45" fmla="*/ 1749 h 1954"/>
              <a:gd name="T46" fmla="*/ 249 w 1990"/>
              <a:gd name="T47" fmla="*/ 551 h 1954"/>
              <a:gd name="T48" fmla="*/ 803 w 1990"/>
              <a:gd name="T49" fmla="*/ 613 h 1954"/>
              <a:gd name="T50" fmla="*/ 675 w 1990"/>
              <a:gd name="T51" fmla="*/ 828 h 1954"/>
              <a:gd name="T52" fmla="*/ 249 w 1990"/>
              <a:gd name="T53" fmla="*/ 890 h 1954"/>
              <a:gd name="T54" fmla="*/ 675 w 1990"/>
              <a:gd name="T55" fmla="*/ 828 h 1954"/>
              <a:gd name="T56" fmla="*/ 675 w 1990"/>
              <a:gd name="T57" fmla="*/ 1167 h 1954"/>
              <a:gd name="T58" fmla="*/ 249 w 1990"/>
              <a:gd name="T59" fmla="*/ 1105 h 1954"/>
              <a:gd name="T60" fmla="*/ 249 w 1990"/>
              <a:gd name="T61" fmla="*/ 1444 h 1954"/>
              <a:gd name="T62" fmla="*/ 803 w 1990"/>
              <a:gd name="T63" fmla="*/ 1382 h 1954"/>
              <a:gd name="T64" fmla="*/ 249 w 1990"/>
              <a:gd name="T65" fmla="*/ 1444 h 1954"/>
              <a:gd name="T66" fmla="*/ 1179 w 1990"/>
              <a:gd name="T67" fmla="*/ 961 h 1954"/>
              <a:gd name="T68" fmla="*/ 1300 w 1990"/>
              <a:gd name="T69" fmla="*/ 1219 h 1954"/>
              <a:gd name="T70" fmla="*/ 1604 w 1990"/>
              <a:gd name="T71" fmla="*/ 858 h 19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990" h="1954">
                <a:moveTo>
                  <a:pt x="1231" y="1534"/>
                </a:moveTo>
                <a:cubicBezTo>
                  <a:pt x="1258" y="1542"/>
                  <a:pt x="1285" y="1548"/>
                  <a:pt x="1312" y="1552"/>
                </a:cubicBezTo>
                <a:cubicBezTo>
                  <a:pt x="1272" y="1665"/>
                  <a:pt x="1165" y="1746"/>
                  <a:pt x="1039" y="1746"/>
                </a:cubicBezTo>
                <a:lnTo>
                  <a:pt x="291" y="1746"/>
                </a:lnTo>
                <a:cubicBezTo>
                  <a:pt x="131" y="1746"/>
                  <a:pt x="0" y="1615"/>
                  <a:pt x="0" y="1455"/>
                </a:cubicBezTo>
                <a:lnTo>
                  <a:pt x="0" y="540"/>
                </a:lnTo>
                <a:cubicBezTo>
                  <a:pt x="0" y="380"/>
                  <a:pt x="131" y="249"/>
                  <a:pt x="291" y="249"/>
                </a:cubicBezTo>
                <a:lnTo>
                  <a:pt x="515" y="249"/>
                </a:lnTo>
                <a:cubicBezTo>
                  <a:pt x="535" y="109"/>
                  <a:pt x="656" y="0"/>
                  <a:pt x="802" y="0"/>
                </a:cubicBezTo>
                <a:lnTo>
                  <a:pt x="1205" y="0"/>
                </a:lnTo>
                <a:cubicBezTo>
                  <a:pt x="1366" y="0"/>
                  <a:pt x="1496" y="131"/>
                  <a:pt x="1496" y="291"/>
                </a:cubicBezTo>
                <a:lnTo>
                  <a:pt x="1496" y="489"/>
                </a:lnTo>
                <a:cubicBezTo>
                  <a:pt x="1469" y="484"/>
                  <a:pt x="1441" y="480"/>
                  <a:pt x="1413" y="479"/>
                </a:cubicBezTo>
                <a:lnTo>
                  <a:pt x="1413" y="291"/>
                </a:lnTo>
                <a:cubicBezTo>
                  <a:pt x="1413" y="176"/>
                  <a:pt x="1320" y="83"/>
                  <a:pt x="1205" y="83"/>
                </a:cubicBezTo>
                <a:lnTo>
                  <a:pt x="802" y="83"/>
                </a:lnTo>
                <a:cubicBezTo>
                  <a:pt x="701" y="83"/>
                  <a:pt x="617" y="155"/>
                  <a:pt x="598" y="249"/>
                </a:cubicBezTo>
                <a:lnTo>
                  <a:pt x="1039" y="249"/>
                </a:lnTo>
                <a:cubicBezTo>
                  <a:pt x="1180" y="249"/>
                  <a:pt x="1297" y="349"/>
                  <a:pt x="1324" y="482"/>
                </a:cubicBezTo>
                <a:cubicBezTo>
                  <a:pt x="1297" y="485"/>
                  <a:pt x="1270" y="491"/>
                  <a:pt x="1243" y="499"/>
                </a:cubicBezTo>
                <a:cubicBezTo>
                  <a:pt x="1224" y="404"/>
                  <a:pt x="1140" y="333"/>
                  <a:pt x="1039" y="333"/>
                </a:cubicBezTo>
                <a:lnTo>
                  <a:pt x="291" y="333"/>
                </a:lnTo>
                <a:cubicBezTo>
                  <a:pt x="177" y="333"/>
                  <a:pt x="83" y="426"/>
                  <a:pt x="83" y="540"/>
                </a:cubicBezTo>
                <a:lnTo>
                  <a:pt x="83" y="1455"/>
                </a:lnTo>
                <a:cubicBezTo>
                  <a:pt x="83" y="1569"/>
                  <a:pt x="177" y="1663"/>
                  <a:pt x="291" y="1663"/>
                </a:cubicBezTo>
                <a:lnTo>
                  <a:pt x="1039" y="1663"/>
                </a:lnTo>
                <a:cubicBezTo>
                  <a:pt x="1126" y="1663"/>
                  <a:pt x="1200" y="1609"/>
                  <a:pt x="1231" y="1534"/>
                </a:cubicBezTo>
                <a:close/>
                <a:moveTo>
                  <a:pt x="1641" y="1453"/>
                </a:moveTo>
                <a:cubicBezTo>
                  <a:pt x="1401" y="1591"/>
                  <a:pt x="1093" y="1509"/>
                  <a:pt x="955" y="1269"/>
                </a:cubicBezTo>
                <a:cubicBezTo>
                  <a:pt x="816" y="1029"/>
                  <a:pt x="899" y="722"/>
                  <a:pt x="1138" y="583"/>
                </a:cubicBezTo>
                <a:cubicBezTo>
                  <a:pt x="1378" y="445"/>
                  <a:pt x="1686" y="527"/>
                  <a:pt x="1824" y="767"/>
                </a:cubicBezTo>
                <a:cubicBezTo>
                  <a:pt x="1963" y="1007"/>
                  <a:pt x="1880" y="1314"/>
                  <a:pt x="1641" y="1453"/>
                </a:cubicBezTo>
                <a:close/>
                <a:moveTo>
                  <a:pt x="1599" y="1381"/>
                </a:moveTo>
                <a:cubicBezTo>
                  <a:pt x="1799" y="1266"/>
                  <a:pt x="1868" y="1009"/>
                  <a:pt x="1752" y="809"/>
                </a:cubicBezTo>
                <a:cubicBezTo>
                  <a:pt x="1637" y="608"/>
                  <a:pt x="1380" y="539"/>
                  <a:pt x="1180" y="655"/>
                </a:cubicBezTo>
                <a:cubicBezTo>
                  <a:pt x="980" y="771"/>
                  <a:pt x="911" y="1027"/>
                  <a:pt x="1026" y="1228"/>
                </a:cubicBezTo>
                <a:cubicBezTo>
                  <a:pt x="1142" y="1428"/>
                  <a:pt x="1399" y="1497"/>
                  <a:pt x="1599" y="1381"/>
                </a:cubicBezTo>
                <a:close/>
                <a:moveTo>
                  <a:pt x="1767" y="1422"/>
                </a:moveTo>
                <a:lnTo>
                  <a:pt x="1551" y="1547"/>
                </a:lnTo>
                <a:lnTo>
                  <a:pt x="1717" y="1835"/>
                </a:lnTo>
                <a:lnTo>
                  <a:pt x="1933" y="1710"/>
                </a:lnTo>
                <a:lnTo>
                  <a:pt x="1767" y="1422"/>
                </a:lnTo>
                <a:close/>
                <a:moveTo>
                  <a:pt x="1956" y="1749"/>
                </a:moveTo>
                <a:lnTo>
                  <a:pt x="1739" y="1874"/>
                </a:lnTo>
                <a:cubicBezTo>
                  <a:pt x="1774" y="1934"/>
                  <a:pt x="1850" y="1954"/>
                  <a:pt x="1910" y="1919"/>
                </a:cubicBezTo>
                <a:cubicBezTo>
                  <a:pt x="1969" y="1885"/>
                  <a:pt x="1990" y="1809"/>
                  <a:pt x="1956" y="1749"/>
                </a:cubicBezTo>
                <a:close/>
                <a:moveTo>
                  <a:pt x="803" y="551"/>
                </a:moveTo>
                <a:lnTo>
                  <a:pt x="249" y="551"/>
                </a:lnTo>
                <a:lnTo>
                  <a:pt x="249" y="613"/>
                </a:lnTo>
                <a:lnTo>
                  <a:pt x="803" y="613"/>
                </a:lnTo>
                <a:lnTo>
                  <a:pt x="803" y="551"/>
                </a:lnTo>
                <a:close/>
                <a:moveTo>
                  <a:pt x="675" y="828"/>
                </a:moveTo>
                <a:lnTo>
                  <a:pt x="249" y="828"/>
                </a:lnTo>
                <a:lnTo>
                  <a:pt x="249" y="890"/>
                </a:lnTo>
                <a:lnTo>
                  <a:pt x="675" y="890"/>
                </a:lnTo>
                <a:lnTo>
                  <a:pt x="675" y="828"/>
                </a:lnTo>
                <a:close/>
                <a:moveTo>
                  <a:pt x="249" y="1167"/>
                </a:moveTo>
                <a:lnTo>
                  <a:pt x="675" y="1167"/>
                </a:lnTo>
                <a:lnTo>
                  <a:pt x="675" y="1105"/>
                </a:lnTo>
                <a:lnTo>
                  <a:pt x="249" y="1105"/>
                </a:lnTo>
                <a:lnTo>
                  <a:pt x="249" y="1167"/>
                </a:lnTo>
                <a:close/>
                <a:moveTo>
                  <a:pt x="249" y="1444"/>
                </a:moveTo>
                <a:lnTo>
                  <a:pt x="803" y="1444"/>
                </a:lnTo>
                <a:lnTo>
                  <a:pt x="803" y="1382"/>
                </a:lnTo>
                <a:lnTo>
                  <a:pt x="249" y="1382"/>
                </a:lnTo>
                <a:lnTo>
                  <a:pt x="249" y="1444"/>
                </a:lnTo>
                <a:close/>
                <a:moveTo>
                  <a:pt x="1308" y="1105"/>
                </a:moveTo>
                <a:lnTo>
                  <a:pt x="1179" y="961"/>
                </a:lnTo>
                <a:lnTo>
                  <a:pt x="1118" y="1017"/>
                </a:lnTo>
                <a:lnTo>
                  <a:pt x="1300" y="1219"/>
                </a:lnTo>
                <a:lnTo>
                  <a:pt x="1657" y="922"/>
                </a:lnTo>
                <a:lnTo>
                  <a:pt x="1604" y="858"/>
                </a:lnTo>
                <a:lnTo>
                  <a:pt x="1308" y="1105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Arial" panose="020B0604020202020204" pitchFamily="34" charset="0"/>
              <a:ea typeface="思源黑体 CN Normal" panose="020B04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475137E0-C279-4235-B0C7-742D7D2BE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387" y="131247"/>
            <a:ext cx="10515600" cy="62208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6471806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27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9728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049729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9731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4E68CF93-DE9F-4D1D-AAB7-1D71E6AA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9834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353A2E-92EE-4F23-A078-2A07C43737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79623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97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9698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9699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9701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5451882B-F588-4BA0-B360-7542AC6F5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9834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353A2E-92EE-4F23-A078-2A07C43737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5616607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1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9717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04971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C50C8851-F64D-4F0C-8E35-BBFCFCAB4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9834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353A2E-92EE-4F23-A078-2A07C43737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487161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9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969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04969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5A3DF84-367C-47DE-8DFD-A159A9BE4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9834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353A2E-92EE-4F23-A078-2A07C43737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758964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7" name="直接连接符 10">
            <a:extLst>
              <a:ext uri="{FF2B5EF4-FFF2-40B4-BE49-F238E27FC236}">
                <a16:creationId xmlns:a16="http://schemas.microsoft.com/office/drawing/2014/main" id="{440CBDE3-728A-4522-9430-013B315BFF9C}"/>
              </a:ext>
            </a:extLst>
          </p:cNvPr>
          <p:cNvSpPr/>
          <p:nvPr userDrawn="1"/>
        </p:nvSpPr>
        <p:spPr>
          <a:xfrm>
            <a:off x="790543" y="6312620"/>
            <a:ext cx="11158826" cy="0"/>
          </a:xfrm>
          <a:prstGeom prst="line">
            <a:avLst/>
          </a:prstGeom>
          <a:ln w="12700">
            <a:solidFill>
              <a:srgbClr val="8EB3D3"/>
            </a:solidFill>
            <a:prstDash val="sysDot"/>
            <a:miter lim="400000"/>
          </a:ln>
        </p:spPr>
        <p:txBody>
          <a:bodyPr lIns="45719" rIns="45719"/>
          <a:lstStyle/>
          <a:p>
            <a:pPr>
              <a:lnSpc>
                <a:spcPct val="150000"/>
              </a:lnSpc>
              <a:defRPr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defRPr>
            </a:pPr>
            <a:endParaRPr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59974A12-B758-42BF-B278-195544C635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7983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altLang="en-US" sz="1200" smtClean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18353A2E-92EE-4F23-A078-2A07C437378B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" name="页脚占位符 4">
            <a:extLst>
              <a:ext uri="{FF2B5EF4-FFF2-40B4-BE49-F238E27FC236}">
                <a16:creationId xmlns:a16="http://schemas.microsoft.com/office/drawing/2014/main" id="{C0F338C6-08A7-4925-9664-D926AFBFC64E}"/>
              </a:ext>
            </a:extLst>
          </p:cNvPr>
          <p:cNvSpPr txBox="1">
            <a:spLocks/>
          </p:cNvSpPr>
          <p:nvPr userDrawn="1"/>
        </p:nvSpPr>
        <p:spPr>
          <a:xfrm>
            <a:off x="771939" y="635634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/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2024-2025-1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，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Fang Yu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282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ransition spd="slow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E47E49-7DA4-4D91-A70E-5CBFA2755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53A2E-92EE-4F23-A078-2A07C437378B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9AC54027-51EB-47CE-BF6E-A529DCDBD2BD}"/>
              </a:ext>
            </a:extLst>
          </p:cNvPr>
          <p:cNvSpPr txBox="1">
            <a:spLocks/>
          </p:cNvSpPr>
          <p:nvPr/>
        </p:nvSpPr>
        <p:spPr>
          <a:xfrm>
            <a:off x="4367808" y="3298346"/>
            <a:ext cx="7359735" cy="1524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377" rtl="0" eaLnBrk="1" latinLnBrk="0" hangingPunct="1">
              <a:spcBef>
                <a:spcPct val="0"/>
              </a:spcBef>
              <a:buNone/>
              <a:defRPr sz="80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Impact"/>
                <a:ea typeface="微软雅黑" panose="020B0503020204020204" pitchFamily="34" charset="-122"/>
                <a:cs typeface="+mj-cs"/>
              </a:rPr>
              <a:t>UNIX V6 ++ </a:t>
            </a:r>
            <a:r>
              <a:rPr kumimoji="0" lang="zh-CN" altLang="en-US" sz="7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Impact"/>
                <a:ea typeface="微软雅黑" panose="020B0503020204020204" pitchFamily="34" charset="-122"/>
                <a:cs typeface="+mj-cs"/>
              </a:rPr>
              <a:t>离散化      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B840F7-9D99-4080-A3ED-F09B124318CF}"/>
              </a:ext>
            </a:extLst>
          </p:cNvPr>
          <p:cNvSpPr/>
          <p:nvPr/>
        </p:nvSpPr>
        <p:spPr>
          <a:xfrm>
            <a:off x="695325" y="0"/>
            <a:ext cx="10572751" cy="3429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9" tIns="60944" rIns="121889" bIns="60944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07048784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82E4A4-4B4D-41BF-9F68-1575C742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353A2E-92EE-4F23-A078-2A07C43737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C4DE104-5DA1-4B88-B642-58DE3423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内存管理方式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39E414-46C6-82FA-90D6-990D035D542D}"/>
              </a:ext>
            </a:extLst>
          </p:cNvPr>
          <p:cNvSpPr txBox="1"/>
          <p:nvPr/>
        </p:nvSpPr>
        <p:spPr>
          <a:xfrm>
            <a:off x="1055440" y="1196752"/>
            <a:ext cx="1080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设计目标：将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UNIX V6++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的内存管理修改为离散化管理方式，不使用盘交换区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775AE4B-EE75-E011-894D-955786101895}"/>
              </a:ext>
            </a:extLst>
          </p:cNvPr>
          <p:cNvSpPr txBox="1"/>
          <p:nvPr/>
        </p:nvSpPr>
        <p:spPr>
          <a:xfrm>
            <a:off x="1271464" y="2125513"/>
            <a:ext cx="53826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）修改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UNIX V6++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的页表系统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BD58263-A419-0E4D-EF78-891CB34DE293}"/>
              </a:ext>
            </a:extLst>
          </p:cNvPr>
          <p:cNvSpPr txBox="1"/>
          <p:nvPr/>
        </p:nvSpPr>
        <p:spPr>
          <a:xfrm>
            <a:off x="1271464" y="3140968"/>
            <a:ext cx="53826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）将内存分配方式改为位示图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6CF7922-4F17-9C84-D1DC-ACFCF25E327E}"/>
              </a:ext>
            </a:extLst>
          </p:cNvPr>
          <p:cNvSpPr txBox="1"/>
          <p:nvPr/>
        </p:nvSpPr>
        <p:spPr>
          <a:xfrm>
            <a:off x="1271464" y="4156423"/>
            <a:ext cx="53826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）离散化存储</a:t>
            </a:r>
          </a:p>
        </p:txBody>
      </p:sp>
    </p:spTree>
    <p:extLst>
      <p:ext uri="{BB962C8B-B14F-4D97-AF65-F5344CB8AC3E}">
        <p14:creationId xmlns:p14="http://schemas.microsoft.com/office/powerpoint/2010/main" val="3586293609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82E4A4-4B4D-41BF-9F68-1575C742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353A2E-92EE-4F23-A078-2A07C43737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C4DE104-5DA1-4B88-B642-58DE3423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需要完成的设计内容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39E414-46C6-82FA-90D6-990D035D542D}"/>
              </a:ext>
            </a:extLst>
          </p:cNvPr>
          <p:cNvSpPr txBox="1"/>
          <p:nvPr/>
        </p:nvSpPr>
        <p:spPr>
          <a:xfrm>
            <a:off x="3503712" y="3093173"/>
            <a:ext cx="53826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页表系统修改</a:t>
            </a:r>
          </a:p>
        </p:txBody>
      </p:sp>
    </p:spTree>
    <p:extLst>
      <p:ext uri="{BB962C8B-B14F-4D97-AF65-F5344CB8AC3E}">
        <p14:creationId xmlns:p14="http://schemas.microsoft.com/office/powerpoint/2010/main" val="3121295377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82E4A4-4B4D-41BF-9F68-1575C742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353A2E-92EE-4F23-A078-2A07C43737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C4DE104-5DA1-4B88-B642-58DE3423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页表系统</a:t>
            </a:r>
          </a:p>
        </p:txBody>
      </p:sp>
      <p:sp>
        <p:nvSpPr>
          <p:cNvPr id="168" name="Rectangle 4">
            <a:extLst>
              <a:ext uri="{FF2B5EF4-FFF2-40B4-BE49-F238E27FC236}">
                <a16:creationId xmlns:a16="http://schemas.microsoft.com/office/drawing/2014/main" id="{60CA974C-1E35-3437-1DCE-51D492D1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29" y="2715812"/>
            <a:ext cx="244012" cy="142637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wrap="square" tIns="0" bIns="0" anchor="ctr" anchorCtr="1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页表的构成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C156B1B-8C48-9932-2576-0514DF89632E}"/>
              </a:ext>
            </a:extLst>
          </p:cNvPr>
          <p:cNvGrpSpPr/>
          <p:nvPr/>
        </p:nvGrpSpPr>
        <p:grpSpPr>
          <a:xfrm>
            <a:off x="637672" y="797428"/>
            <a:ext cx="2537493" cy="5593557"/>
            <a:chOff x="119336" y="632221"/>
            <a:chExt cx="2537493" cy="5593557"/>
          </a:xfrm>
        </p:grpSpPr>
        <p:sp>
          <p:nvSpPr>
            <p:cNvPr id="5" name="矩形 83">
              <a:extLst>
                <a:ext uri="{FF2B5EF4-FFF2-40B4-BE49-F238E27FC236}">
                  <a16:creationId xmlns:a16="http://schemas.microsoft.com/office/drawing/2014/main" id="{2868DCD3-4DF2-C6F8-6359-86071EB62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438" y="3974628"/>
              <a:ext cx="907527" cy="227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3G+1M</a:t>
              </a:r>
            </a:p>
          </p:txBody>
        </p:sp>
        <p:sp>
          <p:nvSpPr>
            <p:cNvPr id="6" name="矩形 83">
              <a:extLst>
                <a:ext uri="{FF2B5EF4-FFF2-40B4-BE49-F238E27FC236}">
                  <a16:creationId xmlns:a16="http://schemas.microsoft.com/office/drawing/2014/main" id="{2854C7FD-3733-F268-6EC1-602F74E60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056" y="4356990"/>
              <a:ext cx="1020960" cy="2420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3G+1.5M</a:t>
              </a:r>
            </a:p>
          </p:txBody>
        </p:sp>
        <p:sp>
          <p:nvSpPr>
            <p:cNvPr id="7" name="矩形 83">
              <a:extLst>
                <a:ext uri="{FF2B5EF4-FFF2-40B4-BE49-F238E27FC236}">
                  <a16:creationId xmlns:a16="http://schemas.microsoft.com/office/drawing/2014/main" id="{999220D3-424D-CBB9-02B4-D6FF37326F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24" y="4755427"/>
              <a:ext cx="907527" cy="227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3G+2M</a:t>
              </a:r>
            </a:p>
          </p:txBody>
        </p:sp>
        <p:grpSp>
          <p:nvGrpSpPr>
            <p:cNvPr id="8" name="组合 154">
              <a:extLst>
                <a:ext uri="{FF2B5EF4-FFF2-40B4-BE49-F238E27FC236}">
                  <a16:creationId xmlns:a16="http://schemas.microsoft.com/office/drawing/2014/main" id="{E360B781-E3E5-3118-B3FA-4742BEF66DC4}"/>
                </a:ext>
              </a:extLst>
            </p:cNvPr>
            <p:cNvGrpSpPr/>
            <p:nvPr/>
          </p:nvGrpSpPr>
          <p:grpSpPr>
            <a:xfrm>
              <a:off x="119336" y="632221"/>
              <a:ext cx="2537493" cy="5593557"/>
              <a:chOff x="-233782" y="836712"/>
              <a:chExt cx="2537493" cy="5593557"/>
            </a:xfrm>
          </p:grpSpPr>
          <p:grpSp>
            <p:nvGrpSpPr>
              <p:cNvPr id="9" name="组合 7">
                <a:extLst>
                  <a:ext uri="{FF2B5EF4-FFF2-40B4-BE49-F238E27FC236}">
                    <a16:creationId xmlns:a16="http://schemas.microsoft.com/office/drawing/2014/main" id="{2FB4FF3A-A65D-8C40-B22F-20B89D6040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1773" y="836712"/>
                <a:ext cx="1531938" cy="5484937"/>
                <a:chOff x="1244518" y="931129"/>
                <a:chExt cx="1532942" cy="5484953"/>
              </a:xfrm>
            </p:grpSpPr>
            <p:grpSp>
              <p:nvGrpSpPr>
                <p:cNvPr id="14" name="组合 6">
                  <a:extLst>
                    <a:ext uri="{FF2B5EF4-FFF2-40B4-BE49-F238E27FC236}">
                      <a16:creationId xmlns:a16="http://schemas.microsoft.com/office/drawing/2014/main" id="{ED63D6AE-50EA-05DD-0C05-7C072EA0598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08059" y="3956058"/>
                  <a:ext cx="1469401" cy="2460024"/>
                  <a:chOff x="3535262" y="1401025"/>
                  <a:chExt cx="1469401" cy="2460024"/>
                </a:xfrm>
              </p:grpSpPr>
              <p:sp>
                <p:nvSpPr>
                  <p:cNvPr id="24" name="矩形 23">
                    <a:extLst>
                      <a:ext uri="{FF2B5EF4-FFF2-40B4-BE49-F238E27FC236}">
                        <a16:creationId xmlns:a16="http://schemas.microsoft.com/office/drawing/2014/main" id="{D8B22E9B-9FB9-3840-5C1E-3D5A60FEEFF0}"/>
                      </a:ext>
                    </a:extLst>
                  </p:cNvPr>
                  <p:cNvSpPr/>
                  <p:nvPr/>
                </p:nvSpPr>
                <p:spPr>
                  <a:xfrm>
                    <a:off x="3549125" y="1401025"/>
                    <a:ext cx="1437630" cy="2460024"/>
                  </a:xfrm>
                  <a:prstGeom prst="rect">
                    <a:avLst/>
                  </a:prstGeom>
                  <a:solidFill>
                    <a:srgbClr val="00B050"/>
                  </a:solidFill>
                  <a:effectLst/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endParaRPr lang="en-US" altLang="zh-CN" sz="20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25" name="直接箭头连接符 24">
                    <a:extLst>
                      <a:ext uri="{FF2B5EF4-FFF2-40B4-BE49-F238E27FC236}">
                        <a16:creationId xmlns:a16="http://schemas.microsoft.com/office/drawing/2014/main" id="{DF08EC54-1981-EBF7-3B43-5E645AD0485A}"/>
                      </a:ext>
                    </a:extLst>
                  </p:cNvPr>
                  <p:cNvCxnSpPr/>
                  <p:nvPr/>
                </p:nvCxnSpPr>
                <p:spPr>
                  <a:xfrm>
                    <a:off x="3563856" y="1862397"/>
                    <a:ext cx="1440807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26" name="直接箭头连接符 25">
                    <a:extLst>
                      <a:ext uri="{FF2B5EF4-FFF2-40B4-BE49-F238E27FC236}">
                        <a16:creationId xmlns:a16="http://schemas.microsoft.com/office/drawing/2014/main" id="{DC9F849B-54A1-029F-3C6E-66194A0DBFD3}"/>
                      </a:ext>
                    </a:extLst>
                  </p:cNvPr>
                  <p:cNvCxnSpPr/>
                  <p:nvPr/>
                </p:nvCxnSpPr>
                <p:spPr>
                  <a:xfrm>
                    <a:off x="3537101" y="2230374"/>
                    <a:ext cx="1440558" cy="75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27" name="直接箭头连接符 26">
                    <a:extLst>
                      <a:ext uri="{FF2B5EF4-FFF2-40B4-BE49-F238E27FC236}">
                        <a16:creationId xmlns:a16="http://schemas.microsoft.com/office/drawing/2014/main" id="{DC964728-5902-7CC6-2BBE-824AE9ED3D3A}"/>
                      </a:ext>
                    </a:extLst>
                  </p:cNvPr>
                  <p:cNvCxnSpPr/>
                  <p:nvPr/>
                </p:nvCxnSpPr>
                <p:spPr>
                  <a:xfrm>
                    <a:off x="3551399" y="2612821"/>
                    <a:ext cx="1426261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28" name="矩形 96">
                    <a:extLst>
                      <a:ext uri="{FF2B5EF4-FFF2-40B4-BE49-F238E27FC236}">
                        <a16:creationId xmlns:a16="http://schemas.microsoft.com/office/drawing/2014/main" id="{43A82852-6334-0FA9-5FB7-77F3EA7AA10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43594" y="1508767"/>
                    <a:ext cx="1045783" cy="240040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保留区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29" name="矩形 98">
                    <a:extLst>
                      <a:ext uri="{FF2B5EF4-FFF2-40B4-BE49-F238E27FC236}">
                        <a16:creationId xmlns:a16="http://schemas.microsoft.com/office/drawing/2014/main" id="{9E05595F-4833-53F0-063E-53C2BE81BCB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69553" y="1966319"/>
                    <a:ext cx="1117790" cy="198407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内核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30" name="直接箭头连接符 29">
                    <a:extLst>
                      <a:ext uri="{FF2B5EF4-FFF2-40B4-BE49-F238E27FC236}">
                        <a16:creationId xmlns:a16="http://schemas.microsoft.com/office/drawing/2014/main" id="{4D48BF0B-DE5A-0697-70E6-D4D42DD9C885}"/>
                      </a:ext>
                    </a:extLst>
                  </p:cNvPr>
                  <p:cNvCxnSpPr/>
                  <p:nvPr/>
                </p:nvCxnSpPr>
                <p:spPr>
                  <a:xfrm>
                    <a:off x="3535262" y="3500686"/>
                    <a:ext cx="1442397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31" name="矩形 105">
                    <a:extLst>
                      <a:ext uri="{FF2B5EF4-FFF2-40B4-BE49-F238E27FC236}">
                        <a16:creationId xmlns:a16="http://schemas.microsoft.com/office/drawing/2014/main" id="{81C1E01B-B5AA-B1F7-7CAC-B7EBB790A87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568020" y="2239583"/>
                    <a:ext cx="1357035" cy="373238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0" rIns="0"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内核堆对象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32" name="矩形 110">
                    <a:extLst>
                      <a:ext uri="{FF2B5EF4-FFF2-40B4-BE49-F238E27FC236}">
                        <a16:creationId xmlns:a16="http://schemas.microsoft.com/office/drawing/2014/main" id="{7F6FC543-3BF1-D9FA-B1F7-B727A291425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55881" y="2900110"/>
                    <a:ext cx="1185607" cy="348956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页表区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33" name="矩形 111">
                    <a:extLst>
                      <a:ext uri="{FF2B5EF4-FFF2-40B4-BE49-F238E27FC236}">
                        <a16:creationId xmlns:a16="http://schemas.microsoft.com/office/drawing/2014/main" id="{547769D4-2106-17E2-35E4-439B27FD4BD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55881" y="3573016"/>
                    <a:ext cx="1185607" cy="216836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en-US" altLang="zh-CN" sz="1600" kern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PPDA</a:t>
                    </a:r>
                  </a:p>
                </p:txBody>
              </p:sp>
            </p:grpSp>
            <p:grpSp>
              <p:nvGrpSpPr>
                <p:cNvPr id="15" name="组合 5">
                  <a:extLst>
                    <a:ext uri="{FF2B5EF4-FFF2-40B4-BE49-F238E27FC236}">
                      <a16:creationId xmlns:a16="http://schemas.microsoft.com/office/drawing/2014/main" id="{2A2295E3-925C-04E7-F1B4-79344AA2435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44518" y="1248755"/>
                  <a:ext cx="1509582" cy="1981997"/>
                  <a:chOff x="2911404" y="2986958"/>
                  <a:chExt cx="1509582" cy="1981997"/>
                </a:xfrm>
              </p:grpSpPr>
              <p:sp>
                <p:nvSpPr>
                  <p:cNvPr id="17" name="矩形 16">
                    <a:extLst>
                      <a:ext uri="{FF2B5EF4-FFF2-40B4-BE49-F238E27FC236}">
                        <a16:creationId xmlns:a16="http://schemas.microsoft.com/office/drawing/2014/main" id="{50A3B2F0-C460-A74F-AACD-72E6B02DDA6F}"/>
                      </a:ext>
                    </a:extLst>
                  </p:cNvPr>
                  <p:cNvSpPr/>
                  <p:nvPr/>
                </p:nvSpPr>
                <p:spPr>
                  <a:xfrm>
                    <a:off x="2983357" y="2986958"/>
                    <a:ext cx="1437629" cy="1981997"/>
                  </a:xfrm>
                  <a:prstGeom prst="rect">
                    <a:avLst/>
                  </a:prstGeom>
                  <a:solidFill>
                    <a:srgbClr val="00B050"/>
                  </a:solidFill>
                  <a:effectLst/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endParaRPr lang="en-US" altLang="zh-CN" sz="20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18" name="直接箭头连接符 17">
                    <a:extLst>
                      <a:ext uri="{FF2B5EF4-FFF2-40B4-BE49-F238E27FC236}">
                        <a16:creationId xmlns:a16="http://schemas.microsoft.com/office/drawing/2014/main" id="{D9DFE7B7-7A9F-0246-28D9-D0B22D21667C}"/>
                      </a:ext>
                    </a:extLst>
                  </p:cNvPr>
                  <p:cNvCxnSpPr/>
                  <p:nvPr/>
                </p:nvCxnSpPr>
                <p:spPr>
                  <a:xfrm>
                    <a:off x="2911404" y="3366758"/>
                    <a:ext cx="1497994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19" name="矩形 62">
                    <a:extLst>
                      <a:ext uri="{FF2B5EF4-FFF2-40B4-BE49-F238E27FC236}">
                        <a16:creationId xmlns:a16="http://schemas.microsoft.com/office/drawing/2014/main" id="{A98EE712-37C1-0F54-98CB-93FC108DBC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69718" y="3004503"/>
                    <a:ext cx="1045783" cy="334527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代码段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20" name="矩形 63">
                    <a:extLst>
                      <a:ext uri="{FF2B5EF4-FFF2-40B4-BE49-F238E27FC236}">
                        <a16:creationId xmlns:a16="http://schemas.microsoft.com/office/drawing/2014/main" id="{242B0466-95F2-B6A0-45F1-0C8B68F7C3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83277" y="3498186"/>
                    <a:ext cx="1045783" cy="426894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数据段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21" name="矩形 20">
                    <a:extLst>
                      <a:ext uri="{FF2B5EF4-FFF2-40B4-BE49-F238E27FC236}">
                        <a16:creationId xmlns:a16="http://schemas.microsoft.com/office/drawing/2014/main" id="{FFE3AAE8-5DD9-3523-09E3-7E7B6843477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84731" y="4596457"/>
                    <a:ext cx="1045783" cy="322836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堆栈段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22" name="矩形 82">
                    <a:extLst>
                      <a:ext uri="{FF2B5EF4-FFF2-40B4-BE49-F238E27FC236}">
                        <a16:creationId xmlns:a16="http://schemas.microsoft.com/office/drawing/2014/main" id="{4E64E0E5-CD82-7CBD-3F50-54E705011D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71768" y="4097654"/>
                    <a:ext cx="1438028" cy="485909"/>
                  </a:xfrm>
                  <a:prstGeom prst="rect">
                    <a:avLst/>
                  </a:prstGeom>
                  <a:pattFill prst="dkUpDiag">
                    <a:fgClr>
                      <a:srgbClr val="00B050"/>
                    </a:fgClr>
                    <a:bgClr>
                      <a:sysClr val="window" lastClr="FFFFFF"/>
                    </a:bgClr>
                  </a:patt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endParaRPr lang="en-US" altLang="zh-CN" sz="2000" kern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23" name="直接箭头连接符 22">
                    <a:extLst>
                      <a:ext uri="{FF2B5EF4-FFF2-40B4-BE49-F238E27FC236}">
                        <a16:creationId xmlns:a16="http://schemas.microsoft.com/office/drawing/2014/main" id="{C7C0B253-22D1-0C69-678D-AF031DEB3AB6}"/>
                      </a:ext>
                    </a:extLst>
                  </p:cNvPr>
                  <p:cNvCxnSpPr/>
                  <p:nvPr/>
                </p:nvCxnSpPr>
                <p:spPr>
                  <a:xfrm>
                    <a:off x="2911404" y="4087098"/>
                    <a:ext cx="1497994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D95B387F-E2B5-7E24-3D8C-AD3507EEFA35}"/>
                    </a:ext>
                  </a:extLst>
                </p:cNvPr>
                <p:cNvSpPr/>
                <p:nvPr/>
              </p:nvSpPr>
              <p:spPr>
                <a:xfrm>
                  <a:off x="1304883" y="931129"/>
                  <a:ext cx="1456692" cy="5484953"/>
                </a:xfrm>
                <a:prstGeom prst="rect">
                  <a:avLst/>
                </a:prstGeom>
                <a:noFill/>
                <a:ln w="19050" cap="flat" cmpd="sng" algn="ctr">
                  <a:solidFill>
                    <a:srgbClr val="008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" name="矩形 224">
                <a:extLst>
                  <a:ext uri="{FF2B5EF4-FFF2-40B4-BE49-F238E27FC236}">
                    <a16:creationId xmlns:a16="http://schemas.microsoft.com/office/drawing/2014/main" id="{3E4649C0-DBD7-FD6F-DC2F-2213CFEA61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3680" y="1071785"/>
                <a:ext cx="907527" cy="2286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>
                  <a:defRPr/>
                </a:pPr>
                <a:r>
                  <a:rPr lang="en-US" altLang="zh-CN" sz="1400" kern="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4M+4K</a:t>
                </a:r>
              </a:p>
            </p:txBody>
          </p:sp>
          <p:sp>
            <p:nvSpPr>
              <p:cNvPr id="11" name="矩形 227">
                <a:extLst>
                  <a:ext uri="{FF2B5EF4-FFF2-40B4-BE49-F238E27FC236}">
                    <a16:creationId xmlns:a16="http://schemas.microsoft.com/office/drawing/2014/main" id="{45431BDE-7513-29E8-A16C-FCEA4760CA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807" y="3025654"/>
                <a:ext cx="846349" cy="2333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>
                  <a:defRPr/>
                </a:pPr>
                <a:r>
                  <a:rPr lang="en-US" altLang="zh-CN" sz="1400" kern="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8M-1</a:t>
                </a:r>
              </a:p>
            </p:txBody>
          </p:sp>
          <p:sp>
            <p:nvSpPr>
              <p:cNvPr id="12" name="矩形 83">
                <a:extLst>
                  <a:ext uri="{FF2B5EF4-FFF2-40B4-BE49-F238E27FC236}">
                    <a16:creationId xmlns:a16="http://schemas.microsoft.com/office/drawing/2014/main" id="{9C1CCBC7-0119-DB53-2486-731A2B604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339" y="3775670"/>
                <a:ext cx="608012" cy="2270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40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3G</a:t>
                </a:r>
              </a:p>
            </p:txBody>
          </p:sp>
          <p:sp>
            <p:nvSpPr>
              <p:cNvPr id="13" name="矩形 109">
                <a:extLst>
                  <a:ext uri="{FF2B5EF4-FFF2-40B4-BE49-F238E27FC236}">
                    <a16:creationId xmlns:a16="http://schemas.microsoft.com/office/drawing/2014/main" id="{508AFB22-6133-D491-4E85-48B428ABA0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33782" y="6081313"/>
                <a:ext cx="1184830" cy="3489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40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3G+4M-1</a:t>
                </a:r>
              </a:p>
            </p:txBody>
          </p:sp>
        </p:grp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A23F74C5-9F17-690E-18A9-CEC7EB9DB6BF}"/>
              </a:ext>
            </a:extLst>
          </p:cNvPr>
          <p:cNvGrpSpPr/>
          <p:nvPr/>
        </p:nvGrpSpPr>
        <p:grpSpPr>
          <a:xfrm>
            <a:off x="9818061" y="874507"/>
            <a:ext cx="2492598" cy="5407858"/>
            <a:chOff x="9364042" y="468964"/>
            <a:chExt cx="2492598" cy="5407858"/>
          </a:xfrm>
        </p:grpSpPr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847291D5-DB39-99E9-3D09-C3B3FD07CDDE}"/>
                </a:ext>
              </a:extLst>
            </p:cNvPr>
            <p:cNvCxnSpPr>
              <a:cxnSpLocks/>
            </p:cNvCxnSpPr>
            <p:nvPr/>
          </p:nvCxnSpPr>
          <p:spPr>
            <a:xfrm>
              <a:off x="10860086" y="3306560"/>
              <a:ext cx="487799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headEnd type="triangle" w="med" len="lg"/>
              <a:tailEnd type="none" w="med" len="med"/>
            </a:ln>
            <a:effectLst/>
          </p:spPr>
        </p:cxn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32590F6C-16FF-6459-94D3-7D1F3C95C425}"/>
                </a:ext>
              </a:extLst>
            </p:cNvPr>
            <p:cNvSpPr/>
            <p:nvPr/>
          </p:nvSpPr>
          <p:spPr>
            <a:xfrm>
              <a:off x="10765657" y="3272294"/>
              <a:ext cx="1039066" cy="36512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>
                <a:lnSpc>
                  <a:spcPct val="120000"/>
                </a:lnSpc>
              </a:pPr>
              <a:r>
                <a:rPr kumimoji="1" lang="en-US" altLang="zh-CN" sz="1400" b="1" kern="0" dirty="0" err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x_caddr</a:t>
              </a:r>
              <a:endParaRPr kumimoji="1" lang="zh-CN" altLang="en-US" sz="1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BF44B1B8-602D-4997-5EB3-B674FB8925C8}"/>
                </a:ext>
              </a:extLst>
            </p:cNvPr>
            <p:cNvCxnSpPr>
              <a:cxnSpLocks/>
            </p:cNvCxnSpPr>
            <p:nvPr/>
          </p:nvCxnSpPr>
          <p:spPr>
            <a:xfrm>
              <a:off x="10859893" y="4522251"/>
              <a:ext cx="487992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headEnd type="triangle" w="med" len="lg"/>
              <a:tailEnd type="none" w="med" len="med"/>
            </a:ln>
            <a:effectLst/>
          </p:spPr>
        </p:cxn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112DAA09-FB26-B60A-A436-1836E4EF5DC1}"/>
                </a:ext>
              </a:extLst>
            </p:cNvPr>
            <p:cNvSpPr/>
            <p:nvPr/>
          </p:nvSpPr>
          <p:spPr>
            <a:xfrm>
              <a:off x="10738892" y="4486488"/>
              <a:ext cx="1039066" cy="36512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>
                <a:lnSpc>
                  <a:spcPct val="120000"/>
                </a:lnSpc>
              </a:pPr>
              <a:r>
                <a:rPr kumimoji="1" lang="en-US" altLang="zh-CN" sz="1400" b="1" kern="0" dirty="0" err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p_addr</a:t>
              </a:r>
              <a:endParaRPr kumimoji="1" lang="zh-CN" altLang="en-US" sz="1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38C4717A-E17F-AB98-D490-D8D1432AA7E2}"/>
                </a:ext>
              </a:extLst>
            </p:cNvPr>
            <p:cNvGrpSpPr/>
            <p:nvPr/>
          </p:nvGrpSpPr>
          <p:grpSpPr>
            <a:xfrm>
              <a:off x="9364042" y="468964"/>
              <a:ext cx="2492598" cy="5407858"/>
              <a:chOff x="9336360" y="685438"/>
              <a:chExt cx="2492598" cy="5407858"/>
            </a:xfrm>
          </p:grpSpPr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FAD46371-B0D8-8503-2169-D4DCCFECD7E9}"/>
                  </a:ext>
                </a:extLst>
              </p:cNvPr>
              <p:cNvSpPr/>
              <p:nvPr/>
            </p:nvSpPr>
            <p:spPr>
              <a:xfrm>
                <a:off x="9336360" y="843434"/>
                <a:ext cx="1511300" cy="530225"/>
              </a:xfrm>
              <a:prstGeom prst="rect">
                <a:avLst/>
              </a:prstGeom>
              <a:gradFill rotWithShape="1">
                <a:gsLst>
                  <a:gs pos="0">
                    <a:srgbClr val="63891F">
                      <a:tint val="50000"/>
                      <a:satMod val="300000"/>
                    </a:srgbClr>
                  </a:gs>
                  <a:gs pos="35000">
                    <a:srgbClr val="63891F">
                      <a:tint val="37000"/>
                      <a:satMod val="300000"/>
                    </a:srgbClr>
                  </a:gs>
                  <a:gs pos="100000">
                    <a:srgbClr val="63891F">
                      <a:tint val="15000"/>
                      <a:satMod val="350000"/>
                    </a:srgbClr>
                  </a:gs>
                </a:gsLst>
                <a:lin ang="16200000" scaled="1"/>
              </a:gradFill>
              <a:ln w="9525" cap="flat" cmpd="sng" algn="ctr">
                <a:solidFill>
                  <a:srgbClr val="63891F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r>
                  <a:rPr lang="zh-CN" altLang="en-US" sz="16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保留区</a:t>
                </a:r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A67C8D35-B950-BF6E-581E-30AC8BFD517D}"/>
                  </a:ext>
                </a:extLst>
              </p:cNvPr>
              <p:cNvSpPr/>
              <p:nvPr/>
            </p:nvSpPr>
            <p:spPr>
              <a:xfrm>
                <a:off x="9336360" y="1396007"/>
                <a:ext cx="1511300" cy="331787"/>
              </a:xfrm>
              <a:prstGeom prst="rect">
                <a:avLst/>
              </a:prstGeom>
              <a:gradFill rotWithShape="1">
                <a:gsLst>
                  <a:gs pos="0">
                    <a:srgbClr val="63891F">
                      <a:tint val="50000"/>
                      <a:satMod val="300000"/>
                    </a:srgbClr>
                  </a:gs>
                  <a:gs pos="35000">
                    <a:srgbClr val="63891F">
                      <a:tint val="37000"/>
                      <a:satMod val="300000"/>
                    </a:srgbClr>
                  </a:gs>
                  <a:gs pos="100000">
                    <a:srgbClr val="63891F">
                      <a:tint val="15000"/>
                      <a:satMod val="350000"/>
                    </a:srgbClr>
                  </a:gs>
                </a:gsLst>
                <a:lin ang="16200000" scaled="1"/>
              </a:gradFill>
              <a:ln w="9525" cap="flat" cmpd="sng" algn="ctr">
                <a:solidFill>
                  <a:srgbClr val="63891F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r>
                  <a:rPr lang="zh-CN" altLang="en-US" sz="16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内核</a:t>
                </a:r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35C5DA62-C440-CD9F-E7A3-E0455BE181ED}"/>
                  </a:ext>
                </a:extLst>
              </p:cNvPr>
              <p:cNvSpPr/>
              <p:nvPr/>
            </p:nvSpPr>
            <p:spPr>
              <a:xfrm>
                <a:off x="9336360" y="1754742"/>
                <a:ext cx="1511300" cy="331788"/>
              </a:xfrm>
              <a:prstGeom prst="rect">
                <a:avLst/>
              </a:prstGeom>
              <a:gradFill rotWithShape="1">
                <a:gsLst>
                  <a:gs pos="0">
                    <a:srgbClr val="63891F">
                      <a:tint val="50000"/>
                      <a:satMod val="300000"/>
                    </a:srgbClr>
                  </a:gs>
                  <a:gs pos="35000">
                    <a:srgbClr val="63891F">
                      <a:tint val="37000"/>
                      <a:satMod val="300000"/>
                    </a:srgbClr>
                  </a:gs>
                  <a:gs pos="100000">
                    <a:srgbClr val="63891F">
                      <a:tint val="15000"/>
                      <a:satMod val="350000"/>
                    </a:srgbClr>
                  </a:gs>
                </a:gsLst>
                <a:lin ang="16200000" scaled="1"/>
              </a:gradFill>
              <a:ln w="9525" cap="flat" cmpd="sng" algn="ctr">
                <a:solidFill>
                  <a:srgbClr val="63891F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r>
                  <a:rPr lang="zh-CN" altLang="en-US" sz="16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内核堆对象</a:t>
                </a:r>
              </a:p>
            </p:txBody>
          </p: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EF89F8E0-F687-4AB0-8490-DB2477F36EFA}"/>
                  </a:ext>
                </a:extLst>
              </p:cNvPr>
              <p:cNvSpPr/>
              <p:nvPr/>
            </p:nvSpPr>
            <p:spPr>
              <a:xfrm>
                <a:off x="9336360" y="2099142"/>
                <a:ext cx="1511300" cy="878026"/>
              </a:xfrm>
              <a:prstGeom prst="rect">
                <a:avLst/>
              </a:prstGeom>
              <a:gradFill rotWithShape="1">
                <a:gsLst>
                  <a:gs pos="0">
                    <a:srgbClr val="63891F">
                      <a:tint val="50000"/>
                      <a:satMod val="300000"/>
                    </a:srgbClr>
                  </a:gs>
                  <a:gs pos="35000">
                    <a:srgbClr val="63891F">
                      <a:tint val="37000"/>
                      <a:satMod val="300000"/>
                    </a:srgbClr>
                  </a:gs>
                  <a:gs pos="100000">
                    <a:srgbClr val="63891F">
                      <a:tint val="15000"/>
                      <a:satMod val="350000"/>
                    </a:srgbClr>
                  </a:gs>
                </a:gsLst>
                <a:lin ang="16200000" scaled="1"/>
              </a:gradFill>
              <a:ln w="9525" cap="flat" cmpd="sng" algn="ctr">
                <a:solidFill>
                  <a:srgbClr val="63891F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r>
                  <a:rPr lang="zh-CN" altLang="en-US" sz="16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页表区</a:t>
                </a:r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B26CDDB7-6EC5-BF07-BE2B-2C0AC3E72B41}"/>
                  </a:ext>
                </a:extLst>
              </p:cNvPr>
              <p:cNvSpPr/>
              <p:nvPr/>
            </p:nvSpPr>
            <p:spPr>
              <a:xfrm>
                <a:off x="9341122" y="3104034"/>
                <a:ext cx="1508124" cy="2989262"/>
              </a:xfrm>
              <a:prstGeom prst="rect">
                <a:avLst/>
              </a:prstGeom>
              <a:gradFill rotWithShape="1">
                <a:gsLst>
                  <a:gs pos="0">
                    <a:srgbClr val="63891F">
                      <a:tint val="50000"/>
                      <a:satMod val="300000"/>
                    </a:srgbClr>
                  </a:gs>
                  <a:gs pos="35000">
                    <a:srgbClr val="63891F">
                      <a:tint val="37000"/>
                      <a:satMod val="300000"/>
                    </a:srgbClr>
                  </a:gs>
                  <a:gs pos="100000">
                    <a:srgbClr val="63891F">
                      <a:tint val="15000"/>
                      <a:satMod val="350000"/>
                    </a:srgbClr>
                  </a:gs>
                </a:gsLst>
                <a:lin ang="16200000" scaled="1"/>
              </a:gradFill>
              <a:ln w="9525" cap="flat" cmpd="sng" algn="ctr">
                <a:solidFill>
                  <a:srgbClr val="63891F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r>
                  <a:rPr lang="zh-CN" altLang="en-US" sz="16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用户区</a:t>
                </a:r>
              </a:p>
            </p:txBody>
          </p:sp>
          <p:sp>
            <p:nvSpPr>
              <p:cNvPr id="45" name="矩形 47">
                <a:extLst>
                  <a:ext uri="{FF2B5EF4-FFF2-40B4-BE49-F238E27FC236}">
                    <a16:creationId xmlns:a16="http://schemas.microsoft.com/office/drawing/2014/main" id="{16DA3A1C-6EB1-338A-167F-03C74389F5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40965" y="685438"/>
                <a:ext cx="690562" cy="338361"/>
              </a:xfrm>
              <a:prstGeom prst="rect">
                <a:avLst/>
              </a:prstGeom>
              <a:noFill/>
              <a:ln w="9525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r>
                  <a:rPr lang="en-US" altLang="zh-CN" sz="1400" kern="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46" name="矩形 49">
                <a:extLst>
                  <a:ext uri="{FF2B5EF4-FFF2-40B4-BE49-F238E27FC236}">
                    <a16:creationId xmlns:a16="http://schemas.microsoft.com/office/drawing/2014/main" id="{325380FF-3097-735E-084D-DB929844A3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89892" y="1210650"/>
                <a:ext cx="690562" cy="434975"/>
              </a:xfrm>
              <a:prstGeom prst="rect">
                <a:avLst/>
              </a:prstGeom>
              <a:noFill/>
              <a:ln w="9525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>
                  <a:defRPr/>
                </a:pPr>
                <a:r>
                  <a:rPr lang="en-US" altLang="zh-CN" sz="1400" kern="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1M</a:t>
                </a:r>
              </a:p>
            </p:txBody>
          </p:sp>
          <p:sp>
            <p:nvSpPr>
              <p:cNvPr id="47" name="矩形 39">
                <a:extLst>
                  <a:ext uri="{FF2B5EF4-FFF2-40B4-BE49-F238E27FC236}">
                    <a16:creationId xmlns:a16="http://schemas.microsoft.com/office/drawing/2014/main" id="{251004D0-ACB4-1CF2-1AF4-7DFD77A76E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01750" y="1595450"/>
                <a:ext cx="865187" cy="320675"/>
              </a:xfrm>
              <a:prstGeom prst="rect">
                <a:avLst/>
              </a:prstGeom>
              <a:noFill/>
              <a:ln w="9525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>
                  <a:defRPr/>
                </a:pPr>
                <a:r>
                  <a:rPr lang="en-US" altLang="zh-CN" sz="1400" kern="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1.5M</a:t>
                </a:r>
              </a:p>
            </p:txBody>
          </p:sp>
          <p:sp>
            <p:nvSpPr>
              <p:cNvPr id="48" name="矩形 41">
                <a:extLst>
                  <a:ext uri="{FF2B5EF4-FFF2-40B4-BE49-F238E27FC236}">
                    <a16:creationId xmlns:a16="http://schemas.microsoft.com/office/drawing/2014/main" id="{D44C0FD6-6C4D-0E1E-DF55-A9F14EE55B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01750" y="1901782"/>
                <a:ext cx="865187" cy="434975"/>
              </a:xfrm>
              <a:prstGeom prst="rect">
                <a:avLst/>
              </a:prstGeom>
              <a:noFill/>
              <a:ln w="9525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>
                  <a:defRPr/>
                </a:pPr>
                <a:r>
                  <a:rPr lang="en-US" altLang="zh-CN" sz="1400" kern="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2M</a:t>
                </a:r>
              </a:p>
            </p:txBody>
          </p:sp>
          <p:sp>
            <p:nvSpPr>
              <p:cNvPr id="49" name="矩形 43">
                <a:extLst>
                  <a:ext uri="{FF2B5EF4-FFF2-40B4-BE49-F238E27FC236}">
                    <a16:creationId xmlns:a16="http://schemas.microsoft.com/office/drawing/2014/main" id="{747B8D98-D4F2-27F4-F9A3-3894F58CBD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1448" y="2889181"/>
                <a:ext cx="1017510" cy="434975"/>
              </a:xfrm>
              <a:prstGeom prst="rect">
                <a:avLst/>
              </a:prstGeom>
              <a:noFill/>
              <a:ln w="9525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>
                  <a:defRPr/>
                </a:pPr>
                <a:r>
                  <a:rPr lang="en-US" altLang="zh-CN" sz="1400" kern="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4M</a:t>
                </a:r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15150DD5-A51A-713C-F3F5-A31689807D55}"/>
                  </a:ext>
                </a:extLst>
              </p:cNvPr>
              <p:cNvSpPr/>
              <p:nvPr/>
            </p:nvSpPr>
            <p:spPr>
              <a:xfrm>
                <a:off x="9341122" y="3499321"/>
                <a:ext cx="1506538" cy="386200"/>
              </a:xfrm>
              <a:prstGeom prst="rect">
                <a:avLst/>
              </a:prstGeom>
              <a:solidFill>
                <a:srgbClr val="00B050"/>
              </a:solidFill>
              <a:effectLst/>
            </p:spPr>
            <p:txBody>
              <a:bodyPr anchor="ctr" anchorCtr="1"/>
              <a:lstStyle/>
              <a:p>
                <a:pPr algn="ctr">
                  <a:defRPr/>
                </a:pPr>
                <a:r>
                  <a:rPr lang="zh-CN" altLang="en-US" sz="1600" kern="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代码段</a:t>
                </a:r>
                <a:endParaRPr lang="en-US" altLang="zh-CN" sz="16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endParaRPr>
              </a:p>
            </p:txBody>
          </p:sp>
          <p:grpSp>
            <p:nvGrpSpPr>
              <p:cNvPr id="51" name="组合 15">
                <a:extLst>
                  <a:ext uri="{FF2B5EF4-FFF2-40B4-BE49-F238E27FC236}">
                    <a16:creationId xmlns:a16="http://schemas.microsoft.com/office/drawing/2014/main" id="{02121263-9E74-52FB-E210-25B867E69A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341117" y="4724871"/>
                <a:ext cx="1510575" cy="1322388"/>
                <a:chOff x="5862274" y="2103770"/>
                <a:chExt cx="1445417" cy="1322653"/>
              </a:xfrm>
            </p:grpSpPr>
            <p:sp>
              <p:nvSpPr>
                <p:cNvPr id="53" name="矩形 52">
                  <a:extLst>
                    <a:ext uri="{FF2B5EF4-FFF2-40B4-BE49-F238E27FC236}">
                      <a16:creationId xmlns:a16="http://schemas.microsoft.com/office/drawing/2014/main" id="{7DDCAB0E-047C-60FF-C12D-F8E384D00399}"/>
                    </a:ext>
                  </a:extLst>
                </p:cNvPr>
                <p:cNvSpPr/>
                <p:nvPr/>
              </p:nvSpPr>
              <p:spPr>
                <a:xfrm>
                  <a:off x="5868353" y="2103770"/>
                  <a:ext cx="1438515" cy="1322653"/>
                </a:xfrm>
                <a:prstGeom prst="rect">
                  <a:avLst/>
                </a:prstGeom>
                <a:solidFill>
                  <a:srgbClr val="00B050"/>
                </a:solidFill>
                <a:effectLst/>
              </p:spPr>
              <p:txBody>
                <a:bodyPr anchor="ctr" anchorCtr="1"/>
                <a:lstStyle/>
                <a:p>
                  <a:pPr algn="ctr">
                    <a:defRPr/>
                  </a:pPr>
                  <a:endParaRPr lang="en-US" altLang="zh-CN" sz="1600" kern="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54" name="矩形 60">
                  <a:extLst>
                    <a:ext uri="{FF2B5EF4-FFF2-40B4-BE49-F238E27FC236}">
                      <a16:creationId xmlns:a16="http://schemas.microsoft.com/office/drawing/2014/main" id="{752988D6-78D7-5B29-8810-EEA584D362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50689" y="2204052"/>
                  <a:ext cx="1185607" cy="216836"/>
                </a:xfrm>
                <a:prstGeom prst="rect">
                  <a:avLst/>
                </a:prstGeom>
                <a:solidFill>
                  <a:srgbClr val="00B05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anchor="ctr" anchorCtr="1"/>
                <a:lstStyle/>
                <a:p>
                  <a:pPr algn="ctr">
                    <a:defRPr/>
                  </a:pPr>
                  <a:r>
                    <a:rPr lang="en-US" altLang="zh-CN" sz="1600" kern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rPr>
                    <a:t>PPDA</a:t>
                  </a:r>
                </a:p>
              </p:txBody>
            </p:sp>
            <p:cxnSp>
              <p:nvCxnSpPr>
                <p:cNvPr id="55" name="直接箭头连接符 54">
                  <a:extLst>
                    <a:ext uri="{FF2B5EF4-FFF2-40B4-BE49-F238E27FC236}">
                      <a16:creationId xmlns:a16="http://schemas.microsoft.com/office/drawing/2014/main" id="{74C4BE0C-4FC7-30FE-ABD2-52BAD0A9FD2D}"/>
                    </a:ext>
                  </a:extLst>
                </p:cNvPr>
                <p:cNvCxnSpPr/>
                <p:nvPr/>
              </p:nvCxnSpPr>
              <p:spPr>
                <a:xfrm>
                  <a:off x="5862274" y="2438725"/>
                  <a:ext cx="1443071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ysClr val="window" lastClr="FFFFFF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56" name="矩形 64">
                  <a:extLst>
                    <a:ext uri="{FF2B5EF4-FFF2-40B4-BE49-F238E27FC236}">
                      <a16:creationId xmlns:a16="http://schemas.microsoft.com/office/drawing/2014/main" id="{067F7125-BB84-038B-7E5B-DB82D3027E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07628" y="2622888"/>
                  <a:ext cx="1045783" cy="367535"/>
                </a:xfrm>
                <a:prstGeom prst="rect">
                  <a:avLst/>
                </a:prstGeom>
                <a:solidFill>
                  <a:srgbClr val="00B05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anchor="ctr" anchorCtr="1"/>
                <a:lstStyle/>
                <a:p>
                  <a:pPr algn="ctr">
                    <a:defRPr/>
                  </a:pPr>
                  <a:r>
                    <a:rPr lang="zh-CN" altLang="en-US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rPr>
                    <a:t>数据段</a:t>
                  </a:r>
                  <a:endParaRPr lang="en-US" altLang="zh-CN" sz="1600" kern="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endParaRPr>
                </a:p>
              </p:txBody>
            </p:sp>
            <p:cxnSp>
              <p:nvCxnSpPr>
                <p:cNvPr id="57" name="直接箭头连接符 56">
                  <a:extLst>
                    <a:ext uri="{FF2B5EF4-FFF2-40B4-BE49-F238E27FC236}">
                      <a16:creationId xmlns:a16="http://schemas.microsoft.com/office/drawing/2014/main" id="{D8583F83-EDA0-A37D-1E27-4D89D3A6C034}"/>
                    </a:ext>
                  </a:extLst>
                </p:cNvPr>
                <p:cNvCxnSpPr/>
                <p:nvPr/>
              </p:nvCxnSpPr>
              <p:spPr>
                <a:xfrm>
                  <a:off x="5867661" y="3124366"/>
                  <a:ext cx="1440030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ysClr val="window" lastClr="FFFFFF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58" name="矩形 67">
                  <a:extLst>
                    <a:ext uri="{FF2B5EF4-FFF2-40B4-BE49-F238E27FC236}">
                      <a16:creationId xmlns:a16="http://schemas.microsoft.com/office/drawing/2014/main" id="{2E064BE8-1439-3E45-6DC5-4B3DD47D60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92752" y="3179844"/>
                  <a:ext cx="1045783" cy="198682"/>
                </a:xfrm>
                <a:prstGeom prst="rect">
                  <a:avLst/>
                </a:prstGeom>
                <a:solidFill>
                  <a:srgbClr val="00B05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anchor="ctr" anchorCtr="1"/>
                <a:lstStyle/>
                <a:p>
                  <a:pPr algn="ctr">
                    <a:defRPr/>
                  </a:pPr>
                  <a:r>
                    <a:rPr lang="zh-CN" altLang="en-US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rPr>
                    <a:t>堆栈段</a:t>
                  </a:r>
                  <a:endParaRPr lang="en-US" altLang="zh-CN" sz="1600" kern="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A5C26347-DBB0-EE61-C4B5-F57FC0DF9DB1}"/>
                  </a:ext>
                </a:extLst>
              </p:cNvPr>
              <p:cNvSpPr/>
              <p:nvPr/>
            </p:nvSpPr>
            <p:spPr>
              <a:xfrm>
                <a:off x="9336360" y="845021"/>
                <a:ext cx="1511300" cy="5248275"/>
              </a:xfrm>
              <a:prstGeom prst="rect">
                <a:avLst/>
              </a:prstGeom>
              <a:noFill/>
              <a:ln w="19050" cap="flat" cmpd="sng" algn="ctr">
                <a:solidFill>
                  <a:srgbClr val="008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zh-CN" altLang="en-US" sz="1600" ker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pic>
        <p:nvPicPr>
          <p:cNvPr id="59" name="图片 58">
            <a:extLst>
              <a:ext uri="{FF2B5EF4-FFF2-40B4-BE49-F238E27FC236}">
                <a16:creationId xmlns:a16="http://schemas.microsoft.com/office/drawing/2014/main" id="{D213B065-E874-75ED-19ED-6C1430BC2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330" y="899936"/>
            <a:ext cx="3502695" cy="3766737"/>
          </a:xfrm>
          <a:prstGeom prst="rect">
            <a:avLst/>
          </a:prstGeom>
        </p:spPr>
      </p:pic>
      <p:pic>
        <p:nvPicPr>
          <p:cNvPr id="60" name="图片 59">
            <a:extLst>
              <a:ext uri="{FF2B5EF4-FFF2-40B4-BE49-F238E27FC236}">
                <a16:creationId xmlns:a16="http://schemas.microsoft.com/office/drawing/2014/main" id="{F068E09E-3FF6-DC6D-E358-009A60CEE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8394" y="4586436"/>
            <a:ext cx="3441631" cy="1628413"/>
          </a:xfrm>
          <a:prstGeom prst="rect">
            <a:avLst/>
          </a:prstGeom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2ED091AB-E51F-D048-98B1-5EECD276B9DA}"/>
              </a:ext>
            </a:extLst>
          </p:cNvPr>
          <p:cNvSpPr txBox="1"/>
          <p:nvPr/>
        </p:nvSpPr>
        <p:spPr>
          <a:xfrm>
            <a:off x="7292281" y="2358296"/>
            <a:ext cx="20028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800" b="1" i="1" dirty="0">
                <a:solidFill>
                  <a:srgbClr val="A867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三张页表保存在哪里？</a:t>
            </a:r>
            <a:endParaRPr lang="en-US" altLang="zh-CN" sz="2800" b="1" i="1" dirty="0">
              <a:solidFill>
                <a:srgbClr val="A8670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9899D0D-5982-BD3E-6D73-93F2C1CDB6A7}"/>
              </a:ext>
            </a:extLst>
          </p:cNvPr>
          <p:cNvSpPr txBox="1"/>
          <p:nvPr/>
        </p:nvSpPr>
        <p:spPr>
          <a:xfrm>
            <a:off x="7277008" y="3563839"/>
            <a:ext cx="20028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800" b="1" i="1" dirty="0">
                <a:solidFill>
                  <a:srgbClr val="A867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页目录保存在哪里？</a:t>
            </a:r>
            <a:endParaRPr lang="en-US" altLang="zh-CN" sz="2800" b="1" i="1" dirty="0">
              <a:solidFill>
                <a:srgbClr val="A8670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42162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82E4A4-4B4D-41BF-9F68-1575C742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353A2E-92EE-4F23-A078-2A07C43737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C4DE104-5DA1-4B88-B642-58DE3423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页表系统</a:t>
            </a: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9FB98FB3-625B-1981-5909-CDC208977DD3}"/>
              </a:ext>
            </a:extLst>
          </p:cNvPr>
          <p:cNvGrpSpPr/>
          <p:nvPr/>
        </p:nvGrpSpPr>
        <p:grpSpPr>
          <a:xfrm>
            <a:off x="637672" y="797428"/>
            <a:ext cx="2537493" cy="5593557"/>
            <a:chOff x="119336" y="632221"/>
            <a:chExt cx="2537493" cy="5593557"/>
          </a:xfrm>
        </p:grpSpPr>
        <p:sp>
          <p:nvSpPr>
            <p:cNvPr id="77" name="矩形 83">
              <a:extLst>
                <a:ext uri="{FF2B5EF4-FFF2-40B4-BE49-F238E27FC236}">
                  <a16:creationId xmlns:a16="http://schemas.microsoft.com/office/drawing/2014/main" id="{01612BA3-A3EA-FE9E-1C27-2E7F0FDCB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438" y="3974628"/>
              <a:ext cx="907527" cy="227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3G+1M</a:t>
              </a:r>
            </a:p>
          </p:txBody>
        </p:sp>
        <p:sp>
          <p:nvSpPr>
            <p:cNvPr id="78" name="矩形 83">
              <a:extLst>
                <a:ext uri="{FF2B5EF4-FFF2-40B4-BE49-F238E27FC236}">
                  <a16:creationId xmlns:a16="http://schemas.microsoft.com/office/drawing/2014/main" id="{99F4B1C2-880D-BFF8-6666-083B512CFD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056" y="4356990"/>
              <a:ext cx="1020960" cy="2420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3G+1.5M</a:t>
              </a:r>
            </a:p>
          </p:txBody>
        </p:sp>
        <p:sp>
          <p:nvSpPr>
            <p:cNvPr id="79" name="矩形 83">
              <a:extLst>
                <a:ext uri="{FF2B5EF4-FFF2-40B4-BE49-F238E27FC236}">
                  <a16:creationId xmlns:a16="http://schemas.microsoft.com/office/drawing/2014/main" id="{B2607093-C08B-0129-255F-03AB69B8B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24" y="4755427"/>
              <a:ext cx="907527" cy="227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3G+2M</a:t>
              </a:r>
            </a:p>
          </p:txBody>
        </p:sp>
        <p:grpSp>
          <p:nvGrpSpPr>
            <p:cNvPr id="80" name="组合 154">
              <a:extLst>
                <a:ext uri="{FF2B5EF4-FFF2-40B4-BE49-F238E27FC236}">
                  <a16:creationId xmlns:a16="http://schemas.microsoft.com/office/drawing/2014/main" id="{FADA5135-579F-4E1C-706B-204914BD8FEF}"/>
                </a:ext>
              </a:extLst>
            </p:cNvPr>
            <p:cNvGrpSpPr/>
            <p:nvPr/>
          </p:nvGrpSpPr>
          <p:grpSpPr>
            <a:xfrm>
              <a:off x="119336" y="632221"/>
              <a:ext cx="2537493" cy="5593557"/>
              <a:chOff x="-233782" y="836712"/>
              <a:chExt cx="2537493" cy="5593557"/>
            </a:xfrm>
          </p:grpSpPr>
          <p:grpSp>
            <p:nvGrpSpPr>
              <p:cNvPr id="81" name="组合 7">
                <a:extLst>
                  <a:ext uri="{FF2B5EF4-FFF2-40B4-BE49-F238E27FC236}">
                    <a16:creationId xmlns:a16="http://schemas.microsoft.com/office/drawing/2014/main" id="{B4A70305-E536-C926-C774-5E08F629B0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1773" y="836712"/>
                <a:ext cx="1531938" cy="5484937"/>
                <a:chOff x="1244518" y="931129"/>
                <a:chExt cx="1532942" cy="5484953"/>
              </a:xfrm>
            </p:grpSpPr>
            <p:grpSp>
              <p:nvGrpSpPr>
                <p:cNvPr id="86" name="组合 6">
                  <a:extLst>
                    <a:ext uri="{FF2B5EF4-FFF2-40B4-BE49-F238E27FC236}">
                      <a16:creationId xmlns:a16="http://schemas.microsoft.com/office/drawing/2014/main" id="{44FAA9FF-55F6-497C-2BCD-270EEA8DA53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08059" y="3956058"/>
                  <a:ext cx="1469401" cy="2460024"/>
                  <a:chOff x="3535262" y="1401025"/>
                  <a:chExt cx="1469401" cy="2460024"/>
                </a:xfrm>
              </p:grpSpPr>
              <p:sp>
                <p:nvSpPr>
                  <p:cNvPr id="96" name="矩形 95">
                    <a:extLst>
                      <a:ext uri="{FF2B5EF4-FFF2-40B4-BE49-F238E27FC236}">
                        <a16:creationId xmlns:a16="http://schemas.microsoft.com/office/drawing/2014/main" id="{07B4C9F2-75A4-B540-9843-40EECCA2E906}"/>
                      </a:ext>
                    </a:extLst>
                  </p:cNvPr>
                  <p:cNvSpPr/>
                  <p:nvPr/>
                </p:nvSpPr>
                <p:spPr>
                  <a:xfrm>
                    <a:off x="3549125" y="1401025"/>
                    <a:ext cx="1437630" cy="2460024"/>
                  </a:xfrm>
                  <a:prstGeom prst="rect">
                    <a:avLst/>
                  </a:prstGeom>
                  <a:solidFill>
                    <a:srgbClr val="00B050"/>
                  </a:solidFill>
                  <a:effectLst/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endParaRPr lang="en-US" altLang="zh-CN" sz="20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97" name="直接箭头连接符 96">
                    <a:extLst>
                      <a:ext uri="{FF2B5EF4-FFF2-40B4-BE49-F238E27FC236}">
                        <a16:creationId xmlns:a16="http://schemas.microsoft.com/office/drawing/2014/main" id="{FAB7E796-12F0-442F-55BC-F11E6FE07DB1}"/>
                      </a:ext>
                    </a:extLst>
                  </p:cNvPr>
                  <p:cNvCxnSpPr/>
                  <p:nvPr/>
                </p:nvCxnSpPr>
                <p:spPr>
                  <a:xfrm>
                    <a:off x="3563856" y="1862397"/>
                    <a:ext cx="1440807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98" name="直接箭头连接符 97">
                    <a:extLst>
                      <a:ext uri="{FF2B5EF4-FFF2-40B4-BE49-F238E27FC236}">
                        <a16:creationId xmlns:a16="http://schemas.microsoft.com/office/drawing/2014/main" id="{2602476E-2DF4-78A3-C40F-2CFA8A17D2F7}"/>
                      </a:ext>
                    </a:extLst>
                  </p:cNvPr>
                  <p:cNvCxnSpPr/>
                  <p:nvPr/>
                </p:nvCxnSpPr>
                <p:spPr>
                  <a:xfrm>
                    <a:off x="3537101" y="2230374"/>
                    <a:ext cx="1440558" cy="75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99" name="直接箭头连接符 98">
                    <a:extLst>
                      <a:ext uri="{FF2B5EF4-FFF2-40B4-BE49-F238E27FC236}">
                        <a16:creationId xmlns:a16="http://schemas.microsoft.com/office/drawing/2014/main" id="{42E2B389-5BED-08D0-70F2-0E4F3EE28D0D}"/>
                      </a:ext>
                    </a:extLst>
                  </p:cNvPr>
                  <p:cNvCxnSpPr/>
                  <p:nvPr/>
                </p:nvCxnSpPr>
                <p:spPr>
                  <a:xfrm>
                    <a:off x="3551399" y="2612821"/>
                    <a:ext cx="1426261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100" name="矩形 96">
                    <a:extLst>
                      <a:ext uri="{FF2B5EF4-FFF2-40B4-BE49-F238E27FC236}">
                        <a16:creationId xmlns:a16="http://schemas.microsoft.com/office/drawing/2014/main" id="{01D9FB7B-C476-A3C8-381F-50FA55304D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43594" y="1508767"/>
                    <a:ext cx="1045783" cy="240040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保留区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1" name="矩形 98">
                    <a:extLst>
                      <a:ext uri="{FF2B5EF4-FFF2-40B4-BE49-F238E27FC236}">
                        <a16:creationId xmlns:a16="http://schemas.microsoft.com/office/drawing/2014/main" id="{B3AE625F-B67D-9842-86F9-B148FCA781E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69553" y="1966319"/>
                    <a:ext cx="1117790" cy="198407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内核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102" name="直接箭头连接符 101">
                    <a:extLst>
                      <a:ext uri="{FF2B5EF4-FFF2-40B4-BE49-F238E27FC236}">
                        <a16:creationId xmlns:a16="http://schemas.microsoft.com/office/drawing/2014/main" id="{CC86AA37-EE26-7F59-DB3B-6611039ECAF1}"/>
                      </a:ext>
                    </a:extLst>
                  </p:cNvPr>
                  <p:cNvCxnSpPr/>
                  <p:nvPr/>
                </p:nvCxnSpPr>
                <p:spPr>
                  <a:xfrm>
                    <a:off x="3535262" y="3500686"/>
                    <a:ext cx="1442397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103" name="矩形 105">
                    <a:extLst>
                      <a:ext uri="{FF2B5EF4-FFF2-40B4-BE49-F238E27FC236}">
                        <a16:creationId xmlns:a16="http://schemas.microsoft.com/office/drawing/2014/main" id="{F4F8D36F-6644-ED53-6A72-70F52CD608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568020" y="2239583"/>
                    <a:ext cx="1357035" cy="373238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0" rIns="0"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内核堆对象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4" name="矩形 110">
                    <a:extLst>
                      <a:ext uri="{FF2B5EF4-FFF2-40B4-BE49-F238E27FC236}">
                        <a16:creationId xmlns:a16="http://schemas.microsoft.com/office/drawing/2014/main" id="{8950FC1D-F552-06F9-D44A-4EDC16B64D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55881" y="2900110"/>
                    <a:ext cx="1185607" cy="348956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页表区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5" name="矩形 111">
                    <a:extLst>
                      <a:ext uri="{FF2B5EF4-FFF2-40B4-BE49-F238E27FC236}">
                        <a16:creationId xmlns:a16="http://schemas.microsoft.com/office/drawing/2014/main" id="{0BF58BFF-32B0-C5A2-3712-13833A8D20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55881" y="3573016"/>
                    <a:ext cx="1185607" cy="216836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en-US" altLang="zh-CN" sz="1600" kern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PPDA</a:t>
                    </a:r>
                  </a:p>
                </p:txBody>
              </p:sp>
            </p:grpSp>
            <p:grpSp>
              <p:nvGrpSpPr>
                <p:cNvPr id="87" name="组合 5">
                  <a:extLst>
                    <a:ext uri="{FF2B5EF4-FFF2-40B4-BE49-F238E27FC236}">
                      <a16:creationId xmlns:a16="http://schemas.microsoft.com/office/drawing/2014/main" id="{DDC0DD60-C451-7C40-52E0-2E9A1F2A37A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44518" y="1248755"/>
                  <a:ext cx="1509582" cy="1981997"/>
                  <a:chOff x="2911404" y="2986958"/>
                  <a:chExt cx="1509582" cy="1981997"/>
                </a:xfrm>
              </p:grpSpPr>
              <p:sp>
                <p:nvSpPr>
                  <p:cNvPr id="89" name="矩形 88">
                    <a:extLst>
                      <a:ext uri="{FF2B5EF4-FFF2-40B4-BE49-F238E27FC236}">
                        <a16:creationId xmlns:a16="http://schemas.microsoft.com/office/drawing/2014/main" id="{EC9FE9D9-27EC-3CC9-FF8D-C1B051268294}"/>
                      </a:ext>
                    </a:extLst>
                  </p:cNvPr>
                  <p:cNvSpPr/>
                  <p:nvPr/>
                </p:nvSpPr>
                <p:spPr>
                  <a:xfrm>
                    <a:off x="2983357" y="2986958"/>
                    <a:ext cx="1437629" cy="1981997"/>
                  </a:xfrm>
                  <a:prstGeom prst="rect">
                    <a:avLst/>
                  </a:prstGeom>
                  <a:solidFill>
                    <a:srgbClr val="00B050"/>
                  </a:solidFill>
                  <a:effectLst/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endParaRPr lang="en-US" altLang="zh-CN" sz="20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90" name="直接箭头连接符 89">
                    <a:extLst>
                      <a:ext uri="{FF2B5EF4-FFF2-40B4-BE49-F238E27FC236}">
                        <a16:creationId xmlns:a16="http://schemas.microsoft.com/office/drawing/2014/main" id="{8C09E11B-1FF7-2217-1FE8-64E7090CE097}"/>
                      </a:ext>
                    </a:extLst>
                  </p:cNvPr>
                  <p:cNvCxnSpPr/>
                  <p:nvPr/>
                </p:nvCxnSpPr>
                <p:spPr>
                  <a:xfrm>
                    <a:off x="2911404" y="3366758"/>
                    <a:ext cx="1497994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91" name="矩形 62">
                    <a:extLst>
                      <a:ext uri="{FF2B5EF4-FFF2-40B4-BE49-F238E27FC236}">
                        <a16:creationId xmlns:a16="http://schemas.microsoft.com/office/drawing/2014/main" id="{7DEE31A1-B6B1-2AB6-644E-14D9FB09394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69718" y="3004503"/>
                    <a:ext cx="1045783" cy="334527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代码段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92" name="矩形 63">
                    <a:extLst>
                      <a:ext uri="{FF2B5EF4-FFF2-40B4-BE49-F238E27FC236}">
                        <a16:creationId xmlns:a16="http://schemas.microsoft.com/office/drawing/2014/main" id="{A86D96A0-E794-F900-74CB-443A3F4442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83277" y="3498186"/>
                    <a:ext cx="1045783" cy="426894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数据段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93" name="矩形 92">
                    <a:extLst>
                      <a:ext uri="{FF2B5EF4-FFF2-40B4-BE49-F238E27FC236}">
                        <a16:creationId xmlns:a16="http://schemas.microsoft.com/office/drawing/2014/main" id="{35718268-7047-125A-F6B7-33A58BB586E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84731" y="4596457"/>
                    <a:ext cx="1045783" cy="322836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堆栈段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94" name="矩形 82">
                    <a:extLst>
                      <a:ext uri="{FF2B5EF4-FFF2-40B4-BE49-F238E27FC236}">
                        <a16:creationId xmlns:a16="http://schemas.microsoft.com/office/drawing/2014/main" id="{BBBAFB8C-12CE-C258-4301-BA763F7A1F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71768" y="4097654"/>
                    <a:ext cx="1438028" cy="485909"/>
                  </a:xfrm>
                  <a:prstGeom prst="rect">
                    <a:avLst/>
                  </a:prstGeom>
                  <a:pattFill prst="dkUpDiag">
                    <a:fgClr>
                      <a:srgbClr val="00B050"/>
                    </a:fgClr>
                    <a:bgClr>
                      <a:sysClr val="window" lastClr="FFFFFF"/>
                    </a:bgClr>
                  </a:patt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endParaRPr lang="en-US" altLang="zh-CN" sz="2000" kern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95" name="直接箭头连接符 94">
                    <a:extLst>
                      <a:ext uri="{FF2B5EF4-FFF2-40B4-BE49-F238E27FC236}">
                        <a16:creationId xmlns:a16="http://schemas.microsoft.com/office/drawing/2014/main" id="{DA0B9ADD-A376-426B-B3F0-47337B7B72DC}"/>
                      </a:ext>
                    </a:extLst>
                  </p:cNvPr>
                  <p:cNvCxnSpPr/>
                  <p:nvPr/>
                </p:nvCxnSpPr>
                <p:spPr>
                  <a:xfrm>
                    <a:off x="2911404" y="4087098"/>
                    <a:ext cx="1497994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88" name="矩形 87">
                  <a:extLst>
                    <a:ext uri="{FF2B5EF4-FFF2-40B4-BE49-F238E27FC236}">
                      <a16:creationId xmlns:a16="http://schemas.microsoft.com/office/drawing/2014/main" id="{B5D892B2-8216-2784-9573-87A761F21BE8}"/>
                    </a:ext>
                  </a:extLst>
                </p:cNvPr>
                <p:cNvSpPr/>
                <p:nvPr/>
              </p:nvSpPr>
              <p:spPr>
                <a:xfrm>
                  <a:off x="1304883" y="931129"/>
                  <a:ext cx="1456692" cy="5484953"/>
                </a:xfrm>
                <a:prstGeom prst="rect">
                  <a:avLst/>
                </a:prstGeom>
                <a:noFill/>
                <a:ln w="19050" cap="flat" cmpd="sng" algn="ctr">
                  <a:solidFill>
                    <a:srgbClr val="008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2" name="矩形 224">
                <a:extLst>
                  <a:ext uri="{FF2B5EF4-FFF2-40B4-BE49-F238E27FC236}">
                    <a16:creationId xmlns:a16="http://schemas.microsoft.com/office/drawing/2014/main" id="{6B3A0342-4168-76C9-EF56-0C606EF077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3680" y="1071785"/>
                <a:ext cx="907527" cy="2286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>
                  <a:defRPr/>
                </a:pPr>
                <a:r>
                  <a:rPr lang="en-US" altLang="zh-CN" sz="1400" kern="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4M+4K</a:t>
                </a:r>
              </a:p>
            </p:txBody>
          </p:sp>
          <p:sp>
            <p:nvSpPr>
              <p:cNvPr id="83" name="矩形 227">
                <a:extLst>
                  <a:ext uri="{FF2B5EF4-FFF2-40B4-BE49-F238E27FC236}">
                    <a16:creationId xmlns:a16="http://schemas.microsoft.com/office/drawing/2014/main" id="{8C880805-5CBF-93B6-2443-C422C4B541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807" y="3025654"/>
                <a:ext cx="846349" cy="2333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>
                  <a:defRPr/>
                </a:pPr>
                <a:r>
                  <a:rPr lang="en-US" altLang="zh-CN" sz="1400" kern="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8M-1</a:t>
                </a:r>
              </a:p>
            </p:txBody>
          </p:sp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3A1D5CAF-32B4-8324-EE5A-5D230D54F7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339" y="3775670"/>
                <a:ext cx="608012" cy="2270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40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3G</a:t>
                </a:r>
              </a:p>
            </p:txBody>
          </p:sp>
          <p:sp>
            <p:nvSpPr>
              <p:cNvPr id="85" name="矩形 109">
                <a:extLst>
                  <a:ext uri="{FF2B5EF4-FFF2-40B4-BE49-F238E27FC236}">
                    <a16:creationId xmlns:a16="http://schemas.microsoft.com/office/drawing/2014/main" id="{FAE6B5B3-48C5-23C0-9126-D7309E5C3D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33782" y="6081313"/>
                <a:ext cx="1184830" cy="3489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40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3G+4M-1</a:t>
                </a:r>
              </a:p>
            </p:txBody>
          </p:sp>
        </p:grpSp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9E1FB41A-5093-B4BC-6FEF-8BB5DF15C9B4}"/>
              </a:ext>
            </a:extLst>
          </p:cNvPr>
          <p:cNvGrpSpPr/>
          <p:nvPr/>
        </p:nvGrpSpPr>
        <p:grpSpPr>
          <a:xfrm>
            <a:off x="3749753" y="874507"/>
            <a:ext cx="2492598" cy="5407858"/>
            <a:chOff x="9336360" y="685438"/>
            <a:chExt cx="2492598" cy="5407858"/>
          </a:xfrm>
        </p:grpSpPr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D6FD0E61-8AA2-6100-348C-A71C6D696AE9}"/>
                </a:ext>
              </a:extLst>
            </p:cNvPr>
            <p:cNvSpPr/>
            <p:nvPr/>
          </p:nvSpPr>
          <p:spPr>
            <a:xfrm>
              <a:off x="9336360" y="843434"/>
              <a:ext cx="1511300" cy="530225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保留区</a:t>
              </a:r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FF669A26-143D-AD49-1995-56A90807434C}"/>
                </a:ext>
              </a:extLst>
            </p:cNvPr>
            <p:cNvSpPr/>
            <p:nvPr/>
          </p:nvSpPr>
          <p:spPr>
            <a:xfrm>
              <a:off x="9336360" y="1396007"/>
              <a:ext cx="1511300" cy="331787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内核</a:t>
              </a: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01B9289D-B3FE-B817-43D9-237E58E0B3C3}"/>
                </a:ext>
              </a:extLst>
            </p:cNvPr>
            <p:cNvSpPr/>
            <p:nvPr/>
          </p:nvSpPr>
          <p:spPr>
            <a:xfrm>
              <a:off x="9336360" y="1754742"/>
              <a:ext cx="1511300" cy="331788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内核堆对象</a:t>
              </a:r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2C6A8820-4D1B-8A02-52FB-5E2EA80D757B}"/>
                </a:ext>
              </a:extLst>
            </p:cNvPr>
            <p:cNvSpPr/>
            <p:nvPr/>
          </p:nvSpPr>
          <p:spPr>
            <a:xfrm>
              <a:off x="9336360" y="2099142"/>
              <a:ext cx="1511300" cy="878026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页表区</a:t>
              </a:r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6B93BF43-1F1A-D273-5885-00DF378DDC36}"/>
                </a:ext>
              </a:extLst>
            </p:cNvPr>
            <p:cNvSpPr/>
            <p:nvPr/>
          </p:nvSpPr>
          <p:spPr>
            <a:xfrm>
              <a:off x="9341122" y="3104034"/>
              <a:ext cx="1508124" cy="2989262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用户区</a:t>
              </a:r>
            </a:p>
          </p:txBody>
        </p:sp>
        <p:sp>
          <p:nvSpPr>
            <p:cNvPr id="112" name="矩形 47">
              <a:extLst>
                <a:ext uri="{FF2B5EF4-FFF2-40B4-BE49-F238E27FC236}">
                  <a16:creationId xmlns:a16="http://schemas.microsoft.com/office/drawing/2014/main" id="{272B2F6F-68A9-0EA8-96CA-624DE5F65A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0965" y="685438"/>
              <a:ext cx="690562" cy="338361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113" name="矩形 49">
              <a:extLst>
                <a:ext uri="{FF2B5EF4-FFF2-40B4-BE49-F238E27FC236}">
                  <a16:creationId xmlns:a16="http://schemas.microsoft.com/office/drawing/2014/main" id="{884578A6-6C31-6DA8-3BA5-FDDAD9880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9892" y="1210650"/>
              <a:ext cx="690562" cy="4349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1M</a:t>
              </a:r>
            </a:p>
          </p:txBody>
        </p:sp>
        <p:sp>
          <p:nvSpPr>
            <p:cNvPr id="114" name="矩形 39">
              <a:extLst>
                <a:ext uri="{FF2B5EF4-FFF2-40B4-BE49-F238E27FC236}">
                  <a16:creationId xmlns:a16="http://schemas.microsoft.com/office/drawing/2014/main" id="{F2C9BA4B-9EEF-6DE1-275F-A463F2F35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1750" y="1595450"/>
              <a:ext cx="865187" cy="3206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1.5M</a:t>
              </a:r>
            </a:p>
          </p:txBody>
        </p:sp>
        <p:sp>
          <p:nvSpPr>
            <p:cNvPr id="115" name="矩形 41">
              <a:extLst>
                <a:ext uri="{FF2B5EF4-FFF2-40B4-BE49-F238E27FC236}">
                  <a16:creationId xmlns:a16="http://schemas.microsoft.com/office/drawing/2014/main" id="{76AB1974-BF2D-B6FA-F024-213BE4825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1750" y="1901782"/>
              <a:ext cx="865187" cy="4349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2M</a:t>
              </a:r>
            </a:p>
          </p:txBody>
        </p:sp>
        <p:sp>
          <p:nvSpPr>
            <p:cNvPr id="116" name="矩形 43">
              <a:extLst>
                <a:ext uri="{FF2B5EF4-FFF2-40B4-BE49-F238E27FC236}">
                  <a16:creationId xmlns:a16="http://schemas.microsoft.com/office/drawing/2014/main" id="{EC886D0A-D8D0-B573-3922-81CE21F5C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1448" y="2889181"/>
              <a:ext cx="1017510" cy="4349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4M</a:t>
              </a:r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86835D63-52C1-EBF5-F2B7-44F624F10700}"/>
                </a:ext>
              </a:extLst>
            </p:cNvPr>
            <p:cNvSpPr/>
            <p:nvPr/>
          </p:nvSpPr>
          <p:spPr>
            <a:xfrm>
              <a:off x="9336360" y="845021"/>
              <a:ext cx="1511300" cy="5248275"/>
            </a:xfrm>
            <a:prstGeom prst="rect">
              <a:avLst/>
            </a:prstGeom>
            <a:noFill/>
            <a:ln w="19050" cap="flat" cmpd="sng" algn="ctr">
              <a:solidFill>
                <a:srgbClr val="008000"/>
              </a:solidFill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1600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C72CF2B1-8776-B203-71DF-A8E7DAEA9CCD}"/>
              </a:ext>
            </a:extLst>
          </p:cNvPr>
          <p:cNvCxnSpPr>
            <a:cxnSpLocks/>
          </p:cNvCxnSpPr>
          <p:nvPr/>
        </p:nvCxnSpPr>
        <p:spPr>
          <a:xfrm flipH="1">
            <a:off x="3164052" y="2260076"/>
            <a:ext cx="574590" cy="2774065"/>
          </a:xfrm>
          <a:prstGeom prst="straightConnector1">
            <a:avLst/>
          </a:prstGeom>
          <a:noFill/>
          <a:ln w="12700" cap="flat" cmpd="sng" algn="ctr">
            <a:solidFill>
              <a:srgbClr val="008000"/>
            </a:solidFill>
            <a:prstDash val="solid"/>
            <a:headEnd type="triangle" w="med" len="lg"/>
            <a:tailEnd type="none" w="med" len="med"/>
          </a:ln>
          <a:effectLst/>
        </p:spPr>
      </p:cxn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F2E8D366-2F6A-6D64-B238-6EDFF2EB867F}"/>
              </a:ext>
            </a:extLst>
          </p:cNvPr>
          <p:cNvCxnSpPr>
            <a:cxnSpLocks/>
          </p:cNvCxnSpPr>
          <p:nvPr/>
        </p:nvCxnSpPr>
        <p:spPr>
          <a:xfrm flipH="1">
            <a:off x="3165675" y="3166237"/>
            <a:ext cx="595188" cy="2755766"/>
          </a:xfrm>
          <a:prstGeom prst="straightConnector1">
            <a:avLst/>
          </a:prstGeom>
          <a:noFill/>
          <a:ln w="12700" cap="flat" cmpd="sng" algn="ctr">
            <a:solidFill>
              <a:srgbClr val="008000"/>
            </a:solidFill>
            <a:prstDash val="solid"/>
            <a:headEnd type="triangle" w="med" len="lg"/>
            <a:tailEnd type="none" w="med" len="med"/>
          </a:ln>
          <a:effectLst/>
        </p:spPr>
      </p:cxn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EF9D07D0-BDD4-9F9D-22C8-A820F6066429}"/>
              </a:ext>
            </a:extLst>
          </p:cNvPr>
          <p:cNvGrpSpPr/>
          <p:nvPr/>
        </p:nvGrpSpPr>
        <p:grpSpPr>
          <a:xfrm>
            <a:off x="5254358" y="829756"/>
            <a:ext cx="6646413" cy="2714903"/>
            <a:chOff x="5250880" y="498073"/>
            <a:chExt cx="6646413" cy="2714903"/>
          </a:xfrm>
        </p:grpSpPr>
        <p:grpSp>
          <p:nvGrpSpPr>
            <p:cNvPr id="121" name="组合 120">
              <a:extLst>
                <a:ext uri="{FF2B5EF4-FFF2-40B4-BE49-F238E27FC236}">
                  <a16:creationId xmlns:a16="http://schemas.microsoft.com/office/drawing/2014/main" id="{C098BCC5-C938-C6B1-F8EF-01203F99DF44}"/>
                </a:ext>
              </a:extLst>
            </p:cNvPr>
            <p:cNvGrpSpPr/>
            <p:nvPr/>
          </p:nvGrpSpPr>
          <p:grpSpPr>
            <a:xfrm>
              <a:off x="5250880" y="498073"/>
              <a:ext cx="6646413" cy="2714903"/>
              <a:chOff x="3076196" y="1187160"/>
              <a:chExt cx="6646413" cy="2714903"/>
            </a:xfrm>
          </p:grpSpPr>
          <p:sp>
            <p:nvSpPr>
              <p:cNvPr id="123" name="矩形 72">
                <a:extLst>
                  <a:ext uri="{FF2B5EF4-FFF2-40B4-BE49-F238E27FC236}">
                    <a16:creationId xmlns:a16="http://schemas.microsoft.com/office/drawing/2014/main" id="{33473841-1A16-4A55-7157-EA32C5F36B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8251" y="1708138"/>
                <a:ext cx="1979613" cy="358775"/>
              </a:xfrm>
              <a:prstGeom prst="rect">
                <a:avLst/>
              </a:prstGeom>
              <a:gradFill rotWithShape="1">
                <a:gsLst>
                  <a:gs pos="0">
                    <a:srgbClr val="8B4F00"/>
                  </a:gs>
                  <a:gs pos="50000">
                    <a:srgbClr val="C97500"/>
                  </a:gs>
                  <a:gs pos="100000">
                    <a:srgbClr val="EF8C00"/>
                  </a:gs>
                </a:gsLst>
                <a:lin ang="189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r" latinLnBrk="1">
                  <a:defRPr/>
                </a:pPr>
                <a:r>
                  <a:rPr kumimoji="1" lang="en-US" altLang="zh-CN" sz="1600" b="1" kern="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Page Table 768#</a:t>
                </a:r>
                <a:endParaRPr kumimoji="1" lang="zh-CN" altLang="en-US" sz="1600" b="1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24" name="直接箭头连接符 123">
                <a:extLst>
                  <a:ext uri="{FF2B5EF4-FFF2-40B4-BE49-F238E27FC236}">
                    <a16:creationId xmlns:a16="http://schemas.microsoft.com/office/drawing/2014/main" id="{41797D16-4DD2-20B4-3E65-B8012CB98B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76196" y="1293801"/>
                <a:ext cx="873647" cy="137753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008000"/>
                </a:solidFill>
                <a:prstDash val="dash"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5" name="矩形 81">
                <a:extLst>
                  <a:ext uri="{FF2B5EF4-FFF2-40B4-BE49-F238E27FC236}">
                    <a16:creationId xmlns:a16="http://schemas.microsoft.com/office/drawing/2014/main" id="{E5C90B2F-157F-833D-9133-73D65CE60C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31039" y="1657338"/>
                <a:ext cx="1344612" cy="434975"/>
              </a:xfrm>
              <a:prstGeom prst="rect">
                <a:avLst/>
              </a:prstGeom>
              <a:noFill/>
              <a:ln w="9525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>
                  <a:defRPr/>
                </a:pPr>
                <a:r>
                  <a:rPr lang="en-US" altLang="zh-CN" sz="1400" b="1" kern="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0x201</a:t>
                </a:r>
                <a:r>
                  <a:rPr lang="zh-CN" altLang="en-US" sz="1400" b="1" kern="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号页框</a:t>
                </a:r>
                <a:endParaRPr lang="en-US" altLang="zh-CN" sz="1400" b="1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26" name="矩形 86">
                <a:extLst>
                  <a:ext uri="{FF2B5EF4-FFF2-40B4-BE49-F238E27FC236}">
                    <a16:creationId xmlns:a16="http://schemas.microsoft.com/office/drawing/2014/main" id="{E0D861C7-4B38-022F-93E9-E21621C723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8251" y="2082788"/>
                <a:ext cx="1979613" cy="361950"/>
              </a:xfrm>
              <a:prstGeom prst="rect">
                <a:avLst/>
              </a:prstGeom>
              <a:gradFill rotWithShape="1">
                <a:gsLst>
                  <a:gs pos="0">
                    <a:srgbClr val="8B4F00"/>
                  </a:gs>
                  <a:gs pos="50000">
                    <a:srgbClr val="C97500"/>
                  </a:gs>
                  <a:gs pos="100000">
                    <a:srgbClr val="EF8C00"/>
                  </a:gs>
                </a:gsLst>
                <a:lin ang="189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r" latinLnBrk="1">
                  <a:defRPr/>
                </a:pPr>
                <a:r>
                  <a:rPr kumimoji="1" lang="en-US" altLang="zh-CN" sz="1600" b="1" kern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Page Table 0#</a:t>
                </a:r>
                <a:endParaRPr kumimoji="1" lang="zh-CN" altLang="en-US" sz="1600" b="1" ker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7" name="矩形 87">
                <a:extLst>
                  <a:ext uri="{FF2B5EF4-FFF2-40B4-BE49-F238E27FC236}">
                    <a16:creationId xmlns:a16="http://schemas.microsoft.com/office/drawing/2014/main" id="{28FB3DCB-AA17-6C3F-E127-537F1F0BE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26275" y="2039926"/>
                <a:ext cx="1349375" cy="434975"/>
              </a:xfrm>
              <a:prstGeom prst="rect">
                <a:avLst/>
              </a:prstGeom>
              <a:noFill/>
              <a:ln w="9525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>
                  <a:defRPr/>
                </a:pPr>
                <a:r>
                  <a:rPr lang="en-US" altLang="zh-CN" sz="1400" b="1" kern="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0x202</a:t>
                </a:r>
                <a:r>
                  <a:rPr lang="zh-CN" altLang="en-US" sz="1400" b="1" kern="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号页框</a:t>
                </a:r>
                <a:endParaRPr lang="en-US" altLang="zh-CN" sz="1400" b="1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28" name="矩形 88">
                <a:extLst>
                  <a:ext uri="{FF2B5EF4-FFF2-40B4-BE49-F238E27FC236}">
                    <a16:creationId xmlns:a16="http://schemas.microsoft.com/office/drawing/2014/main" id="{B70EAA13-D1DF-D978-36B0-A366F965A8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8251" y="2462201"/>
                <a:ext cx="1979613" cy="342900"/>
              </a:xfrm>
              <a:prstGeom prst="rect">
                <a:avLst/>
              </a:prstGeom>
              <a:gradFill rotWithShape="1">
                <a:gsLst>
                  <a:gs pos="0">
                    <a:srgbClr val="8B4F00"/>
                  </a:gs>
                  <a:gs pos="50000">
                    <a:srgbClr val="C97500"/>
                  </a:gs>
                  <a:gs pos="100000">
                    <a:srgbClr val="EF8C00"/>
                  </a:gs>
                </a:gsLst>
                <a:lin ang="189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r" latinLnBrk="1">
                  <a:defRPr/>
                </a:pPr>
                <a:r>
                  <a:rPr kumimoji="1" lang="en-US" altLang="zh-CN" sz="1600" b="1" kern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Page Table 1#</a:t>
                </a:r>
                <a:endParaRPr kumimoji="1" lang="zh-CN" altLang="en-US" sz="1600" b="1" ker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9" name="矩形 93">
                <a:extLst>
                  <a:ext uri="{FF2B5EF4-FFF2-40B4-BE49-F238E27FC236}">
                    <a16:creationId xmlns:a16="http://schemas.microsoft.com/office/drawing/2014/main" id="{3819F2EB-FCA5-403E-AD8A-DF986DFA5F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26276" y="2400288"/>
                <a:ext cx="1349374" cy="433388"/>
              </a:xfrm>
              <a:prstGeom prst="rect">
                <a:avLst/>
              </a:prstGeom>
              <a:noFill/>
              <a:ln w="9525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>
                  <a:defRPr/>
                </a:pPr>
                <a:r>
                  <a:rPr lang="en-US" altLang="zh-CN" sz="1400" b="1" kern="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0x203</a:t>
                </a:r>
                <a:r>
                  <a:rPr lang="zh-CN" altLang="en-US" sz="1400" b="1" kern="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号页框</a:t>
                </a:r>
                <a:endParaRPr lang="en-US" altLang="zh-CN" sz="1400" b="1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endParaRPr>
              </a:p>
            </p:txBody>
          </p:sp>
          <p:cxnSp>
            <p:nvCxnSpPr>
              <p:cNvPr id="130" name="直接箭头连接符 129">
                <a:extLst>
                  <a:ext uri="{FF2B5EF4-FFF2-40B4-BE49-F238E27FC236}">
                    <a16:creationId xmlns:a16="http://schemas.microsoft.com/office/drawing/2014/main" id="{37E220D8-1234-5532-5C37-F4C787BE01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082891" y="3512908"/>
                <a:ext cx="865365" cy="37963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008000"/>
                </a:solidFill>
                <a:prstDash val="dash"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31" name="矩形 109">
                <a:extLst>
                  <a:ext uri="{FF2B5EF4-FFF2-40B4-BE49-F238E27FC236}">
                    <a16:creationId xmlns:a16="http://schemas.microsoft.com/office/drawing/2014/main" id="{39BFCDC8-0272-57A3-383D-488FE26F7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8251" y="2840026"/>
                <a:ext cx="1979613" cy="342900"/>
              </a:xfrm>
              <a:prstGeom prst="rect">
                <a:avLst/>
              </a:prstGeom>
              <a:gradFill rotWithShape="1">
                <a:gsLst>
                  <a:gs pos="0">
                    <a:srgbClr val="8B4F00"/>
                  </a:gs>
                  <a:gs pos="50000">
                    <a:srgbClr val="C97500"/>
                  </a:gs>
                  <a:gs pos="100000">
                    <a:srgbClr val="EF8C00"/>
                  </a:gs>
                </a:gsLst>
                <a:lin ang="189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r" latinLnBrk="1">
                  <a:defRPr/>
                </a:pPr>
                <a:r>
                  <a:rPr kumimoji="1" lang="en-US" altLang="zh-CN" sz="1600" b="1" kern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</a:t>
                </a:r>
                <a:endParaRPr kumimoji="1" lang="zh-CN" altLang="en-US" sz="1600" b="1" ker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" name="矩形 112">
                <a:extLst>
                  <a:ext uri="{FF2B5EF4-FFF2-40B4-BE49-F238E27FC236}">
                    <a16:creationId xmlns:a16="http://schemas.microsoft.com/office/drawing/2014/main" id="{DA49EBCF-B1D7-9FD0-7757-3CF4EEA11C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8251" y="3198801"/>
                <a:ext cx="1979613" cy="342900"/>
              </a:xfrm>
              <a:prstGeom prst="rect">
                <a:avLst/>
              </a:prstGeom>
              <a:gradFill rotWithShape="1">
                <a:gsLst>
                  <a:gs pos="0">
                    <a:srgbClr val="8B4F00"/>
                  </a:gs>
                  <a:gs pos="50000">
                    <a:srgbClr val="C97500"/>
                  </a:gs>
                  <a:gs pos="100000">
                    <a:srgbClr val="EF8C00"/>
                  </a:gs>
                </a:gsLst>
                <a:lin ang="189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r" latinLnBrk="1">
                  <a:defRPr/>
                </a:pPr>
                <a:r>
                  <a:rPr kumimoji="1" lang="en-US" altLang="zh-CN" sz="1600" b="1" kern="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</a:t>
                </a:r>
                <a:endParaRPr kumimoji="1" lang="zh-CN" altLang="en-US" sz="1600" b="1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3" name="矩形 114">
                <a:extLst>
                  <a:ext uri="{FF2B5EF4-FFF2-40B4-BE49-F238E27FC236}">
                    <a16:creationId xmlns:a16="http://schemas.microsoft.com/office/drawing/2014/main" id="{81DA9B2B-2BC9-1520-0A95-3760591218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8251" y="3559163"/>
                <a:ext cx="1979613" cy="342900"/>
              </a:xfrm>
              <a:prstGeom prst="rect">
                <a:avLst/>
              </a:prstGeom>
              <a:gradFill rotWithShape="1">
                <a:gsLst>
                  <a:gs pos="0">
                    <a:srgbClr val="8B4F00"/>
                  </a:gs>
                  <a:gs pos="50000">
                    <a:srgbClr val="C97500"/>
                  </a:gs>
                  <a:gs pos="100000">
                    <a:srgbClr val="EF8C00"/>
                  </a:gs>
                </a:gsLst>
                <a:lin ang="189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r" latinLnBrk="1">
                  <a:defRPr/>
                </a:pPr>
                <a:endParaRPr kumimoji="1" lang="zh-CN" altLang="en-US" sz="1600" b="1" ker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4" name="矩形 133">
                <a:extLst>
                  <a:ext uri="{FF2B5EF4-FFF2-40B4-BE49-F238E27FC236}">
                    <a16:creationId xmlns:a16="http://schemas.microsoft.com/office/drawing/2014/main" id="{8967EE16-4C2F-1749-4EAA-72F6CABFD46E}"/>
                  </a:ext>
                </a:extLst>
              </p:cNvPr>
              <p:cNvSpPr/>
              <p:nvPr/>
            </p:nvSpPr>
            <p:spPr>
              <a:xfrm>
                <a:off x="3476764" y="1187160"/>
                <a:ext cx="3798887" cy="1652866"/>
              </a:xfrm>
              <a:prstGeom prst="rect">
                <a:avLst/>
              </a:prstGeom>
              <a:noFill/>
              <a:ln w="19050" cap="flat" cmpd="sng" algn="ctr">
                <a:solidFill>
                  <a:srgbClr val="DF890B"/>
                </a:solidFill>
                <a:prstDash val="dash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5" name="矩形 3">
                <a:extLst>
                  <a:ext uri="{FF2B5EF4-FFF2-40B4-BE49-F238E27FC236}">
                    <a16:creationId xmlns:a16="http://schemas.microsoft.com/office/drawing/2014/main" id="{9B73475D-A3EA-6D1B-86DB-94A869C5C9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4521" y="1769578"/>
                <a:ext cx="2238088" cy="712788"/>
              </a:xfrm>
              <a:prstGeom prst="rect">
                <a:avLst/>
              </a:prstGeom>
              <a:solidFill>
                <a:srgbClr val="0070C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r>
                  <a:rPr lang="zh-CN" altLang="en-US" sz="2000" b="1" kern="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现运行进程的内核页表与用户页表</a:t>
                </a:r>
              </a:p>
            </p:txBody>
          </p:sp>
        </p:grpSp>
        <p:sp>
          <p:nvSpPr>
            <p:cNvPr id="122" name="矩形 75">
              <a:extLst>
                <a:ext uri="{FF2B5EF4-FFF2-40B4-BE49-F238E27FC236}">
                  <a16:creationId xmlns:a16="http://schemas.microsoft.com/office/drawing/2014/main" id="{B11B92C8-EF65-DFDB-DFC6-20CF517FD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0631" y="624291"/>
              <a:ext cx="1347787" cy="433387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b="1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0x200</a:t>
              </a:r>
              <a:r>
                <a:rPr lang="zh-CN" altLang="en-US" sz="1400" b="1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号页框</a:t>
              </a:r>
              <a:endParaRPr lang="en-US" altLang="zh-CN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  <p:sp>
        <p:nvSpPr>
          <p:cNvPr id="136" name="矩形 77">
            <a:extLst>
              <a:ext uri="{FF2B5EF4-FFF2-40B4-BE49-F238E27FC236}">
                <a16:creationId xmlns:a16="http://schemas.microsoft.com/office/drawing/2014/main" id="{513E8B7B-3D00-227B-C5BF-8464D0A25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2661" y="924866"/>
            <a:ext cx="1979613" cy="403225"/>
          </a:xfrm>
          <a:prstGeom prst="rect">
            <a:avLst/>
          </a:prstGeom>
          <a:solidFill>
            <a:srgbClr val="8F45C7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r" latinLnBrk="1">
              <a:defRPr/>
            </a:pPr>
            <a:r>
              <a:rPr kumimoji="1" lang="en-US" altLang="zh-CN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Directory</a:t>
            </a:r>
            <a:endParaRPr kumimoji="1"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8" name="矩形 38">
            <a:extLst>
              <a:ext uri="{FF2B5EF4-FFF2-40B4-BE49-F238E27FC236}">
                <a16:creationId xmlns:a16="http://schemas.microsoft.com/office/drawing/2014/main" id="{64179314-9D75-B1C3-5937-A6CD0F3CC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9496" y="4883363"/>
            <a:ext cx="830238" cy="392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zh-CN" sz="1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grpSp>
        <p:nvGrpSpPr>
          <p:cNvPr id="160" name="组合 159">
            <a:extLst>
              <a:ext uri="{FF2B5EF4-FFF2-40B4-BE49-F238E27FC236}">
                <a16:creationId xmlns:a16="http://schemas.microsoft.com/office/drawing/2014/main" id="{27F73774-A7DC-F5F2-AEFF-E81AFC047F23}"/>
              </a:ext>
            </a:extLst>
          </p:cNvPr>
          <p:cNvGrpSpPr/>
          <p:nvPr/>
        </p:nvGrpSpPr>
        <p:grpSpPr>
          <a:xfrm>
            <a:off x="8091763" y="911495"/>
            <a:ext cx="3722470" cy="346399"/>
            <a:chOff x="-916679" y="925140"/>
            <a:chExt cx="3722470" cy="346399"/>
          </a:xfrm>
        </p:grpSpPr>
        <p:grpSp>
          <p:nvGrpSpPr>
            <p:cNvPr id="161" name="组合 160">
              <a:extLst>
                <a:ext uri="{FF2B5EF4-FFF2-40B4-BE49-F238E27FC236}">
                  <a16:creationId xmlns:a16="http://schemas.microsoft.com/office/drawing/2014/main" id="{78A508A5-F4C3-1EEE-18FE-214BCA5B490F}"/>
                </a:ext>
              </a:extLst>
            </p:cNvPr>
            <p:cNvGrpSpPr/>
            <p:nvPr/>
          </p:nvGrpSpPr>
          <p:grpSpPr>
            <a:xfrm>
              <a:off x="600861" y="925140"/>
              <a:ext cx="2204930" cy="346399"/>
              <a:chOff x="598695" y="1085428"/>
              <a:chExt cx="2212975" cy="347663"/>
            </a:xfrm>
          </p:grpSpPr>
          <p:sp>
            <p:nvSpPr>
              <p:cNvPr id="163" name="矩形 162">
                <a:extLst>
                  <a:ext uri="{FF2B5EF4-FFF2-40B4-BE49-F238E27FC236}">
                    <a16:creationId xmlns:a16="http://schemas.microsoft.com/office/drawing/2014/main" id="{402006A6-0514-F9FA-0592-301CAE66BDE9}"/>
                  </a:ext>
                </a:extLst>
              </p:cNvPr>
              <p:cNvSpPr/>
              <p:nvPr/>
            </p:nvSpPr>
            <p:spPr bwMode="auto">
              <a:xfrm>
                <a:off x="598695" y="1085428"/>
                <a:ext cx="1437997" cy="347663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952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0x200000</a:t>
                </a:r>
                <a:endPara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4" name="矩形 97">
                <a:extLst>
                  <a:ext uri="{FF2B5EF4-FFF2-40B4-BE49-F238E27FC236}">
                    <a16:creationId xmlns:a16="http://schemas.microsoft.com/office/drawing/2014/main" id="{9CC42FF4-38E2-7B6F-F35C-467A993A0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21195" y="1096667"/>
                <a:ext cx="690475" cy="324418"/>
              </a:xfrm>
              <a:prstGeom prst="rect">
                <a:avLst/>
              </a:prstGeom>
              <a:noFill/>
              <a:ln w="9525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CR3</a:t>
                </a:r>
              </a:p>
            </p:txBody>
          </p:sp>
        </p:grpSp>
        <p:cxnSp>
          <p:nvCxnSpPr>
            <p:cNvPr id="162" name="连接符: 肘形 110">
              <a:extLst>
                <a:ext uri="{FF2B5EF4-FFF2-40B4-BE49-F238E27FC236}">
                  <a16:creationId xmlns:a16="http://schemas.microsoft.com/office/drawing/2014/main" id="{C16032EE-3EF7-E95E-E15D-336739E05A44}"/>
                </a:ext>
              </a:extLst>
            </p:cNvPr>
            <p:cNvCxnSpPr>
              <a:cxnSpLocks/>
              <a:stCxn id="163" idx="1"/>
            </p:cNvCxnSpPr>
            <p:nvPr/>
          </p:nvCxnSpPr>
          <p:spPr>
            <a:xfrm flipH="1">
              <a:off x="-916679" y="1098340"/>
              <a:ext cx="1517540" cy="0"/>
            </a:xfrm>
            <a:prstGeom prst="straightConnector1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none" w="med" len="med"/>
              <a:tailEnd type="triangle" w="med" len="lg"/>
            </a:ln>
            <a:effectLst/>
          </p:spPr>
        </p:cxnSp>
      </p:grpSp>
      <p:sp>
        <p:nvSpPr>
          <p:cNvPr id="168" name="Rectangle 4">
            <a:extLst>
              <a:ext uri="{FF2B5EF4-FFF2-40B4-BE49-F238E27FC236}">
                <a16:creationId xmlns:a16="http://schemas.microsoft.com/office/drawing/2014/main" id="{60CA974C-1E35-3437-1DCE-51D492D1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29" y="2715812"/>
            <a:ext cx="244012" cy="142637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wrap="square" tIns="0" bIns="0" anchor="ctr" anchorCtr="1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页表的构成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35426B8-3605-09F5-70A8-02C02076EC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560142"/>
              </p:ext>
            </p:extLst>
          </p:nvPr>
        </p:nvGraphicFramePr>
        <p:xfrm>
          <a:off x="7836223" y="4310297"/>
          <a:ext cx="3312368" cy="1742440"/>
        </p:xfrm>
        <a:graphic>
          <a:graphicData uri="http://schemas.openxmlformats.org/drawingml/2006/table">
            <a:tbl>
              <a:tblPr firstRow="1" bandRow="1"/>
              <a:tblGrid>
                <a:gridCol w="1746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72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68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Page Base Address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45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45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s/u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45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r/w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45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45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65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0x202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8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0x203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……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0x201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……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492874"/>
                  </a:ext>
                </a:extLst>
              </a:tr>
            </a:tbl>
          </a:graphicData>
        </a:graphic>
      </p:graphicFrame>
      <p:sp>
        <p:nvSpPr>
          <p:cNvPr id="5" name="矩形 76">
            <a:extLst>
              <a:ext uri="{FF2B5EF4-FFF2-40B4-BE49-F238E27FC236}">
                <a16:creationId xmlns:a16="http://schemas.microsoft.com/office/drawing/2014/main" id="{ACD149FB-6D0F-7E18-EA4D-8C3BFAA0F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9496" y="3901711"/>
            <a:ext cx="3338699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Page Directory</a:t>
            </a:r>
            <a:r>
              <a:rPr lang="zh-CN" altLang="en-US" sz="1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（</a:t>
            </a:r>
            <a:r>
              <a:rPr lang="en-US" altLang="zh-CN" sz="1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0x200</a:t>
            </a:r>
            <a:r>
              <a:rPr lang="zh-CN" altLang="en-US" sz="1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号页框）</a:t>
            </a:r>
            <a:endParaRPr lang="en-US" altLang="zh-CN" sz="14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6" name="矩形 78">
            <a:extLst>
              <a:ext uri="{FF2B5EF4-FFF2-40B4-BE49-F238E27FC236}">
                <a16:creationId xmlns:a16="http://schemas.microsoft.com/office/drawing/2014/main" id="{FBCA7661-4D8A-2240-3691-9DECEF33D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5601" y="4659546"/>
            <a:ext cx="422275" cy="392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0#</a:t>
            </a:r>
          </a:p>
        </p:txBody>
      </p:sp>
      <p:sp>
        <p:nvSpPr>
          <p:cNvPr id="7" name="矩形 79">
            <a:extLst>
              <a:ext uri="{FF2B5EF4-FFF2-40B4-BE49-F238E27FC236}">
                <a16:creationId xmlns:a16="http://schemas.microsoft.com/office/drawing/2014/main" id="{AD85A449-4A8D-B219-0BBB-924B3F19D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4008" y="4938453"/>
            <a:ext cx="423862" cy="392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1#</a:t>
            </a:r>
          </a:p>
        </p:txBody>
      </p:sp>
      <p:sp>
        <p:nvSpPr>
          <p:cNvPr id="8" name="矩形 80">
            <a:extLst>
              <a:ext uri="{FF2B5EF4-FFF2-40B4-BE49-F238E27FC236}">
                <a16:creationId xmlns:a16="http://schemas.microsoft.com/office/drawing/2014/main" id="{6B1BC8C3-6C26-9474-8CF1-4EBBC8992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8853" y="5449401"/>
            <a:ext cx="739775" cy="392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1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768#</a:t>
            </a:r>
          </a:p>
        </p:txBody>
      </p:sp>
    </p:spTree>
    <p:extLst>
      <p:ext uri="{BB962C8B-B14F-4D97-AF65-F5344CB8AC3E}">
        <p14:creationId xmlns:p14="http://schemas.microsoft.com/office/powerpoint/2010/main" val="3308764184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82E4A4-4B4D-41BF-9F68-1575C742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353A2E-92EE-4F23-A078-2A07C43737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C4DE104-5DA1-4B88-B642-58DE3423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页表系统</a:t>
            </a: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9FB98FB3-625B-1981-5909-CDC208977DD3}"/>
              </a:ext>
            </a:extLst>
          </p:cNvPr>
          <p:cNvGrpSpPr/>
          <p:nvPr/>
        </p:nvGrpSpPr>
        <p:grpSpPr>
          <a:xfrm>
            <a:off x="637672" y="797428"/>
            <a:ext cx="2537493" cy="5593557"/>
            <a:chOff x="119336" y="632221"/>
            <a:chExt cx="2537493" cy="5593557"/>
          </a:xfrm>
        </p:grpSpPr>
        <p:sp>
          <p:nvSpPr>
            <p:cNvPr id="77" name="矩形 83">
              <a:extLst>
                <a:ext uri="{FF2B5EF4-FFF2-40B4-BE49-F238E27FC236}">
                  <a16:creationId xmlns:a16="http://schemas.microsoft.com/office/drawing/2014/main" id="{01612BA3-A3EA-FE9E-1C27-2E7F0FDCB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438" y="3974628"/>
              <a:ext cx="907527" cy="227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3G+1M</a:t>
              </a:r>
            </a:p>
          </p:txBody>
        </p:sp>
        <p:sp>
          <p:nvSpPr>
            <p:cNvPr id="78" name="矩形 83">
              <a:extLst>
                <a:ext uri="{FF2B5EF4-FFF2-40B4-BE49-F238E27FC236}">
                  <a16:creationId xmlns:a16="http://schemas.microsoft.com/office/drawing/2014/main" id="{99F4B1C2-880D-BFF8-6666-083B512CFD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056" y="4356990"/>
              <a:ext cx="1020960" cy="2420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3G+1.5M</a:t>
              </a:r>
            </a:p>
          </p:txBody>
        </p:sp>
        <p:sp>
          <p:nvSpPr>
            <p:cNvPr id="79" name="矩形 83">
              <a:extLst>
                <a:ext uri="{FF2B5EF4-FFF2-40B4-BE49-F238E27FC236}">
                  <a16:creationId xmlns:a16="http://schemas.microsoft.com/office/drawing/2014/main" id="{B2607093-C08B-0129-255F-03AB69B8B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24" y="4755427"/>
              <a:ext cx="907527" cy="227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3G+2M</a:t>
              </a:r>
            </a:p>
          </p:txBody>
        </p:sp>
        <p:grpSp>
          <p:nvGrpSpPr>
            <p:cNvPr id="80" name="组合 154">
              <a:extLst>
                <a:ext uri="{FF2B5EF4-FFF2-40B4-BE49-F238E27FC236}">
                  <a16:creationId xmlns:a16="http://schemas.microsoft.com/office/drawing/2014/main" id="{FADA5135-579F-4E1C-706B-204914BD8FEF}"/>
                </a:ext>
              </a:extLst>
            </p:cNvPr>
            <p:cNvGrpSpPr/>
            <p:nvPr/>
          </p:nvGrpSpPr>
          <p:grpSpPr>
            <a:xfrm>
              <a:off x="119336" y="632221"/>
              <a:ext cx="2537493" cy="5593557"/>
              <a:chOff x="-233782" y="836712"/>
              <a:chExt cx="2537493" cy="5593557"/>
            </a:xfrm>
          </p:grpSpPr>
          <p:grpSp>
            <p:nvGrpSpPr>
              <p:cNvPr id="81" name="组合 7">
                <a:extLst>
                  <a:ext uri="{FF2B5EF4-FFF2-40B4-BE49-F238E27FC236}">
                    <a16:creationId xmlns:a16="http://schemas.microsoft.com/office/drawing/2014/main" id="{B4A70305-E536-C926-C774-5E08F629B0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1773" y="836712"/>
                <a:ext cx="1531938" cy="5484937"/>
                <a:chOff x="1244518" y="931129"/>
                <a:chExt cx="1532942" cy="5484953"/>
              </a:xfrm>
            </p:grpSpPr>
            <p:grpSp>
              <p:nvGrpSpPr>
                <p:cNvPr id="86" name="组合 6">
                  <a:extLst>
                    <a:ext uri="{FF2B5EF4-FFF2-40B4-BE49-F238E27FC236}">
                      <a16:creationId xmlns:a16="http://schemas.microsoft.com/office/drawing/2014/main" id="{44FAA9FF-55F6-497C-2BCD-270EEA8DA53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08059" y="3956058"/>
                  <a:ext cx="1469401" cy="2460024"/>
                  <a:chOff x="3535262" y="1401025"/>
                  <a:chExt cx="1469401" cy="2460024"/>
                </a:xfrm>
              </p:grpSpPr>
              <p:sp>
                <p:nvSpPr>
                  <p:cNvPr id="96" name="矩形 95">
                    <a:extLst>
                      <a:ext uri="{FF2B5EF4-FFF2-40B4-BE49-F238E27FC236}">
                        <a16:creationId xmlns:a16="http://schemas.microsoft.com/office/drawing/2014/main" id="{07B4C9F2-75A4-B540-9843-40EECCA2E906}"/>
                      </a:ext>
                    </a:extLst>
                  </p:cNvPr>
                  <p:cNvSpPr/>
                  <p:nvPr/>
                </p:nvSpPr>
                <p:spPr>
                  <a:xfrm>
                    <a:off x="3549125" y="1401025"/>
                    <a:ext cx="1437630" cy="2460024"/>
                  </a:xfrm>
                  <a:prstGeom prst="rect">
                    <a:avLst/>
                  </a:prstGeom>
                  <a:solidFill>
                    <a:srgbClr val="00B050"/>
                  </a:solidFill>
                  <a:effectLst/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endParaRPr lang="en-US" altLang="zh-CN" sz="20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97" name="直接箭头连接符 96">
                    <a:extLst>
                      <a:ext uri="{FF2B5EF4-FFF2-40B4-BE49-F238E27FC236}">
                        <a16:creationId xmlns:a16="http://schemas.microsoft.com/office/drawing/2014/main" id="{FAB7E796-12F0-442F-55BC-F11E6FE07DB1}"/>
                      </a:ext>
                    </a:extLst>
                  </p:cNvPr>
                  <p:cNvCxnSpPr/>
                  <p:nvPr/>
                </p:nvCxnSpPr>
                <p:spPr>
                  <a:xfrm>
                    <a:off x="3563856" y="1862397"/>
                    <a:ext cx="1440807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98" name="直接箭头连接符 97">
                    <a:extLst>
                      <a:ext uri="{FF2B5EF4-FFF2-40B4-BE49-F238E27FC236}">
                        <a16:creationId xmlns:a16="http://schemas.microsoft.com/office/drawing/2014/main" id="{2602476E-2DF4-78A3-C40F-2CFA8A17D2F7}"/>
                      </a:ext>
                    </a:extLst>
                  </p:cNvPr>
                  <p:cNvCxnSpPr/>
                  <p:nvPr/>
                </p:nvCxnSpPr>
                <p:spPr>
                  <a:xfrm>
                    <a:off x="3537101" y="2230374"/>
                    <a:ext cx="1440558" cy="75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99" name="直接箭头连接符 98">
                    <a:extLst>
                      <a:ext uri="{FF2B5EF4-FFF2-40B4-BE49-F238E27FC236}">
                        <a16:creationId xmlns:a16="http://schemas.microsoft.com/office/drawing/2014/main" id="{42E2B389-5BED-08D0-70F2-0E4F3EE28D0D}"/>
                      </a:ext>
                    </a:extLst>
                  </p:cNvPr>
                  <p:cNvCxnSpPr/>
                  <p:nvPr/>
                </p:nvCxnSpPr>
                <p:spPr>
                  <a:xfrm>
                    <a:off x="3551399" y="2612821"/>
                    <a:ext cx="1426261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100" name="矩形 96">
                    <a:extLst>
                      <a:ext uri="{FF2B5EF4-FFF2-40B4-BE49-F238E27FC236}">
                        <a16:creationId xmlns:a16="http://schemas.microsoft.com/office/drawing/2014/main" id="{01D9FB7B-C476-A3C8-381F-50FA55304D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43594" y="1508767"/>
                    <a:ext cx="1045783" cy="240040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保留区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1" name="矩形 98">
                    <a:extLst>
                      <a:ext uri="{FF2B5EF4-FFF2-40B4-BE49-F238E27FC236}">
                        <a16:creationId xmlns:a16="http://schemas.microsoft.com/office/drawing/2014/main" id="{B3AE625F-B67D-9842-86F9-B148FCA781E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69553" y="1966319"/>
                    <a:ext cx="1117790" cy="198407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内核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102" name="直接箭头连接符 101">
                    <a:extLst>
                      <a:ext uri="{FF2B5EF4-FFF2-40B4-BE49-F238E27FC236}">
                        <a16:creationId xmlns:a16="http://schemas.microsoft.com/office/drawing/2014/main" id="{CC86AA37-EE26-7F59-DB3B-6611039ECAF1}"/>
                      </a:ext>
                    </a:extLst>
                  </p:cNvPr>
                  <p:cNvCxnSpPr/>
                  <p:nvPr/>
                </p:nvCxnSpPr>
                <p:spPr>
                  <a:xfrm>
                    <a:off x="3535262" y="3500686"/>
                    <a:ext cx="1442397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103" name="矩形 105">
                    <a:extLst>
                      <a:ext uri="{FF2B5EF4-FFF2-40B4-BE49-F238E27FC236}">
                        <a16:creationId xmlns:a16="http://schemas.microsoft.com/office/drawing/2014/main" id="{F4F8D36F-6644-ED53-6A72-70F52CD608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568020" y="2239583"/>
                    <a:ext cx="1357035" cy="373238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0" rIns="0"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内核堆对象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4" name="矩形 110">
                    <a:extLst>
                      <a:ext uri="{FF2B5EF4-FFF2-40B4-BE49-F238E27FC236}">
                        <a16:creationId xmlns:a16="http://schemas.microsoft.com/office/drawing/2014/main" id="{8950FC1D-F552-06F9-D44A-4EDC16B64D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55881" y="2900110"/>
                    <a:ext cx="1185607" cy="348956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页表区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5" name="矩形 111">
                    <a:extLst>
                      <a:ext uri="{FF2B5EF4-FFF2-40B4-BE49-F238E27FC236}">
                        <a16:creationId xmlns:a16="http://schemas.microsoft.com/office/drawing/2014/main" id="{0BF58BFF-32B0-C5A2-3712-13833A8D20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55881" y="3573016"/>
                    <a:ext cx="1185607" cy="216836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en-US" altLang="zh-CN" sz="1600" kern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PPDA</a:t>
                    </a:r>
                  </a:p>
                </p:txBody>
              </p:sp>
            </p:grpSp>
            <p:grpSp>
              <p:nvGrpSpPr>
                <p:cNvPr id="87" name="组合 5">
                  <a:extLst>
                    <a:ext uri="{FF2B5EF4-FFF2-40B4-BE49-F238E27FC236}">
                      <a16:creationId xmlns:a16="http://schemas.microsoft.com/office/drawing/2014/main" id="{DDC0DD60-C451-7C40-52E0-2E9A1F2A37A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44518" y="1248755"/>
                  <a:ext cx="1509582" cy="1981997"/>
                  <a:chOff x="2911404" y="2986958"/>
                  <a:chExt cx="1509582" cy="1981997"/>
                </a:xfrm>
              </p:grpSpPr>
              <p:sp>
                <p:nvSpPr>
                  <p:cNvPr id="89" name="矩形 88">
                    <a:extLst>
                      <a:ext uri="{FF2B5EF4-FFF2-40B4-BE49-F238E27FC236}">
                        <a16:creationId xmlns:a16="http://schemas.microsoft.com/office/drawing/2014/main" id="{EC9FE9D9-27EC-3CC9-FF8D-C1B051268294}"/>
                      </a:ext>
                    </a:extLst>
                  </p:cNvPr>
                  <p:cNvSpPr/>
                  <p:nvPr/>
                </p:nvSpPr>
                <p:spPr>
                  <a:xfrm>
                    <a:off x="2983357" y="2986958"/>
                    <a:ext cx="1437629" cy="1981997"/>
                  </a:xfrm>
                  <a:prstGeom prst="rect">
                    <a:avLst/>
                  </a:prstGeom>
                  <a:solidFill>
                    <a:srgbClr val="00B050"/>
                  </a:solidFill>
                  <a:effectLst/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endParaRPr lang="en-US" altLang="zh-CN" sz="20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90" name="直接箭头连接符 89">
                    <a:extLst>
                      <a:ext uri="{FF2B5EF4-FFF2-40B4-BE49-F238E27FC236}">
                        <a16:creationId xmlns:a16="http://schemas.microsoft.com/office/drawing/2014/main" id="{8C09E11B-1FF7-2217-1FE8-64E7090CE097}"/>
                      </a:ext>
                    </a:extLst>
                  </p:cNvPr>
                  <p:cNvCxnSpPr/>
                  <p:nvPr/>
                </p:nvCxnSpPr>
                <p:spPr>
                  <a:xfrm>
                    <a:off x="2911404" y="3366758"/>
                    <a:ext cx="1497994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91" name="矩形 62">
                    <a:extLst>
                      <a:ext uri="{FF2B5EF4-FFF2-40B4-BE49-F238E27FC236}">
                        <a16:creationId xmlns:a16="http://schemas.microsoft.com/office/drawing/2014/main" id="{7DEE31A1-B6B1-2AB6-644E-14D9FB09394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69718" y="3004503"/>
                    <a:ext cx="1045783" cy="334527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代码段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92" name="矩形 63">
                    <a:extLst>
                      <a:ext uri="{FF2B5EF4-FFF2-40B4-BE49-F238E27FC236}">
                        <a16:creationId xmlns:a16="http://schemas.microsoft.com/office/drawing/2014/main" id="{A86D96A0-E794-F900-74CB-443A3F4442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83277" y="3498186"/>
                    <a:ext cx="1045783" cy="426894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数据段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93" name="矩形 92">
                    <a:extLst>
                      <a:ext uri="{FF2B5EF4-FFF2-40B4-BE49-F238E27FC236}">
                        <a16:creationId xmlns:a16="http://schemas.microsoft.com/office/drawing/2014/main" id="{35718268-7047-125A-F6B7-33A58BB586E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84731" y="4596457"/>
                    <a:ext cx="1045783" cy="322836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堆栈段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94" name="矩形 82">
                    <a:extLst>
                      <a:ext uri="{FF2B5EF4-FFF2-40B4-BE49-F238E27FC236}">
                        <a16:creationId xmlns:a16="http://schemas.microsoft.com/office/drawing/2014/main" id="{BBBAFB8C-12CE-C258-4301-BA763F7A1F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71768" y="4097654"/>
                    <a:ext cx="1438028" cy="485909"/>
                  </a:xfrm>
                  <a:prstGeom prst="rect">
                    <a:avLst/>
                  </a:prstGeom>
                  <a:pattFill prst="dkUpDiag">
                    <a:fgClr>
                      <a:srgbClr val="00B050"/>
                    </a:fgClr>
                    <a:bgClr>
                      <a:sysClr val="window" lastClr="FFFFFF"/>
                    </a:bgClr>
                  </a:patt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endParaRPr lang="en-US" altLang="zh-CN" sz="2000" kern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95" name="直接箭头连接符 94">
                    <a:extLst>
                      <a:ext uri="{FF2B5EF4-FFF2-40B4-BE49-F238E27FC236}">
                        <a16:creationId xmlns:a16="http://schemas.microsoft.com/office/drawing/2014/main" id="{DA0B9ADD-A376-426B-B3F0-47337B7B72DC}"/>
                      </a:ext>
                    </a:extLst>
                  </p:cNvPr>
                  <p:cNvCxnSpPr/>
                  <p:nvPr/>
                </p:nvCxnSpPr>
                <p:spPr>
                  <a:xfrm>
                    <a:off x="2911404" y="4087098"/>
                    <a:ext cx="1497994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88" name="矩形 87">
                  <a:extLst>
                    <a:ext uri="{FF2B5EF4-FFF2-40B4-BE49-F238E27FC236}">
                      <a16:creationId xmlns:a16="http://schemas.microsoft.com/office/drawing/2014/main" id="{B5D892B2-8216-2784-9573-87A761F21BE8}"/>
                    </a:ext>
                  </a:extLst>
                </p:cNvPr>
                <p:cNvSpPr/>
                <p:nvPr/>
              </p:nvSpPr>
              <p:spPr>
                <a:xfrm>
                  <a:off x="1304883" y="931129"/>
                  <a:ext cx="1456692" cy="5484953"/>
                </a:xfrm>
                <a:prstGeom prst="rect">
                  <a:avLst/>
                </a:prstGeom>
                <a:noFill/>
                <a:ln w="19050" cap="flat" cmpd="sng" algn="ctr">
                  <a:solidFill>
                    <a:srgbClr val="008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2" name="矩形 224">
                <a:extLst>
                  <a:ext uri="{FF2B5EF4-FFF2-40B4-BE49-F238E27FC236}">
                    <a16:creationId xmlns:a16="http://schemas.microsoft.com/office/drawing/2014/main" id="{6B3A0342-4168-76C9-EF56-0C606EF077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3680" y="1071785"/>
                <a:ext cx="907527" cy="2286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>
                  <a:defRPr/>
                </a:pPr>
                <a:r>
                  <a:rPr lang="en-US" altLang="zh-CN" sz="1400" kern="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4M+4K</a:t>
                </a:r>
              </a:p>
            </p:txBody>
          </p:sp>
          <p:sp>
            <p:nvSpPr>
              <p:cNvPr id="83" name="矩形 227">
                <a:extLst>
                  <a:ext uri="{FF2B5EF4-FFF2-40B4-BE49-F238E27FC236}">
                    <a16:creationId xmlns:a16="http://schemas.microsoft.com/office/drawing/2014/main" id="{8C880805-5CBF-93B6-2443-C422C4B541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807" y="3025654"/>
                <a:ext cx="846349" cy="2333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>
                  <a:defRPr/>
                </a:pPr>
                <a:r>
                  <a:rPr lang="en-US" altLang="zh-CN" sz="1400" kern="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8M-1</a:t>
                </a:r>
              </a:p>
            </p:txBody>
          </p:sp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3A1D5CAF-32B4-8324-EE5A-5D230D54F7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339" y="3775670"/>
                <a:ext cx="608012" cy="2270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40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3G</a:t>
                </a:r>
              </a:p>
            </p:txBody>
          </p:sp>
          <p:sp>
            <p:nvSpPr>
              <p:cNvPr id="85" name="矩形 109">
                <a:extLst>
                  <a:ext uri="{FF2B5EF4-FFF2-40B4-BE49-F238E27FC236}">
                    <a16:creationId xmlns:a16="http://schemas.microsoft.com/office/drawing/2014/main" id="{FAE6B5B3-48C5-23C0-9126-D7309E5C3D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33782" y="6081313"/>
                <a:ext cx="1184830" cy="3489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40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3G+4M-1</a:t>
                </a:r>
              </a:p>
            </p:txBody>
          </p:sp>
        </p:grpSp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9E1FB41A-5093-B4BC-6FEF-8BB5DF15C9B4}"/>
              </a:ext>
            </a:extLst>
          </p:cNvPr>
          <p:cNvGrpSpPr/>
          <p:nvPr/>
        </p:nvGrpSpPr>
        <p:grpSpPr>
          <a:xfrm>
            <a:off x="3749753" y="874507"/>
            <a:ext cx="2492598" cy="5407858"/>
            <a:chOff x="9336360" y="685438"/>
            <a:chExt cx="2492598" cy="5407858"/>
          </a:xfrm>
        </p:grpSpPr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D6FD0E61-8AA2-6100-348C-A71C6D696AE9}"/>
                </a:ext>
              </a:extLst>
            </p:cNvPr>
            <p:cNvSpPr/>
            <p:nvPr/>
          </p:nvSpPr>
          <p:spPr>
            <a:xfrm>
              <a:off x="9336360" y="843434"/>
              <a:ext cx="1511300" cy="530225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保留区</a:t>
              </a:r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FF669A26-143D-AD49-1995-56A90807434C}"/>
                </a:ext>
              </a:extLst>
            </p:cNvPr>
            <p:cNvSpPr/>
            <p:nvPr/>
          </p:nvSpPr>
          <p:spPr>
            <a:xfrm>
              <a:off x="9336360" y="1396007"/>
              <a:ext cx="1511300" cy="331787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内核</a:t>
              </a: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01B9289D-B3FE-B817-43D9-237E58E0B3C3}"/>
                </a:ext>
              </a:extLst>
            </p:cNvPr>
            <p:cNvSpPr/>
            <p:nvPr/>
          </p:nvSpPr>
          <p:spPr>
            <a:xfrm>
              <a:off x="9336360" y="1754742"/>
              <a:ext cx="1511300" cy="331788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内核堆对象</a:t>
              </a:r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2C6A8820-4D1B-8A02-52FB-5E2EA80D757B}"/>
                </a:ext>
              </a:extLst>
            </p:cNvPr>
            <p:cNvSpPr/>
            <p:nvPr/>
          </p:nvSpPr>
          <p:spPr>
            <a:xfrm>
              <a:off x="9336360" y="2099142"/>
              <a:ext cx="1511300" cy="878026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页表区</a:t>
              </a:r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6B93BF43-1F1A-D273-5885-00DF378DDC36}"/>
                </a:ext>
              </a:extLst>
            </p:cNvPr>
            <p:cNvSpPr/>
            <p:nvPr/>
          </p:nvSpPr>
          <p:spPr>
            <a:xfrm>
              <a:off x="9341122" y="3104034"/>
              <a:ext cx="1508124" cy="2989262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用户区</a:t>
              </a:r>
            </a:p>
          </p:txBody>
        </p:sp>
        <p:sp>
          <p:nvSpPr>
            <p:cNvPr id="112" name="矩形 47">
              <a:extLst>
                <a:ext uri="{FF2B5EF4-FFF2-40B4-BE49-F238E27FC236}">
                  <a16:creationId xmlns:a16="http://schemas.microsoft.com/office/drawing/2014/main" id="{272B2F6F-68A9-0EA8-96CA-624DE5F65A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0965" y="685438"/>
              <a:ext cx="690562" cy="338361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113" name="矩形 49">
              <a:extLst>
                <a:ext uri="{FF2B5EF4-FFF2-40B4-BE49-F238E27FC236}">
                  <a16:creationId xmlns:a16="http://schemas.microsoft.com/office/drawing/2014/main" id="{884578A6-6C31-6DA8-3BA5-FDDAD9880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9892" y="1210650"/>
              <a:ext cx="690562" cy="4349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1M</a:t>
              </a:r>
            </a:p>
          </p:txBody>
        </p:sp>
        <p:sp>
          <p:nvSpPr>
            <p:cNvPr id="114" name="矩形 39">
              <a:extLst>
                <a:ext uri="{FF2B5EF4-FFF2-40B4-BE49-F238E27FC236}">
                  <a16:creationId xmlns:a16="http://schemas.microsoft.com/office/drawing/2014/main" id="{F2C9BA4B-9EEF-6DE1-275F-A463F2F35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1750" y="1595450"/>
              <a:ext cx="865187" cy="3206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1.5M</a:t>
              </a:r>
            </a:p>
          </p:txBody>
        </p:sp>
        <p:sp>
          <p:nvSpPr>
            <p:cNvPr id="115" name="矩形 41">
              <a:extLst>
                <a:ext uri="{FF2B5EF4-FFF2-40B4-BE49-F238E27FC236}">
                  <a16:creationId xmlns:a16="http://schemas.microsoft.com/office/drawing/2014/main" id="{76AB1974-BF2D-B6FA-F024-213BE4825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1750" y="1901782"/>
              <a:ext cx="865187" cy="4349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2M</a:t>
              </a:r>
            </a:p>
          </p:txBody>
        </p:sp>
        <p:sp>
          <p:nvSpPr>
            <p:cNvPr id="116" name="矩形 43">
              <a:extLst>
                <a:ext uri="{FF2B5EF4-FFF2-40B4-BE49-F238E27FC236}">
                  <a16:creationId xmlns:a16="http://schemas.microsoft.com/office/drawing/2014/main" id="{EC886D0A-D8D0-B573-3922-81CE21F5C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1448" y="2889181"/>
              <a:ext cx="1017510" cy="4349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4M</a:t>
              </a:r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86835D63-52C1-EBF5-F2B7-44F624F10700}"/>
                </a:ext>
              </a:extLst>
            </p:cNvPr>
            <p:cNvSpPr/>
            <p:nvPr/>
          </p:nvSpPr>
          <p:spPr>
            <a:xfrm>
              <a:off x="9336360" y="845021"/>
              <a:ext cx="1511300" cy="5248275"/>
            </a:xfrm>
            <a:prstGeom prst="rect">
              <a:avLst/>
            </a:prstGeom>
            <a:noFill/>
            <a:ln w="19050" cap="flat" cmpd="sng" algn="ctr">
              <a:solidFill>
                <a:srgbClr val="008000"/>
              </a:solidFill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1600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C72CF2B1-8776-B203-71DF-A8E7DAEA9CCD}"/>
              </a:ext>
            </a:extLst>
          </p:cNvPr>
          <p:cNvCxnSpPr>
            <a:cxnSpLocks/>
          </p:cNvCxnSpPr>
          <p:nvPr/>
        </p:nvCxnSpPr>
        <p:spPr>
          <a:xfrm flipH="1">
            <a:off x="3164052" y="2260076"/>
            <a:ext cx="574590" cy="2774065"/>
          </a:xfrm>
          <a:prstGeom prst="straightConnector1">
            <a:avLst/>
          </a:prstGeom>
          <a:noFill/>
          <a:ln w="12700" cap="flat" cmpd="sng" algn="ctr">
            <a:solidFill>
              <a:srgbClr val="008000"/>
            </a:solidFill>
            <a:prstDash val="solid"/>
            <a:headEnd type="triangle" w="med" len="lg"/>
            <a:tailEnd type="none" w="med" len="med"/>
          </a:ln>
          <a:effectLst/>
        </p:spPr>
      </p:cxn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F2E8D366-2F6A-6D64-B238-6EDFF2EB867F}"/>
              </a:ext>
            </a:extLst>
          </p:cNvPr>
          <p:cNvCxnSpPr>
            <a:cxnSpLocks/>
          </p:cNvCxnSpPr>
          <p:nvPr/>
        </p:nvCxnSpPr>
        <p:spPr>
          <a:xfrm flipH="1">
            <a:off x="3165675" y="3166237"/>
            <a:ext cx="595188" cy="2755766"/>
          </a:xfrm>
          <a:prstGeom prst="straightConnector1">
            <a:avLst/>
          </a:prstGeom>
          <a:noFill/>
          <a:ln w="12700" cap="flat" cmpd="sng" algn="ctr">
            <a:solidFill>
              <a:srgbClr val="008000"/>
            </a:solidFill>
            <a:prstDash val="solid"/>
            <a:headEnd type="triangle" w="med" len="lg"/>
            <a:tailEnd type="none" w="med" len="med"/>
          </a:ln>
          <a:effectLst/>
        </p:spPr>
      </p:cxn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EF9D07D0-BDD4-9F9D-22C8-A820F6066429}"/>
              </a:ext>
            </a:extLst>
          </p:cNvPr>
          <p:cNvGrpSpPr/>
          <p:nvPr/>
        </p:nvGrpSpPr>
        <p:grpSpPr>
          <a:xfrm>
            <a:off x="5254358" y="829756"/>
            <a:ext cx="6646413" cy="2714903"/>
            <a:chOff x="5250880" y="498073"/>
            <a:chExt cx="6646413" cy="2714903"/>
          </a:xfrm>
        </p:grpSpPr>
        <p:grpSp>
          <p:nvGrpSpPr>
            <p:cNvPr id="121" name="组合 120">
              <a:extLst>
                <a:ext uri="{FF2B5EF4-FFF2-40B4-BE49-F238E27FC236}">
                  <a16:creationId xmlns:a16="http://schemas.microsoft.com/office/drawing/2014/main" id="{C098BCC5-C938-C6B1-F8EF-01203F99DF44}"/>
                </a:ext>
              </a:extLst>
            </p:cNvPr>
            <p:cNvGrpSpPr/>
            <p:nvPr/>
          </p:nvGrpSpPr>
          <p:grpSpPr>
            <a:xfrm>
              <a:off x="5250880" y="498073"/>
              <a:ext cx="6646413" cy="2714903"/>
              <a:chOff x="3076196" y="1187160"/>
              <a:chExt cx="6646413" cy="2714903"/>
            </a:xfrm>
          </p:grpSpPr>
          <p:sp>
            <p:nvSpPr>
              <p:cNvPr id="123" name="矩形 72">
                <a:extLst>
                  <a:ext uri="{FF2B5EF4-FFF2-40B4-BE49-F238E27FC236}">
                    <a16:creationId xmlns:a16="http://schemas.microsoft.com/office/drawing/2014/main" id="{33473841-1A16-4A55-7157-EA32C5F36B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8251" y="1708138"/>
                <a:ext cx="1979613" cy="358775"/>
              </a:xfrm>
              <a:prstGeom prst="rect">
                <a:avLst/>
              </a:prstGeom>
              <a:gradFill rotWithShape="1">
                <a:gsLst>
                  <a:gs pos="0">
                    <a:srgbClr val="8B4F00"/>
                  </a:gs>
                  <a:gs pos="50000">
                    <a:srgbClr val="C97500"/>
                  </a:gs>
                  <a:gs pos="100000">
                    <a:srgbClr val="EF8C00"/>
                  </a:gs>
                </a:gsLst>
                <a:lin ang="189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r" latinLnBrk="1">
                  <a:defRPr/>
                </a:pPr>
                <a:r>
                  <a:rPr kumimoji="1" lang="en-US" altLang="zh-CN" sz="1600" b="1" kern="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Page Table 768#</a:t>
                </a:r>
                <a:endParaRPr kumimoji="1" lang="zh-CN" altLang="en-US" sz="1600" b="1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24" name="直接箭头连接符 123">
                <a:extLst>
                  <a:ext uri="{FF2B5EF4-FFF2-40B4-BE49-F238E27FC236}">
                    <a16:creationId xmlns:a16="http://schemas.microsoft.com/office/drawing/2014/main" id="{41797D16-4DD2-20B4-3E65-B8012CB98B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76196" y="1293801"/>
                <a:ext cx="873647" cy="137753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008000"/>
                </a:solidFill>
                <a:prstDash val="dash"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5" name="矩形 81">
                <a:extLst>
                  <a:ext uri="{FF2B5EF4-FFF2-40B4-BE49-F238E27FC236}">
                    <a16:creationId xmlns:a16="http://schemas.microsoft.com/office/drawing/2014/main" id="{E5C90B2F-157F-833D-9133-73D65CE60C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31039" y="1657338"/>
                <a:ext cx="1344612" cy="434975"/>
              </a:xfrm>
              <a:prstGeom prst="rect">
                <a:avLst/>
              </a:prstGeom>
              <a:noFill/>
              <a:ln w="9525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>
                  <a:defRPr/>
                </a:pPr>
                <a:r>
                  <a:rPr lang="en-US" altLang="zh-CN" sz="1400" b="1" kern="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0x201</a:t>
                </a:r>
                <a:r>
                  <a:rPr lang="zh-CN" altLang="en-US" sz="1400" b="1" kern="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号页框</a:t>
                </a:r>
                <a:endParaRPr lang="en-US" altLang="zh-CN" sz="1400" b="1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26" name="矩形 86">
                <a:extLst>
                  <a:ext uri="{FF2B5EF4-FFF2-40B4-BE49-F238E27FC236}">
                    <a16:creationId xmlns:a16="http://schemas.microsoft.com/office/drawing/2014/main" id="{E0D861C7-4B38-022F-93E9-E21621C723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8251" y="2082788"/>
                <a:ext cx="1979613" cy="361950"/>
              </a:xfrm>
              <a:prstGeom prst="rect">
                <a:avLst/>
              </a:prstGeom>
              <a:gradFill rotWithShape="1">
                <a:gsLst>
                  <a:gs pos="0">
                    <a:srgbClr val="8B4F00"/>
                  </a:gs>
                  <a:gs pos="50000">
                    <a:srgbClr val="C97500"/>
                  </a:gs>
                  <a:gs pos="100000">
                    <a:srgbClr val="EF8C00"/>
                  </a:gs>
                </a:gsLst>
                <a:lin ang="189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r" latinLnBrk="1">
                  <a:defRPr/>
                </a:pPr>
                <a:r>
                  <a:rPr kumimoji="1" lang="en-US" altLang="zh-CN" sz="1600" b="1" kern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Page Table 0#</a:t>
                </a:r>
                <a:endParaRPr kumimoji="1" lang="zh-CN" altLang="en-US" sz="1600" b="1" ker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7" name="矩形 87">
                <a:extLst>
                  <a:ext uri="{FF2B5EF4-FFF2-40B4-BE49-F238E27FC236}">
                    <a16:creationId xmlns:a16="http://schemas.microsoft.com/office/drawing/2014/main" id="{28FB3DCB-AA17-6C3F-E127-537F1F0BE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26275" y="2039926"/>
                <a:ext cx="1349375" cy="434975"/>
              </a:xfrm>
              <a:prstGeom prst="rect">
                <a:avLst/>
              </a:prstGeom>
              <a:noFill/>
              <a:ln w="9525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>
                  <a:defRPr/>
                </a:pPr>
                <a:r>
                  <a:rPr lang="en-US" altLang="zh-CN" sz="1400" b="1" kern="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0x202</a:t>
                </a:r>
                <a:r>
                  <a:rPr lang="zh-CN" altLang="en-US" sz="1400" b="1" kern="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号页框</a:t>
                </a:r>
                <a:endParaRPr lang="en-US" altLang="zh-CN" sz="1400" b="1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28" name="矩形 88">
                <a:extLst>
                  <a:ext uri="{FF2B5EF4-FFF2-40B4-BE49-F238E27FC236}">
                    <a16:creationId xmlns:a16="http://schemas.microsoft.com/office/drawing/2014/main" id="{B70EAA13-D1DF-D978-36B0-A366F965A8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8251" y="2462201"/>
                <a:ext cx="1979613" cy="342900"/>
              </a:xfrm>
              <a:prstGeom prst="rect">
                <a:avLst/>
              </a:prstGeom>
              <a:gradFill rotWithShape="1">
                <a:gsLst>
                  <a:gs pos="0">
                    <a:srgbClr val="8B4F00"/>
                  </a:gs>
                  <a:gs pos="50000">
                    <a:srgbClr val="C97500"/>
                  </a:gs>
                  <a:gs pos="100000">
                    <a:srgbClr val="EF8C00"/>
                  </a:gs>
                </a:gsLst>
                <a:lin ang="189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r" latinLnBrk="1">
                  <a:defRPr/>
                </a:pPr>
                <a:r>
                  <a:rPr kumimoji="1" lang="en-US" altLang="zh-CN" sz="1600" b="1" kern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Page Table 1#</a:t>
                </a:r>
                <a:endParaRPr kumimoji="1" lang="zh-CN" altLang="en-US" sz="1600" b="1" ker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9" name="矩形 93">
                <a:extLst>
                  <a:ext uri="{FF2B5EF4-FFF2-40B4-BE49-F238E27FC236}">
                    <a16:creationId xmlns:a16="http://schemas.microsoft.com/office/drawing/2014/main" id="{3819F2EB-FCA5-403E-AD8A-DF986DFA5F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26276" y="2400288"/>
                <a:ext cx="1349374" cy="433388"/>
              </a:xfrm>
              <a:prstGeom prst="rect">
                <a:avLst/>
              </a:prstGeom>
              <a:noFill/>
              <a:ln w="9525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>
                  <a:defRPr/>
                </a:pPr>
                <a:r>
                  <a:rPr lang="en-US" altLang="zh-CN" sz="1400" b="1" kern="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0x203</a:t>
                </a:r>
                <a:r>
                  <a:rPr lang="zh-CN" altLang="en-US" sz="1400" b="1" kern="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号页框</a:t>
                </a:r>
                <a:endParaRPr lang="en-US" altLang="zh-CN" sz="1400" b="1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endParaRPr>
              </a:p>
            </p:txBody>
          </p:sp>
          <p:cxnSp>
            <p:nvCxnSpPr>
              <p:cNvPr id="130" name="直接箭头连接符 129">
                <a:extLst>
                  <a:ext uri="{FF2B5EF4-FFF2-40B4-BE49-F238E27FC236}">
                    <a16:creationId xmlns:a16="http://schemas.microsoft.com/office/drawing/2014/main" id="{37E220D8-1234-5532-5C37-F4C787BE01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082891" y="3512908"/>
                <a:ext cx="865365" cy="37963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008000"/>
                </a:solidFill>
                <a:prstDash val="dash"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31" name="矩形 109">
                <a:extLst>
                  <a:ext uri="{FF2B5EF4-FFF2-40B4-BE49-F238E27FC236}">
                    <a16:creationId xmlns:a16="http://schemas.microsoft.com/office/drawing/2014/main" id="{39BFCDC8-0272-57A3-383D-488FE26F7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8251" y="2840026"/>
                <a:ext cx="1979613" cy="342900"/>
              </a:xfrm>
              <a:prstGeom prst="rect">
                <a:avLst/>
              </a:prstGeom>
              <a:gradFill rotWithShape="1">
                <a:gsLst>
                  <a:gs pos="0">
                    <a:srgbClr val="8B4F00"/>
                  </a:gs>
                  <a:gs pos="50000">
                    <a:srgbClr val="C97500"/>
                  </a:gs>
                  <a:gs pos="100000">
                    <a:srgbClr val="EF8C00"/>
                  </a:gs>
                </a:gsLst>
                <a:lin ang="189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r" latinLnBrk="1">
                  <a:defRPr/>
                </a:pPr>
                <a:r>
                  <a:rPr kumimoji="1" lang="en-US" altLang="zh-CN" sz="1600" b="1" kern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</a:t>
                </a:r>
                <a:endParaRPr kumimoji="1" lang="zh-CN" altLang="en-US" sz="1600" b="1" ker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" name="矩形 112">
                <a:extLst>
                  <a:ext uri="{FF2B5EF4-FFF2-40B4-BE49-F238E27FC236}">
                    <a16:creationId xmlns:a16="http://schemas.microsoft.com/office/drawing/2014/main" id="{DA49EBCF-B1D7-9FD0-7757-3CF4EEA11C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8251" y="3198801"/>
                <a:ext cx="1979613" cy="342900"/>
              </a:xfrm>
              <a:prstGeom prst="rect">
                <a:avLst/>
              </a:prstGeom>
              <a:gradFill rotWithShape="1">
                <a:gsLst>
                  <a:gs pos="0">
                    <a:srgbClr val="8B4F00"/>
                  </a:gs>
                  <a:gs pos="50000">
                    <a:srgbClr val="C97500"/>
                  </a:gs>
                  <a:gs pos="100000">
                    <a:srgbClr val="EF8C00"/>
                  </a:gs>
                </a:gsLst>
                <a:lin ang="189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r" latinLnBrk="1">
                  <a:defRPr/>
                </a:pPr>
                <a:r>
                  <a:rPr kumimoji="1" lang="en-US" altLang="zh-CN" sz="1600" b="1" kern="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</a:t>
                </a:r>
                <a:endParaRPr kumimoji="1" lang="zh-CN" altLang="en-US" sz="1600" b="1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3" name="矩形 114">
                <a:extLst>
                  <a:ext uri="{FF2B5EF4-FFF2-40B4-BE49-F238E27FC236}">
                    <a16:creationId xmlns:a16="http://schemas.microsoft.com/office/drawing/2014/main" id="{81DA9B2B-2BC9-1520-0A95-3760591218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8251" y="3559163"/>
                <a:ext cx="1979613" cy="342900"/>
              </a:xfrm>
              <a:prstGeom prst="rect">
                <a:avLst/>
              </a:prstGeom>
              <a:gradFill rotWithShape="1">
                <a:gsLst>
                  <a:gs pos="0">
                    <a:srgbClr val="8B4F00"/>
                  </a:gs>
                  <a:gs pos="50000">
                    <a:srgbClr val="C97500"/>
                  </a:gs>
                  <a:gs pos="100000">
                    <a:srgbClr val="EF8C00"/>
                  </a:gs>
                </a:gsLst>
                <a:lin ang="189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r" latinLnBrk="1">
                  <a:defRPr/>
                </a:pPr>
                <a:endParaRPr kumimoji="1" lang="zh-CN" altLang="en-US" sz="1600" b="1" ker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4" name="矩形 133">
                <a:extLst>
                  <a:ext uri="{FF2B5EF4-FFF2-40B4-BE49-F238E27FC236}">
                    <a16:creationId xmlns:a16="http://schemas.microsoft.com/office/drawing/2014/main" id="{8967EE16-4C2F-1749-4EAA-72F6CABFD46E}"/>
                  </a:ext>
                </a:extLst>
              </p:cNvPr>
              <p:cNvSpPr/>
              <p:nvPr/>
            </p:nvSpPr>
            <p:spPr>
              <a:xfrm>
                <a:off x="3476764" y="1187160"/>
                <a:ext cx="3798887" cy="1652866"/>
              </a:xfrm>
              <a:prstGeom prst="rect">
                <a:avLst/>
              </a:prstGeom>
              <a:noFill/>
              <a:ln w="19050" cap="flat" cmpd="sng" algn="ctr">
                <a:solidFill>
                  <a:srgbClr val="DF890B"/>
                </a:solidFill>
                <a:prstDash val="dash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5" name="矩形 3">
                <a:extLst>
                  <a:ext uri="{FF2B5EF4-FFF2-40B4-BE49-F238E27FC236}">
                    <a16:creationId xmlns:a16="http://schemas.microsoft.com/office/drawing/2014/main" id="{9B73475D-A3EA-6D1B-86DB-94A869C5C9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4521" y="1769578"/>
                <a:ext cx="2238088" cy="712788"/>
              </a:xfrm>
              <a:prstGeom prst="rect">
                <a:avLst/>
              </a:prstGeom>
              <a:solidFill>
                <a:srgbClr val="0070C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r>
                  <a:rPr lang="zh-CN" altLang="en-US" sz="2000" b="1" kern="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现运行进程的内核页表与用户页表</a:t>
                </a:r>
              </a:p>
            </p:txBody>
          </p:sp>
        </p:grpSp>
        <p:sp>
          <p:nvSpPr>
            <p:cNvPr id="122" name="矩形 75">
              <a:extLst>
                <a:ext uri="{FF2B5EF4-FFF2-40B4-BE49-F238E27FC236}">
                  <a16:creationId xmlns:a16="http://schemas.microsoft.com/office/drawing/2014/main" id="{B11B92C8-EF65-DFDB-DFC6-20CF517FD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0631" y="624291"/>
              <a:ext cx="1347787" cy="433387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b="1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0x200</a:t>
              </a:r>
              <a:r>
                <a:rPr lang="zh-CN" altLang="en-US" sz="1400" b="1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号页框</a:t>
              </a:r>
              <a:endParaRPr lang="en-US" altLang="zh-CN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  <p:sp>
        <p:nvSpPr>
          <p:cNvPr id="136" name="矩形 77">
            <a:extLst>
              <a:ext uri="{FF2B5EF4-FFF2-40B4-BE49-F238E27FC236}">
                <a16:creationId xmlns:a16="http://schemas.microsoft.com/office/drawing/2014/main" id="{513E8B7B-3D00-227B-C5BF-8464D0A25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2661" y="924866"/>
            <a:ext cx="1979613" cy="403225"/>
          </a:xfrm>
          <a:prstGeom prst="rect">
            <a:avLst/>
          </a:prstGeom>
          <a:solidFill>
            <a:srgbClr val="8F45C7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r" latinLnBrk="1">
              <a:defRPr/>
            </a:pPr>
            <a:r>
              <a:rPr kumimoji="1" lang="en-US" altLang="zh-CN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Directory</a:t>
            </a:r>
            <a:endParaRPr kumimoji="1"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73E588C6-6D85-7F59-E04F-B1238FE66A25}"/>
              </a:ext>
            </a:extLst>
          </p:cNvPr>
          <p:cNvGrpSpPr/>
          <p:nvPr/>
        </p:nvGrpSpPr>
        <p:grpSpPr>
          <a:xfrm>
            <a:off x="4805995" y="4019480"/>
            <a:ext cx="2858565" cy="2083270"/>
            <a:chOff x="5942501" y="3958759"/>
            <a:chExt cx="2858565" cy="2083270"/>
          </a:xfrm>
        </p:grpSpPr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4538B229-F04E-8B7B-C5C7-6552C9BF56C5}"/>
                </a:ext>
              </a:extLst>
            </p:cNvPr>
            <p:cNvGrpSpPr/>
            <p:nvPr/>
          </p:nvGrpSpPr>
          <p:grpSpPr>
            <a:xfrm>
              <a:off x="6853202" y="3958759"/>
              <a:ext cx="1947864" cy="2083270"/>
              <a:chOff x="12879995" y="3729715"/>
              <a:chExt cx="1947864" cy="2083270"/>
            </a:xfrm>
          </p:grpSpPr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38E442C9-205F-1616-8D9C-F00217929A50}"/>
                  </a:ext>
                </a:extLst>
              </p:cNvPr>
              <p:cNvSpPr/>
              <p:nvPr/>
            </p:nvSpPr>
            <p:spPr bwMode="auto">
              <a:xfrm>
                <a:off x="12881584" y="3795081"/>
                <a:ext cx="1512888" cy="2017904"/>
              </a:xfrm>
              <a:prstGeom prst="rect">
                <a:avLst/>
              </a:prstGeom>
              <a:gradFill rotWithShape="1">
                <a:gsLst>
                  <a:gs pos="0">
                    <a:srgbClr val="63891F">
                      <a:tint val="50000"/>
                      <a:satMod val="300000"/>
                    </a:srgbClr>
                  </a:gs>
                  <a:gs pos="35000">
                    <a:srgbClr val="63891F">
                      <a:tint val="37000"/>
                      <a:satMod val="300000"/>
                    </a:srgbClr>
                  </a:gs>
                  <a:gs pos="100000">
                    <a:srgbClr val="63891F">
                      <a:tint val="15000"/>
                      <a:satMod val="350000"/>
                    </a:srgbClr>
                  </a:gs>
                </a:gsLst>
                <a:lin ang="16200000" scaled="1"/>
              </a:gradFill>
              <a:ln w="9525" cap="flat" cmpd="sng" algn="ctr">
                <a:solidFill>
                  <a:srgbClr val="63891F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r>
                  <a:rPr lang="zh-CN" altLang="en-US" sz="16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用户区</a:t>
                </a:r>
              </a:p>
            </p:txBody>
          </p:sp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3BE47FE9-95D7-27C1-5136-92875237547D}"/>
                  </a:ext>
                </a:extLst>
              </p:cNvPr>
              <p:cNvSpPr/>
              <p:nvPr/>
            </p:nvSpPr>
            <p:spPr bwMode="auto">
              <a:xfrm>
                <a:off x="12881584" y="3795081"/>
                <a:ext cx="1508125" cy="582628"/>
              </a:xfrm>
              <a:prstGeom prst="rect">
                <a:avLst/>
              </a:prstGeom>
              <a:solidFill>
                <a:srgbClr val="00B050"/>
              </a:solidFill>
              <a:effectLst/>
            </p:spPr>
            <p:txBody>
              <a:bodyPr anchor="ctr" anchorCtr="1"/>
              <a:lstStyle/>
              <a:p>
                <a:pPr algn="ctr">
                  <a:defRPr/>
                </a:pPr>
                <a:r>
                  <a:rPr lang="zh-CN" altLang="en-US" sz="1600" kern="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代码段</a:t>
                </a:r>
                <a:endParaRPr lang="en-US" altLang="zh-CN" sz="16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endParaRPr>
              </a:p>
            </p:txBody>
          </p:sp>
          <p:grpSp>
            <p:nvGrpSpPr>
              <p:cNvPr id="143" name="组合 95">
                <a:extLst>
                  <a:ext uri="{FF2B5EF4-FFF2-40B4-BE49-F238E27FC236}">
                    <a16:creationId xmlns:a16="http://schemas.microsoft.com/office/drawing/2014/main" id="{7FBDEEC6-061C-A97F-214D-353439F11A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879995" y="4490779"/>
                <a:ext cx="1514477" cy="1212785"/>
                <a:chOff x="5858929" y="2005363"/>
                <a:chExt cx="1450559" cy="1212833"/>
              </a:xfrm>
            </p:grpSpPr>
            <p:sp>
              <p:nvSpPr>
                <p:cNvPr id="146" name="矩形 145">
                  <a:extLst>
                    <a:ext uri="{FF2B5EF4-FFF2-40B4-BE49-F238E27FC236}">
                      <a16:creationId xmlns:a16="http://schemas.microsoft.com/office/drawing/2014/main" id="{E8B06F81-7B67-1006-DB96-2B59D1849597}"/>
                    </a:ext>
                  </a:extLst>
                </p:cNvPr>
                <p:cNvSpPr/>
                <p:nvPr/>
              </p:nvSpPr>
              <p:spPr>
                <a:xfrm>
                  <a:off x="5860451" y="2005363"/>
                  <a:ext cx="1444475" cy="1212833"/>
                </a:xfrm>
                <a:prstGeom prst="rect">
                  <a:avLst/>
                </a:prstGeom>
                <a:solidFill>
                  <a:srgbClr val="00B050"/>
                </a:solidFill>
                <a:effectLst/>
              </p:spPr>
              <p:txBody>
                <a:bodyPr anchor="ctr" anchorCtr="1"/>
                <a:lstStyle/>
                <a:p>
                  <a:pPr algn="ctr">
                    <a:defRPr/>
                  </a:pPr>
                  <a:endParaRPr lang="en-US" altLang="zh-CN" sz="1600" kern="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47" name="矩形 97">
                  <a:extLst>
                    <a:ext uri="{FF2B5EF4-FFF2-40B4-BE49-F238E27FC236}">
                      <a16:creationId xmlns:a16="http://schemas.microsoft.com/office/drawing/2014/main" id="{AB328DCC-D2CB-8592-561C-426A12B66B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28929" y="2044326"/>
                  <a:ext cx="1185607" cy="216836"/>
                </a:xfrm>
                <a:prstGeom prst="rect">
                  <a:avLst/>
                </a:prstGeom>
                <a:solidFill>
                  <a:srgbClr val="00B05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anchor="ctr" anchorCtr="1"/>
                <a:lstStyle/>
                <a:p>
                  <a:pPr algn="ctr">
                    <a:defRPr/>
                  </a:pPr>
                  <a:r>
                    <a: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rPr>
                    <a:t>PPDA</a:t>
                  </a:r>
                </a:p>
              </p:txBody>
            </p:sp>
            <p:cxnSp>
              <p:nvCxnSpPr>
                <p:cNvPr id="148" name="直接箭头连接符 147">
                  <a:extLst>
                    <a:ext uri="{FF2B5EF4-FFF2-40B4-BE49-F238E27FC236}">
                      <a16:creationId xmlns:a16="http://schemas.microsoft.com/office/drawing/2014/main" id="{360BD225-999D-0E5B-2C60-054E7FA43CA0}"/>
                    </a:ext>
                  </a:extLst>
                </p:cNvPr>
                <p:cNvCxnSpPr/>
                <p:nvPr/>
              </p:nvCxnSpPr>
              <p:spPr>
                <a:xfrm>
                  <a:off x="5858929" y="2319692"/>
                  <a:ext cx="1445997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ysClr val="window" lastClr="FFFFFF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49" name="矩形 99">
                  <a:extLst>
                    <a:ext uri="{FF2B5EF4-FFF2-40B4-BE49-F238E27FC236}">
                      <a16:creationId xmlns:a16="http://schemas.microsoft.com/office/drawing/2014/main" id="{9F3FF28F-25F9-33F7-5B9B-7FE62F0676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07252" y="2468209"/>
                  <a:ext cx="1045783" cy="273007"/>
                </a:xfrm>
                <a:prstGeom prst="rect">
                  <a:avLst/>
                </a:prstGeom>
                <a:solidFill>
                  <a:srgbClr val="00B05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anchor="ctr" anchorCtr="1"/>
                <a:lstStyle/>
                <a:p>
                  <a:pPr algn="ctr">
                    <a:defRPr/>
                  </a:pPr>
                  <a:r>
                    <a:rPr lang="zh-CN" altLang="en-US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rPr>
                    <a:t>数据段</a:t>
                  </a:r>
                  <a:endParaRPr lang="en-US" altLang="zh-CN" sz="1600" kern="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endParaRPr>
                </a:p>
              </p:txBody>
            </p:sp>
            <p:cxnSp>
              <p:nvCxnSpPr>
                <p:cNvPr id="150" name="直接箭头连接符 149">
                  <a:extLst>
                    <a:ext uri="{FF2B5EF4-FFF2-40B4-BE49-F238E27FC236}">
                      <a16:creationId xmlns:a16="http://schemas.microsoft.com/office/drawing/2014/main" id="{E6A9E705-CF90-8241-A258-F945C6C5E7C0}"/>
                    </a:ext>
                  </a:extLst>
                </p:cNvPr>
                <p:cNvCxnSpPr/>
                <p:nvPr/>
              </p:nvCxnSpPr>
              <p:spPr>
                <a:xfrm>
                  <a:off x="5868055" y="2920759"/>
                  <a:ext cx="1441433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ysClr val="window" lastClr="FFFFFF"/>
                  </a:solidFill>
                  <a:prstDash val="solid"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51" name="矩形 101">
                  <a:extLst>
                    <a:ext uri="{FF2B5EF4-FFF2-40B4-BE49-F238E27FC236}">
                      <a16:creationId xmlns:a16="http://schemas.microsoft.com/office/drawing/2014/main" id="{7DE55604-2703-E280-4C31-20D60B5BC0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07251" y="2975018"/>
                  <a:ext cx="1045783" cy="200470"/>
                </a:xfrm>
                <a:prstGeom prst="rect">
                  <a:avLst/>
                </a:prstGeom>
                <a:solidFill>
                  <a:srgbClr val="00B05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anchor="ctr" anchorCtr="1"/>
                <a:lstStyle/>
                <a:p>
                  <a:pPr algn="ctr">
                    <a:defRPr/>
                  </a:pPr>
                  <a:r>
                    <a:rPr lang="zh-CN" altLang="en-US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rPr>
                    <a:t>堆栈段</a:t>
                  </a:r>
                  <a:endParaRPr lang="en-US" altLang="zh-CN" sz="1600" kern="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44" name="Text Box 131">
                <a:extLst>
                  <a:ext uri="{FF2B5EF4-FFF2-40B4-BE49-F238E27FC236}">
                    <a16:creationId xmlns:a16="http://schemas.microsoft.com/office/drawing/2014/main" id="{67498F40-717A-5FA0-8985-340253BAA7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351292" y="3729715"/>
                <a:ext cx="468312" cy="272365"/>
              </a:xfrm>
              <a:prstGeom prst="rect">
                <a:avLst/>
              </a:prstGeom>
              <a:gradFill rotWithShape="1">
                <a:gsLst>
                  <a:gs pos="0">
                    <a:srgbClr val="ACBBF6"/>
                  </a:gs>
                  <a:gs pos="35001">
                    <a:srgbClr val="C5CFF8"/>
                  </a:gs>
                  <a:gs pos="100000">
                    <a:srgbClr val="E8ECFD"/>
                  </a:gs>
                </a:gsLst>
                <a:lin ang="16200000" scaled="1"/>
              </a:gradFill>
              <a:ln w="9525" algn="ctr">
                <a:solidFill>
                  <a:srgbClr val="5C72B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6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145" name="Text Box 132">
                <a:extLst>
                  <a:ext uri="{FF2B5EF4-FFF2-40B4-BE49-F238E27FC236}">
                    <a16:creationId xmlns:a16="http://schemas.microsoft.com/office/drawing/2014/main" id="{841B148D-B1C5-8849-F996-B52816E4AD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359547" y="4675133"/>
                <a:ext cx="468312" cy="278474"/>
              </a:xfrm>
              <a:prstGeom prst="rect">
                <a:avLst/>
              </a:prstGeom>
              <a:gradFill rotWithShape="1">
                <a:gsLst>
                  <a:gs pos="0">
                    <a:srgbClr val="ACBBF6"/>
                  </a:gs>
                  <a:gs pos="35001">
                    <a:srgbClr val="C5CFF8"/>
                  </a:gs>
                  <a:gs pos="100000">
                    <a:srgbClr val="E8ECFD"/>
                  </a:gs>
                </a:gsLst>
                <a:lin ang="16200000" scaled="1"/>
              </a:gradFill>
              <a:ln w="9525" algn="ctr">
                <a:solidFill>
                  <a:srgbClr val="5C72B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1600" kern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</p:grpSp>
        <p:sp>
          <p:nvSpPr>
            <p:cNvPr id="139" name="箭头: 右 138">
              <a:extLst>
                <a:ext uri="{FF2B5EF4-FFF2-40B4-BE49-F238E27FC236}">
                  <a16:creationId xmlns:a16="http://schemas.microsoft.com/office/drawing/2014/main" id="{EB48BDDB-9C79-E34A-94A7-CD692AF36B45}"/>
                </a:ext>
              </a:extLst>
            </p:cNvPr>
            <p:cNvSpPr/>
            <p:nvPr/>
          </p:nvSpPr>
          <p:spPr>
            <a:xfrm>
              <a:off x="6191148" y="4997061"/>
              <a:ext cx="426698" cy="243287"/>
            </a:xfrm>
            <a:prstGeom prst="rightArrow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/>
              <a:endParaRPr lang="zh-CN" altLang="en-US" sz="16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矩形 83">
              <a:extLst>
                <a:ext uri="{FF2B5EF4-FFF2-40B4-BE49-F238E27FC236}">
                  <a16:creationId xmlns:a16="http://schemas.microsoft.com/office/drawing/2014/main" id="{D3B571FE-775B-B55C-89FC-7506C33E2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2501" y="4694368"/>
              <a:ext cx="907527" cy="227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b="1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假设装入</a:t>
              </a:r>
              <a:endParaRPr lang="en-US" altLang="zh-CN" sz="1400" b="1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  <p:graphicFrame>
        <p:nvGraphicFramePr>
          <p:cNvPr id="152" name="表格 151">
            <a:extLst>
              <a:ext uri="{FF2B5EF4-FFF2-40B4-BE49-F238E27FC236}">
                <a16:creationId xmlns:a16="http://schemas.microsoft.com/office/drawing/2014/main" id="{BF64F6BF-D515-3374-0CD1-CCA4C4AC9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320331"/>
              </p:ext>
            </p:extLst>
          </p:nvPr>
        </p:nvGraphicFramePr>
        <p:xfrm>
          <a:off x="8109201" y="3353347"/>
          <a:ext cx="3789625" cy="2779129"/>
        </p:xfrm>
        <a:graphic>
          <a:graphicData uri="http://schemas.openxmlformats.org/drawingml/2006/table">
            <a:tbl>
              <a:tblPr firstRow="1" bandRow="1"/>
              <a:tblGrid>
                <a:gridCol w="613093">
                  <a:extLst>
                    <a:ext uri="{9D8B030D-6E8A-4147-A177-3AD203B41FA5}">
                      <a16:colId xmlns:a16="http://schemas.microsoft.com/office/drawing/2014/main" val="4051049113"/>
                    </a:ext>
                  </a:extLst>
                </a:gridCol>
                <a:gridCol w="1462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619">
                  <a:extLst>
                    <a:ext uri="{9D8B030D-6E8A-4147-A177-3AD203B41FA5}">
                      <a16:colId xmlns:a16="http://schemas.microsoft.com/office/drawing/2014/main" val="1868162133"/>
                    </a:ext>
                  </a:extLst>
                </a:gridCol>
                <a:gridCol w="473393">
                  <a:extLst>
                    <a:ext uri="{9D8B030D-6E8A-4147-A177-3AD203B41FA5}">
                      <a16:colId xmlns:a16="http://schemas.microsoft.com/office/drawing/2014/main" val="4043567449"/>
                    </a:ext>
                  </a:extLst>
                </a:gridCol>
                <a:gridCol w="495618">
                  <a:extLst>
                    <a:ext uri="{9D8B030D-6E8A-4147-A177-3AD203B41FA5}">
                      <a16:colId xmlns:a16="http://schemas.microsoft.com/office/drawing/2014/main" val="2545022663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1151903849"/>
                    </a:ext>
                  </a:extLst>
                </a:gridCol>
              </a:tblGrid>
              <a:tr h="310249">
                <a:tc>
                  <a:txBody>
                    <a:bodyPr/>
                    <a:lstStyle/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Page Base </a:t>
                      </a:r>
                      <a:r>
                        <a:rPr lang="en-US" altLang="zh-CN" sz="12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Addr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200" b="1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s/u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r/w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8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0#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xxx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891">
                <a:tc>
                  <a:txBody>
                    <a:bodyPr/>
                    <a:lstStyle/>
                    <a:p>
                      <a:endParaRPr lang="zh-CN" altLang="en-US" sz="1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8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1024#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xxx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8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1025#</a:t>
                      </a:r>
                      <a:endParaRPr lang="zh-CN" altLang="en-US" sz="1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8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1026#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250166"/>
                  </a:ext>
                </a:extLst>
              </a:tr>
              <a:tr h="2488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1027#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r>
                        <a:rPr lang="en-US" altLang="zh-CN" sz="1200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8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CD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C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C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C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C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217323"/>
                  </a:ext>
                </a:extLst>
              </a:tr>
              <a:tr h="2488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</a:t>
                      </a:r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2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2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2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306953"/>
                  </a:ext>
                </a:extLst>
              </a:tr>
              <a:tr h="2488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CD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C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C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C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C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454721"/>
                  </a:ext>
                </a:extLst>
              </a:tr>
            </a:tbl>
          </a:graphicData>
        </a:graphic>
      </p:graphicFrame>
      <p:sp>
        <p:nvSpPr>
          <p:cNvPr id="158" name="矩形 38">
            <a:extLst>
              <a:ext uri="{FF2B5EF4-FFF2-40B4-BE49-F238E27FC236}">
                <a16:creationId xmlns:a16="http://schemas.microsoft.com/office/drawing/2014/main" id="{64179314-9D75-B1C3-5937-A6CD0F3CC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9496" y="4883363"/>
            <a:ext cx="830238" cy="392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zh-CN" sz="1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grpSp>
        <p:nvGrpSpPr>
          <p:cNvPr id="160" name="组合 159">
            <a:extLst>
              <a:ext uri="{FF2B5EF4-FFF2-40B4-BE49-F238E27FC236}">
                <a16:creationId xmlns:a16="http://schemas.microsoft.com/office/drawing/2014/main" id="{27F73774-A7DC-F5F2-AEFF-E81AFC047F23}"/>
              </a:ext>
            </a:extLst>
          </p:cNvPr>
          <p:cNvGrpSpPr/>
          <p:nvPr/>
        </p:nvGrpSpPr>
        <p:grpSpPr>
          <a:xfrm>
            <a:off x="8091763" y="911495"/>
            <a:ext cx="3722470" cy="346399"/>
            <a:chOff x="-916679" y="925140"/>
            <a:chExt cx="3722470" cy="346399"/>
          </a:xfrm>
        </p:grpSpPr>
        <p:grpSp>
          <p:nvGrpSpPr>
            <p:cNvPr id="161" name="组合 160">
              <a:extLst>
                <a:ext uri="{FF2B5EF4-FFF2-40B4-BE49-F238E27FC236}">
                  <a16:creationId xmlns:a16="http://schemas.microsoft.com/office/drawing/2014/main" id="{78A508A5-F4C3-1EEE-18FE-214BCA5B490F}"/>
                </a:ext>
              </a:extLst>
            </p:cNvPr>
            <p:cNvGrpSpPr/>
            <p:nvPr/>
          </p:nvGrpSpPr>
          <p:grpSpPr>
            <a:xfrm>
              <a:off x="600861" y="925140"/>
              <a:ext cx="2204930" cy="346399"/>
              <a:chOff x="598695" y="1085428"/>
              <a:chExt cx="2212975" cy="347663"/>
            </a:xfrm>
          </p:grpSpPr>
          <p:sp>
            <p:nvSpPr>
              <p:cNvPr id="163" name="矩形 162">
                <a:extLst>
                  <a:ext uri="{FF2B5EF4-FFF2-40B4-BE49-F238E27FC236}">
                    <a16:creationId xmlns:a16="http://schemas.microsoft.com/office/drawing/2014/main" id="{402006A6-0514-F9FA-0592-301CAE66BDE9}"/>
                  </a:ext>
                </a:extLst>
              </p:cNvPr>
              <p:cNvSpPr/>
              <p:nvPr/>
            </p:nvSpPr>
            <p:spPr bwMode="auto">
              <a:xfrm>
                <a:off x="598695" y="1085428"/>
                <a:ext cx="1437997" cy="347663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952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0x200000</a:t>
                </a:r>
                <a:endPara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4" name="矩形 97">
                <a:extLst>
                  <a:ext uri="{FF2B5EF4-FFF2-40B4-BE49-F238E27FC236}">
                    <a16:creationId xmlns:a16="http://schemas.microsoft.com/office/drawing/2014/main" id="{9CC42FF4-38E2-7B6F-F35C-467A993A0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21195" y="1096667"/>
                <a:ext cx="690475" cy="324418"/>
              </a:xfrm>
              <a:prstGeom prst="rect">
                <a:avLst/>
              </a:prstGeom>
              <a:noFill/>
              <a:ln w="9525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CR3</a:t>
                </a:r>
              </a:p>
            </p:txBody>
          </p:sp>
        </p:grpSp>
        <p:cxnSp>
          <p:nvCxnSpPr>
            <p:cNvPr id="162" name="连接符: 肘形 110">
              <a:extLst>
                <a:ext uri="{FF2B5EF4-FFF2-40B4-BE49-F238E27FC236}">
                  <a16:creationId xmlns:a16="http://schemas.microsoft.com/office/drawing/2014/main" id="{C16032EE-3EF7-E95E-E15D-336739E05A44}"/>
                </a:ext>
              </a:extLst>
            </p:cNvPr>
            <p:cNvCxnSpPr>
              <a:cxnSpLocks/>
              <a:stCxn id="163" idx="1"/>
            </p:cNvCxnSpPr>
            <p:nvPr/>
          </p:nvCxnSpPr>
          <p:spPr>
            <a:xfrm flipH="1">
              <a:off x="-916679" y="1098340"/>
              <a:ext cx="1517540" cy="0"/>
            </a:xfrm>
            <a:prstGeom prst="straightConnector1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none" w="med" len="med"/>
              <a:tailEnd type="triangle" w="med" len="lg"/>
            </a:ln>
            <a:effectLst/>
          </p:spPr>
        </p:cxnSp>
      </p:grpSp>
      <p:sp>
        <p:nvSpPr>
          <p:cNvPr id="165" name="矩形 3">
            <a:extLst>
              <a:ext uri="{FF2B5EF4-FFF2-40B4-BE49-F238E27FC236}">
                <a16:creationId xmlns:a16="http://schemas.microsoft.com/office/drawing/2014/main" id="{3CCAA54D-EFC2-BD8D-25D2-1AF5575B7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9436" y="2531498"/>
            <a:ext cx="2240252" cy="469446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所有进程的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……</a:t>
            </a:r>
            <a:endParaRPr lang="zh-CN" altLang="en-US" sz="20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cxnSp>
        <p:nvCxnSpPr>
          <p:cNvPr id="166" name="直接箭头连接符 124">
            <a:extLst>
              <a:ext uri="{FF2B5EF4-FFF2-40B4-BE49-F238E27FC236}">
                <a16:creationId xmlns:a16="http://schemas.microsoft.com/office/drawing/2014/main" id="{528B7642-AA0B-2058-C6DD-F0B0BF8F7D5E}"/>
              </a:ext>
            </a:extLst>
          </p:cNvPr>
          <p:cNvCxnSpPr>
            <a:cxnSpLocks/>
          </p:cNvCxnSpPr>
          <p:nvPr/>
        </p:nvCxnSpPr>
        <p:spPr>
          <a:xfrm rot="16200000" flipV="1">
            <a:off x="9166372" y="1889540"/>
            <a:ext cx="213322" cy="1966686"/>
          </a:xfrm>
          <a:prstGeom prst="bentConnector2">
            <a:avLst/>
          </a:prstGeom>
          <a:noFill/>
          <a:ln w="19050" cap="flat" cmpd="sng" algn="ctr">
            <a:solidFill>
              <a:srgbClr val="0070C0"/>
            </a:solidFill>
            <a:prstDash val="dash"/>
            <a:headEnd type="none" w="med" len="med"/>
            <a:tailEnd type="none" w="med" len="med"/>
          </a:ln>
          <a:effectLst/>
        </p:spPr>
      </p:cxnSp>
      <p:sp>
        <p:nvSpPr>
          <p:cNvPr id="167" name="矩形 83">
            <a:extLst>
              <a:ext uri="{FF2B5EF4-FFF2-40B4-BE49-F238E27FC236}">
                <a16:creationId xmlns:a16="http://schemas.microsoft.com/office/drawing/2014/main" id="{8540DBE5-21F6-9BA2-A63A-57860C9FA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3233" y="2468743"/>
            <a:ext cx="1857325" cy="31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占用两个连续页框</a:t>
            </a:r>
            <a:endParaRPr lang="en-US" altLang="zh-CN" sz="1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68" name="Rectangle 4">
            <a:extLst>
              <a:ext uri="{FF2B5EF4-FFF2-40B4-BE49-F238E27FC236}">
                <a16:creationId xmlns:a16="http://schemas.microsoft.com/office/drawing/2014/main" id="{60CA974C-1E35-3437-1DCE-51D492D1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29" y="2715812"/>
            <a:ext cx="244012" cy="142637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wrap="square" tIns="0" bIns="0" anchor="ctr" anchorCtr="1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页表的构成</a:t>
            </a:r>
          </a:p>
        </p:txBody>
      </p:sp>
      <p:sp>
        <p:nvSpPr>
          <p:cNvPr id="169" name="矩形 24">
            <a:extLst>
              <a:ext uri="{FF2B5EF4-FFF2-40B4-BE49-F238E27FC236}">
                <a16:creationId xmlns:a16="http://schemas.microsoft.com/office/drawing/2014/main" id="{C8161825-359E-28CC-7F79-D21726F4B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4036" y="3046926"/>
            <a:ext cx="3433043" cy="3238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相对虚实地址映射表</a:t>
            </a:r>
            <a:endParaRPr lang="en-US" altLang="zh-CN" sz="1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281759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82E4A4-4B4D-41BF-9F68-1575C742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353A2E-92EE-4F23-A078-2A07C43737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C4DE104-5DA1-4B88-B642-58DE3423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页表系统</a:t>
            </a: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9FB98FB3-625B-1981-5909-CDC208977DD3}"/>
              </a:ext>
            </a:extLst>
          </p:cNvPr>
          <p:cNvGrpSpPr/>
          <p:nvPr/>
        </p:nvGrpSpPr>
        <p:grpSpPr>
          <a:xfrm>
            <a:off x="637672" y="797428"/>
            <a:ext cx="2537493" cy="5593557"/>
            <a:chOff x="119336" y="632221"/>
            <a:chExt cx="2537493" cy="5593557"/>
          </a:xfrm>
        </p:grpSpPr>
        <p:sp>
          <p:nvSpPr>
            <p:cNvPr id="77" name="矩形 83">
              <a:extLst>
                <a:ext uri="{FF2B5EF4-FFF2-40B4-BE49-F238E27FC236}">
                  <a16:creationId xmlns:a16="http://schemas.microsoft.com/office/drawing/2014/main" id="{01612BA3-A3EA-FE9E-1C27-2E7F0FDCB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438" y="3974628"/>
              <a:ext cx="907527" cy="227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3G+1M</a:t>
              </a:r>
            </a:p>
          </p:txBody>
        </p:sp>
        <p:sp>
          <p:nvSpPr>
            <p:cNvPr id="78" name="矩形 83">
              <a:extLst>
                <a:ext uri="{FF2B5EF4-FFF2-40B4-BE49-F238E27FC236}">
                  <a16:creationId xmlns:a16="http://schemas.microsoft.com/office/drawing/2014/main" id="{99F4B1C2-880D-BFF8-6666-083B512CFD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056" y="4356990"/>
              <a:ext cx="1020960" cy="2420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3G+1.5M</a:t>
              </a:r>
            </a:p>
          </p:txBody>
        </p:sp>
        <p:sp>
          <p:nvSpPr>
            <p:cNvPr id="79" name="矩形 83">
              <a:extLst>
                <a:ext uri="{FF2B5EF4-FFF2-40B4-BE49-F238E27FC236}">
                  <a16:creationId xmlns:a16="http://schemas.microsoft.com/office/drawing/2014/main" id="{B2607093-C08B-0129-255F-03AB69B8B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24" y="4755427"/>
              <a:ext cx="907527" cy="227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3G+2M</a:t>
              </a:r>
            </a:p>
          </p:txBody>
        </p:sp>
        <p:grpSp>
          <p:nvGrpSpPr>
            <p:cNvPr id="80" name="组合 154">
              <a:extLst>
                <a:ext uri="{FF2B5EF4-FFF2-40B4-BE49-F238E27FC236}">
                  <a16:creationId xmlns:a16="http://schemas.microsoft.com/office/drawing/2014/main" id="{FADA5135-579F-4E1C-706B-204914BD8FEF}"/>
                </a:ext>
              </a:extLst>
            </p:cNvPr>
            <p:cNvGrpSpPr/>
            <p:nvPr/>
          </p:nvGrpSpPr>
          <p:grpSpPr>
            <a:xfrm>
              <a:off x="119336" y="632221"/>
              <a:ext cx="2537493" cy="5593557"/>
              <a:chOff x="-233782" y="836712"/>
              <a:chExt cx="2537493" cy="5593557"/>
            </a:xfrm>
          </p:grpSpPr>
          <p:grpSp>
            <p:nvGrpSpPr>
              <p:cNvPr id="81" name="组合 7">
                <a:extLst>
                  <a:ext uri="{FF2B5EF4-FFF2-40B4-BE49-F238E27FC236}">
                    <a16:creationId xmlns:a16="http://schemas.microsoft.com/office/drawing/2014/main" id="{B4A70305-E536-C926-C774-5E08F629B0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1773" y="836712"/>
                <a:ext cx="1531938" cy="5484937"/>
                <a:chOff x="1244518" y="931129"/>
                <a:chExt cx="1532942" cy="5484953"/>
              </a:xfrm>
            </p:grpSpPr>
            <p:grpSp>
              <p:nvGrpSpPr>
                <p:cNvPr id="86" name="组合 6">
                  <a:extLst>
                    <a:ext uri="{FF2B5EF4-FFF2-40B4-BE49-F238E27FC236}">
                      <a16:creationId xmlns:a16="http://schemas.microsoft.com/office/drawing/2014/main" id="{44FAA9FF-55F6-497C-2BCD-270EEA8DA53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08059" y="3956058"/>
                  <a:ext cx="1469401" cy="2460024"/>
                  <a:chOff x="3535262" y="1401025"/>
                  <a:chExt cx="1469401" cy="2460024"/>
                </a:xfrm>
              </p:grpSpPr>
              <p:sp>
                <p:nvSpPr>
                  <p:cNvPr id="96" name="矩形 95">
                    <a:extLst>
                      <a:ext uri="{FF2B5EF4-FFF2-40B4-BE49-F238E27FC236}">
                        <a16:creationId xmlns:a16="http://schemas.microsoft.com/office/drawing/2014/main" id="{07B4C9F2-75A4-B540-9843-40EECCA2E906}"/>
                      </a:ext>
                    </a:extLst>
                  </p:cNvPr>
                  <p:cNvSpPr/>
                  <p:nvPr/>
                </p:nvSpPr>
                <p:spPr>
                  <a:xfrm>
                    <a:off x="3549125" y="1401025"/>
                    <a:ext cx="1437630" cy="2460024"/>
                  </a:xfrm>
                  <a:prstGeom prst="rect">
                    <a:avLst/>
                  </a:prstGeom>
                  <a:solidFill>
                    <a:srgbClr val="00B050"/>
                  </a:solidFill>
                  <a:effectLst/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endParaRPr lang="en-US" altLang="zh-CN" sz="20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97" name="直接箭头连接符 96">
                    <a:extLst>
                      <a:ext uri="{FF2B5EF4-FFF2-40B4-BE49-F238E27FC236}">
                        <a16:creationId xmlns:a16="http://schemas.microsoft.com/office/drawing/2014/main" id="{FAB7E796-12F0-442F-55BC-F11E6FE07DB1}"/>
                      </a:ext>
                    </a:extLst>
                  </p:cNvPr>
                  <p:cNvCxnSpPr/>
                  <p:nvPr/>
                </p:nvCxnSpPr>
                <p:spPr>
                  <a:xfrm>
                    <a:off x="3563856" y="1862397"/>
                    <a:ext cx="1440807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98" name="直接箭头连接符 97">
                    <a:extLst>
                      <a:ext uri="{FF2B5EF4-FFF2-40B4-BE49-F238E27FC236}">
                        <a16:creationId xmlns:a16="http://schemas.microsoft.com/office/drawing/2014/main" id="{2602476E-2DF4-78A3-C40F-2CFA8A17D2F7}"/>
                      </a:ext>
                    </a:extLst>
                  </p:cNvPr>
                  <p:cNvCxnSpPr/>
                  <p:nvPr/>
                </p:nvCxnSpPr>
                <p:spPr>
                  <a:xfrm>
                    <a:off x="3537101" y="2230374"/>
                    <a:ext cx="1440558" cy="75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99" name="直接箭头连接符 98">
                    <a:extLst>
                      <a:ext uri="{FF2B5EF4-FFF2-40B4-BE49-F238E27FC236}">
                        <a16:creationId xmlns:a16="http://schemas.microsoft.com/office/drawing/2014/main" id="{42E2B389-5BED-08D0-70F2-0E4F3EE28D0D}"/>
                      </a:ext>
                    </a:extLst>
                  </p:cNvPr>
                  <p:cNvCxnSpPr/>
                  <p:nvPr/>
                </p:nvCxnSpPr>
                <p:spPr>
                  <a:xfrm>
                    <a:off x="3551399" y="2612821"/>
                    <a:ext cx="1426261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100" name="矩形 96">
                    <a:extLst>
                      <a:ext uri="{FF2B5EF4-FFF2-40B4-BE49-F238E27FC236}">
                        <a16:creationId xmlns:a16="http://schemas.microsoft.com/office/drawing/2014/main" id="{01D9FB7B-C476-A3C8-381F-50FA55304D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43594" y="1508767"/>
                    <a:ext cx="1045783" cy="240040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保留区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1" name="矩形 98">
                    <a:extLst>
                      <a:ext uri="{FF2B5EF4-FFF2-40B4-BE49-F238E27FC236}">
                        <a16:creationId xmlns:a16="http://schemas.microsoft.com/office/drawing/2014/main" id="{B3AE625F-B67D-9842-86F9-B148FCA781E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69553" y="1966319"/>
                    <a:ext cx="1117790" cy="198407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内核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102" name="直接箭头连接符 101">
                    <a:extLst>
                      <a:ext uri="{FF2B5EF4-FFF2-40B4-BE49-F238E27FC236}">
                        <a16:creationId xmlns:a16="http://schemas.microsoft.com/office/drawing/2014/main" id="{CC86AA37-EE26-7F59-DB3B-6611039ECAF1}"/>
                      </a:ext>
                    </a:extLst>
                  </p:cNvPr>
                  <p:cNvCxnSpPr/>
                  <p:nvPr/>
                </p:nvCxnSpPr>
                <p:spPr>
                  <a:xfrm>
                    <a:off x="3535262" y="3500686"/>
                    <a:ext cx="1442397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103" name="矩形 105">
                    <a:extLst>
                      <a:ext uri="{FF2B5EF4-FFF2-40B4-BE49-F238E27FC236}">
                        <a16:creationId xmlns:a16="http://schemas.microsoft.com/office/drawing/2014/main" id="{F4F8D36F-6644-ED53-6A72-70F52CD608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568020" y="2239583"/>
                    <a:ext cx="1357035" cy="373238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0" rIns="0"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内核堆对象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4" name="矩形 110">
                    <a:extLst>
                      <a:ext uri="{FF2B5EF4-FFF2-40B4-BE49-F238E27FC236}">
                        <a16:creationId xmlns:a16="http://schemas.microsoft.com/office/drawing/2014/main" id="{8950FC1D-F552-06F9-D44A-4EDC16B64D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55881" y="2900110"/>
                    <a:ext cx="1185607" cy="348956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页表区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5" name="矩形 111">
                    <a:extLst>
                      <a:ext uri="{FF2B5EF4-FFF2-40B4-BE49-F238E27FC236}">
                        <a16:creationId xmlns:a16="http://schemas.microsoft.com/office/drawing/2014/main" id="{0BF58BFF-32B0-C5A2-3712-13833A8D20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55881" y="3573016"/>
                    <a:ext cx="1185607" cy="216836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en-US" altLang="zh-CN" sz="1600" kern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PPDA</a:t>
                    </a:r>
                  </a:p>
                </p:txBody>
              </p:sp>
            </p:grpSp>
            <p:grpSp>
              <p:nvGrpSpPr>
                <p:cNvPr id="87" name="组合 5">
                  <a:extLst>
                    <a:ext uri="{FF2B5EF4-FFF2-40B4-BE49-F238E27FC236}">
                      <a16:creationId xmlns:a16="http://schemas.microsoft.com/office/drawing/2014/main" id="{DDC0DD60-C451-7C40-52E0-2E9A1F2A37A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44518" y="1248755"/>
                  <a:ext cx="1509582" cy="1981997"/>
                  <a:chOff x="2911404" y="2986958"/>
                  <a:chExt cx="1509582" cy="1981997"/>
                </a:xfrm>
              </p:grpSpPr>
              <p:sp>
                <p:nvSpPr>
                  <p:cNvPr id="89" name="矩形 88">
                    <a:extLst>
                      <a:ext uri="{FF2B5EF4-FFF2-40B4-BE49-F238E27FC236}">
                        <a16:creationId xmlns:a16="http://schemas.microsoft.com/office/drawing/2014/main" id="{EC9FE9D9-27EC-3CC9-FF8D-C1B051268294}"/>
                      </a:ext>
                    </a:extLst>
                  </p:cNvPr>
                  <p:cNvSpPr/>
                  <p:nvPr/>
                </p:nvSpPr>
                <p:spPr>
                  <a:xfrm>
                    <a:off x="2983357" y="2986958"/>
                    <a:ext cx="1437629" cy="1981997"/>
                  </a:xfrm>
                  <a:prstGeom prst="rect">
                    <a:avLst/>
                  </a:prstGeom>
                  <a:solidFill>
                    <a:srgbClr val="00B050"/>
                  </a:solidFill>
                  <a:effectLst/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endParaRPr lang="en-US" altLang="zh-CN" sz="20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90" name="直接箭头连接符 89">
                    <a:extLst>
                      <a:ext uri="{FF2B5EF4-FFF2-40B4-BE49-F238E27FC236}">
                        <a16:creationId xmlns:a16="http://schemas.microsoft.com/office/drawing/2014/main" id="{8C09E11B-1FF7-2217-1FE8-64E7090CE097}"/>
                      </a:ext>
                    </a:extLst>
                  </p:cNvPr>
                  <p:cNvCxnSpPr/>
                  <p:nvPr/>
                </p:nvCxnSpPr>
                <p:spPr>
                  <a:xfrm>
                    <a:off x="2911404" y="3366758"/>
                    <a:ext cx="1497994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91" name="矩形 62">
                    <a:extLst>
                      <a:ext uri="{FF2B5EF4-FFF2-40B4-BE49-F238E27FC236}">
                        <a16:creationId xmlns:a16="http://schemas.microsoft.com/office/drawing/2014/main" id="{7DEE31A1-B6B1-2AB6-644E-14D9FB09394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69718" y="3004503"/>
                    <a:ext cx="1045783" cy="334527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代码段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92" name="矩形 63">
                    <a:extLst>
                      <a:ext uri="{FF2B5EF4-FFF2-40B4-BE49-F238E27FC236}">
                        <a16:creationId xmlns:a16="http://schemas.microsoft.com/office/drawing/2014/main" id="{A86D96A0-E794-F900-74CB-443A3F4442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83277" y="3498186"/>
                    <a:ext cx="1045783" cy="426894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数据段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93" name="矩形 92">
                    <a:extLst>
                      <a:ext uri="{FF2B5EF4-FFF2-40B4-BE49-F238E27FC236}">
                        <a16:creationId xmlns:a16="http://schemas.microsoft.com/office/drawing/2014/main" id="{35718268-7047-125A-F6B7-33A58BB586E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84731" y="4596457"/>
                    <a:ext cx="1045783" cy="322836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堆栈段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94" name="矩形 82">
                    <a:extLst>
                      <a:ext uri="{FF2B5EF4-FFF2-40B4-BE49-F238E27FC236}">
                        <a16:creationId xmlns:a16="http://schemas.microsoft.com/office/drawing/2014/main" id="{BBBAFB8C-12CE-C258-4301-BA763F7A1F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71768" y="4097654"/>
                    <a:ext cx="1438028" cy="485909"/>
                  </a:xfrm>
                  <a:prstGeom prst="rect">
                    <a:avLst/>
                  </a:prstGeom>
                  <a:pattFill prst="dkUpDiag">
                    <a:fgClr>
                      <a:srgbClr val="00B050"/>
                    </a:fgClr>
                    <a:bgClr>
                      <a:sysClr val="window" lastClr="FFFFFF"/>
                    </a:bgClr>
                  </a:patt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endParaRPr lang="en-US" altLang="zh-CN" sz="2000" kern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95" name="直接箭头连接符 94">
                    <a:extLst>
                      <a:ext uri="{FF2B5EF4-FFF2-40B4-BE49-F238E27FC236}">
                        <a16:creationId xmlns:a16="http://schemas.microsoft.com/office/drawing/2014/main" id="{DA0B9ADD-A376-426B-B3F0-47337B7B72DC}"/>
                      </a:ext>
                    </a:extLst>
                  </p:cNvPr>
                  <p:cNvCxnSpPr/>
                  <p:nvPr/>
                </p:nvCxnSpPr>
                <p:spPr>
                  <a:xfrm>
                    <a:off x="2911404" y="4087098"/>
                    <a:ext cx="1497994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88" name="矩形 87">
                  <a:extLst>
                    <a:ext uri="{FF2B5EF4-FFF2-40B4-BE49-F238E27FC236}">
                      <a16:creationId xmlns:a16="http://schemas.microsoft.com/office/drawing/2014/main" id="{B5D892B2-8216-2784-9573-87A761F21BE8}"/>
                    </a:ext>
                  </a:extLst>
                </p:cNvPr>
                <p:cNvSpPr/>
                <p:nvPr/>
              </p:nvSpPr>
              <p:spPr>
                <a:xfrm>
                  <a:off x="1304883" y="931129"/>
                  <a:ext cx="1456692" cy="5484953"/>
                </a:xfrm>
                <a:prstGeom prst="rect">
                  <a:avLst/>
                </a:prstGeom>
                <a:noFill/>
                <a:ln w="19050" cap="flat" cmpd="sng" algn="ctr">
                  <a:solidFill>
                    <a:srgbClr val="008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2" name="矩形 224">
                <a:extLst>
                  <a:ext uri="{FF2B5EF4-FFF2-40B4-BE49-F238E27FC236}">
                    <a16:creationId xmlns:a16="http://schemas.microsoft.com/office/drawing/2014/main" id="{6B3A0342-4168-76C9-EF56-0C606EF077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3680" y="1071785"/>
                <a:ext cx="907527" cy="2286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>
                  <a:defRPr/>
                </a:pPr>
                <a:r>
                  <a:rPr lang="en-US" altLang="zh-CN" sz="1400" kern="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4M+4K</a:t>
                </a:r>
              </a:p>
            </p:txBody>
          </p:sp>
          <p:sp>
            <p:nvSpPr>
              <p:cNvPr id="83" name="矩形 227">
                <a:extLst>
                  <a:ext uri="{FF2B5EF4-FFF2-40B4-BE49-F238E27FC236}">
                    <a16:creationId xmlns:a16="http://schemas.microsoft.com/office/drawing/2014/main" id="{8C880805-5CBF-93B6-2443-C422C4B541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807" y="3025654"/>
                <a:ext cx="846349" cy="2333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>
                  <a:defRPr/>
                </a:pPr>
                <a:r>
                  <a:rPr lang="en-US" altLang="zh-CN" sz="1400" kern="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8M-1</a:t>
                </a:r>
              </a:p>
            </p:txBody>
          </p:sp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3A1D5CAF-32B4-8324-EE5A-5D230D54F7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339" y="3775670"/>
                <a:ext cx="608012" cy="2270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40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3G</a:t>
                </a:r>
              </a:p>
            </p:txBody>
          </p:sp>
          <p:sp>
            <p:nvSpPr>
              <p:cNvPr id="85" name="矩形 109">
                <a:extLst>
                  <a:ext uri="{FF2B5EF4-FFF2-40B4-BE49-F238E27FC236}">
                    <a16:creationId xmlns:a16="http://schemas.microsoft.com/office/drawing/2014/main" id="{FAE6B5B3-48C5-23C0-9126-D7309E5C3D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33782" y="6081313"/>
                <a:ext cx="1184830" cy="3489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40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3G+4M-1</a:t>
                </a:r>
              </a:p>
            </p:txBody>
          </p:sp>
        </p:grpSp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9E1FB41A-5093-B4BC-6FEF-8BB5DF15C9B4}"/>
              </a:ext>
            </a:extLst>
          </p:cNvPr>
          <p:cNvGrpSpPr/>
          <p:nvPr/>
        </p:nvGrpSpPr>
        <p:grpSpPr>
          <a:xfrm>
            <a:off x="3749753" y="874507"/>
            <a:ext cx="2492598" cy="5407858"/>
            <a:chOff x="9336360" y="685438"/>
            <a:chExt cx="2492598" cy="5407858"/>
          </a:xfrm>
        </p:grpSpPr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D6FD0E61-8AA2-6100-348C-A71C6D696AE9}"/>
                </a:ext>
              </a:extLst>
            </p:cNvPr>
            <p:cNvSpPr/>
            <p:nvPr/>
          </p:nvSpPr>
          <p:spPr>
            <a:xfrm>
              <a:off x="9336360" y="843434"/>
              <a:ext cx="1511300" cy="530225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保留区</a:t>
              </a:r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FF669A26-143D-AD49-1995-56A90807434C}"/>
                </a:ext>
              </a:extLst>
            </p:cNvPr>
            <p:cNvSpPr/>
            <p:nvPr/>
          </p:nvSpPr>
          <p:spPr>
            <a:xfrm>
              <a:off x="9336360" y="1396007"/>
              <a:ext cx="1511300" cy="331787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内核</a:t>
              </a: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01B9289D-B3FE-B817-43D9-237E58E0B3C3}"/>
                </a:ext>
              </a:extLst>
            </p:cNvPr>
            <p:cNvSpPr/>
            <p:nvPr/>
          </p:nvSpPr>
          <p:spPr>
            <a:xfrm>
              <a:off x="9336360" y="1754742"/>
              <a:ext cx="1511300" cy="331788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内核堆对象</a:t>
              </a:r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2C6A8820-4D1B-8A02-52FB-5E2EA80D757B}"/>
                </a:ext>
              </a:extLst>
            </p:cNvPr>
            <p:cNvSpPr/>
            <p:nvPr/>
          </p:nvSpPr>
          <p:spPr>
            <a:xfrm>
              <a:off x="9336360" y="2099142"/>
              <a:ext cx="1511300" cy="878026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页表区</a:t>
              </a:r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6B93BF43-1F1A-D273-5885-00DF378DDC36}"/>
                </a:ext>
              </a:extLst>
            </p:cNvPr>
            <p:cNvSpPr/>
            <p:nvPr/>
          </p:nvSpPr>
          <p:spPr>
            <a:xfrm>
              <a:off x="9341122" y="3104034"/>
              <a:ext cx="1508124" cy="2989262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用户区</a:t>
              </a:r>
            </a:p>
          </p:txBody>
        </p:sp>
        <p:sp>
          <p:nvSpPr>
            <p:cNvPr id="112" name="矩形 47">
              <a:extLst>
                <a:ext uri="{FF2B5EF4-FFF2-40B4-BE49-F238E27FC236}">
                  <a16:creationId xmlns:a16="http://schemas.microsoft.com/office/drawing/2014/main" id="{272B2F6F-68A9-0EA8-96CA-624DE5F65A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0965" y="685438"/>
              <a:ext cx="690562" cy="338361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113" name="矩形 49">
              <a:extLst>
                <a:ext uri="{FF2B5EF4-FFF2-40B4-BE49-F238E27FC236}">
                  <a16:creationId xmlns:a16="http://schemas.microsoft.com/office/drawing/2014/main" id="{884578A6-6C31-6DA8-3BA5-FDDAD9880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9892" y="1210650"/>
              <a:ext cx="690562" cy="4349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1M</a:t>
              </a:r>
            </a:p>
          </p:txBody>
        </p:sp>
        <p:sp>
          <p:nvSpPr>
            <p:cNvPr id="114" name="矩形 39">
              <a:extLst>
                <a:ext uri="{FF2B5EF4-FFF2-40B4-BE49-F238E27FC236}">
                  <a16:creationId xmlns:a16="http://schemas.microsoft.com/office/drawing/2014/main" id="{F2C9BA4B-9EEF-6DE1-275F-A463F2F35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1750" y="1595450"/>
              <a:ext cx="865187" cy="3206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1.5M</a:t>
              </a:r>
            </a:p>
          </p:txBody>
        </p:sp>
        <p:sp>
          <p:nvSpPr>
            <p:cNvPr id="115" name="矩形 41">
              <a:extLst>
                <a:ext uri="{FF2B5EF4-FFF2-40B4-BE49-F238E27FC236}">
                  <a16:creationId xmlns:a16="http://schemas.microsoft.com/office/drawing/2014/main" id="{76AB1974-BF2D-B6FA-F024-213BE4825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1750" y="1901782"/>
              <a:ext cx="865187" cy="4349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2M</a:t>
              </a:r>
            </a:p>
          </p:txBody>
        </p:sp>
        <p:sp>
          <p:nvSpPr>
            <p:cNvPr id="116" name="矩形 43">
              <a:extLst>
                <a:ext uri="{FF2B5EF4-FFF2-40B4-BE49-F238E27FC236}">
                  <a16:creationId xmlns:a16="http://schemas.microsoft.com/office/drawing/2014/main" id="{EC886D0A-D8D0-B573-3922-81CE21F5C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1448" y="2889181"/>
              <a:ext cx="1017510" cy="4349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4M</a:t>
              </a:r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86835D63-52C1-EBF5-F2B7-44F624F10700}"/>
                </a:ext>
              </a:extLst>
            </p:cNvPr>
            <p:cNvSpPr/>
            <p:nvPr/>
          </p:nvSpPr>
          <p:spPr>
            <a:xfrm>
              <a:off x="9336360" y="845021"/>
              <a:ext cx="1511300" cy="5248275"/>
            </a:xfrm>
            <a:prstGeom prst="rect">
              <a:avLst/>
            </a:prstGeom>
            <a:noFill/>
            <a:ln w="19050" cap="flat" cmpd="sng" algn="ctr">
              <a:solidFill>
                <a:srgbClr val="008000"/>
              </a:solidFill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1600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C72CF2B1-8776-B203-71DF-A8E7DAEA9CCD}"/>
              </a:ext>
            </a:extLst>
          </p:cNvPr>
          <p:cNvCxnSpPr>
            <a:cxnSpLocks/>
          </p:cNvCxnSpPr>
          <p:nvPr/>
        </p:nvCxnSpPr>
        <p:spPr>
          <a:xfrm flipH="1">
            <a:off x="3164052" y="2260076"/>
            <a:ext cx="574590" cy="2774065"/>
          </a:xfrm>
          <a:prstGeom prst="straightConnector1">
            <a:avLst/>
          </a:prstGeom>
          <a:noFill/>
          <a:ln w="12700" cap="flat" cmpd="sng" algn="ctr">
            <a:solidFill>
              <a:srgbClr val="008000"/>
            </a:solidFill>
            <a:prstDash val="solid"/>
            <a:headEnd type="triangle" w="med" len="lg"/>
            <a:tailEnd type="none" w="med" len="med"/>
          </a:ln>
          <a:effectLst/>
        </p:spPr>
      </p:cxn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F2E8D366-2F6A-6D64-B238-6EDFF2EB867F}"/>
              </a:ext>
            </a:extLst>
          </p:cNvPr>
          <p:cNvCxnSpPr>
            <a:cxnSpLocks/>
          </p:cNvCxnSpPr>
          <p:nvPr/>
        </p:nvCxnSpPr>
        <p:spPr>
          <a:xfrm flipH="1">
            <a:off x="3165675" y="3166237"/>
            <a:ext cx="595188" cy="2755766"/>
          </a:xfrm>
          <a:prstGeom prst="straightConnector1">
            <a:avLst/>
          </a:prstGeom>
          <a:noFill/>
          <a:ln w="12700" cap="flat" cmpd="sng" algn="ctr">
            <a:solidFill>
              <a:srgbClr val="008000"/>
            </a:solidFill>
            <a:prstDash val="solid"/>
            <a:headEnd type="triangle" w="med" len="lg"/>
            <a:tailEnd type="none" w="med" len="med"/>
          </a:ln>
          <a:effectLst/>
        </p:spPr>
      </p:cxnSp>
      <p:sp>
        <p:nvSpPr>
          <p:cNvPr id="168" name="Rectangle 4">
            <a:extLst>
              <a:ext uri="{FF2B5EF4-FFF2-40B4-BE49-F238E27FC236}">
                <a16:creationId xmlns:a16="http://schemas.microsoft.com/office/drawing/2014/main" id="{60CA974C-1E35-3437-1DCE-51D492D1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29" y="2715812"/>
            <a:ext cx="244012" cy="142637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wrap="square" tIns="0" bIns="0" anchor="ctr" anchorCtr="1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页表的构成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A07CF50-94E5-3FC5-3F56-8F64B56E4BDD}"/>
              </a:ext>
            </a:extLst>
          </p:cNvPr>
          <p:cNvSpPr/>
          <p:nvPr/>
        </p:nvSpPr>
        <p:spPr>
          <a:xfrm>
            <a:off x="6168008" y="999609"/>
            <a:ext cx="53983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虚实地址空间的分布沿用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UNIX V6++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的设计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0D32BA-9B4E-0FA8-0389-A7F01C1C2CEF}"/>
              </a:ext>
            </a:extLst>
          </p:cNvPr>
          <p:cNvSpPr/>
          <p:nvPr/>
        </p:nvSpPr>
        <p:spPr>
          <a:xfrm>
            <a:off x="6168008" y="1422684"/>
            <a:ext cx="5398341" cy="1169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修改要求：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）不使用交换区；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）直接使用相对表作为进程的物理页表</a:t>
            </a:r>
          </a:p>
        </p:txBody>
      </p:sp>
      <p:sp>
        <p:nvSpPr>
          <p:cNvPr id="21" name="TextBox 62">
            <a:extLst>
              <a:ext uri="{FF2B5EF4-FFF2-40B4-BE49-F238E27FC236}">
                <a16:creationId xmlns:a16="http://schemas.microsoft.com/office/drawing/2014/main" id="{E49179BB-F44A-C81E-E8C4-BE7348C5E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7928" y="4105189"/>
            <a:ext cx="1986487" cy="54794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t" anchorCtr="0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lvl="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14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②. if </a:t>
            </a:r>
            <a:r>
              <a:rPr kumimoji="0" lang="en-US" altLang="zh-CN" sz="1400" b="1" u="sng" kern="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r/w==0</a:t>
            </a:r>
            <a:r>
              <a:rPr kumimoji="0" lang="zh-CN" altLang="en-US" sz="14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，直接用</a:t>
            </a:r>
            <a:r>
              <a:rPr kumimoji="0" lang="en-US" altLang="zh-CN" sz="1400" b="1" kern="0" dirty="0" err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x_caddr</a:t>
            </a:r>
            <a:r>
              <a:rPr kumimoji="0" lang="zh-CN" altLang="en-US" sz="14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计算并写入</a:t>
            </a:r>
            <a:endParaRPr kumimoji="0" lang="en-US" altLang="zh-CN" sz="1400" b="1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22" name="TextBox 62">
            <a:extLst>
              <a:ext uri="{FF2B5EF4-FFF2-40B4-BE49-F238E27FC236}">
                <a16:creationId xmlns:a16="http://schemas.microsoft.com/office/drawing/2014/main" id="{A4C3AECE-3911-1E6F-3194-98CD5F5A8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5174" y="5047166"/>
            <a:ext cx="1986487" cy="54794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t" anchorCtr="0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lvl="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14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③. if </a:t>
            </a:r>
            <a:r>
              <a:rPr kumimoji="0" lang="en-US" altLang="zh-CN" sz="1400" b="1" u="sng" kern="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r/w==1</a:t>
            </a:r>
            <a:r>
              <a:rPr kumimoji="0" lang="zh-CN" altLang="en-US" sz="14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，直接用</a:t>
            </a:r>
            <a:r>
              <a:rPr kumimoji="0" lang="en-US" altLang="zh-CN" sz="1400" b="1" kern="0" dirty="0" err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p_addr</a:t>
            </a:r>
            <a:r>
              <a:rPr kumimoji="0" lang="zh-CN" altLang="en-US" sz="14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计算并写入</a:t>
            </a:r>
            <a:endParaRPr kumimoji="0" lang="en-US" altLang="zh-CN" sz="1400" b="1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CFC1AAE8-E2B1-4665-853B-161C119FCD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489625"/>
              </p:ext>
            </p:extLst>
          </p:nvPr>
        </p:nvGraphicFramePr>
        <p:xfrm>
          <a:off x="7468907" y="2954127"/>
          <a:ext cx="3789625" cy="2779129"/>
        </p:xfrm>
        <a:graphic>
          <a:graphicData uri="http://schemas.openxmlformats.org/drawingml/2006/table">
            <a:tbl>
              <a:tblPr firstRow="1" bandRow="1"/>
              <a:tblGrid>
                <a:gridCol w="613093">
                  <a:extLst>
                    <a:ext uri="{9D8B030D-6E8A-4147-A177-3AD203B41FA5}">
                      <a16:colId xmlns:a16="http://schemas.microsoft.com/office/drawing/2014/main" val="4051049113"/>
                    </a:ext>
                  </a:extLst>
                </a:gridCol>
                <a:gridCol w="1462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619">
                  <a:extLst>
                    <a:ext uri="{9D8B030D-6E8A-4147-A177-3AD203B41FA5}">
                      <a16:colId xmlns:a16="http://schemas.microsoft.com/office/drawing/2014/main" val="1868162133"/>
                    </a:ext>
                  </a:extLst>
                </a:gridCol>
                <a:gridCol w="473393">
                  <a:extLst>
                    <a:ext uri="{9D8B030D-6E8A-4147-A177-3AD203B41FA5}">
                      <a16:colId xmlns:a16="http://schemas.microsoft.com/office/drawing/2014/main" val="4043567449"/>
                    </a:ext>
                  </a:extLst>
                </a:gridCol>
                <a:gridCol w="495618">
                  <a:extLst>
                    <a:ext uri="{9D8B030D-6E8A-4147-A177-3AD203B41FA5}">
                      <a16:colId xmlns:a16="http://schemas.microsoft.com/office/drawing/2014/main" val="2545022663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1151903849"/>
                    </a:ext>
                  </a:extLst>
                </a:gridCol>
              </a:tblGrid>
              <a:tr h="310249">
                <a:tc>
                  <a:txBody>
                    <a:bodyPr/>
                    <a:lstStyle/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Page Base </a:t>
                      </a:r>
                      <a:r>
                        <a:rPr lang="en-US" altLang="zh-CN" sz="12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Addr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200" b="1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s/u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r/w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8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0#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xxx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891">
                <a:tc>
                  <a:txBody>
                    <a:bodyPr/>
                    <a:lstStyle/>
                    <a:p>
                      <a:endParaRPr lang="zh-CN" altLang="en-US" sz="1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8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1024#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xxx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8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1025#</a:t>
                      </a:r>
                      <a:endParaRPr lang="zh-CN" altLang="en-US" sz="1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8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1026#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250166"/>
                  </a:ext>
                </a:extLst>
              </a:tr>
              <a:tr h="2488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1027#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r>
                        <a:rPr lang="en-US" altLang="zh-CN" sz="1200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8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CD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C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C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C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C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217323"/>
                  </a:ext>
                </a:extLst>
              </a:tr>
              <a:tr h="2488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</a:t>
                      </a:r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2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2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2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306953"/>
                  </a:ext>
                </a:extLst>
              </a:tr>
              <a:tr h="2488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2023#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CD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C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C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C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C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454721"/>
                  </a:ext>
                </a:extLst>
              </a:tr>
            </a:tbl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F125E105-0D2A-A658-EE00-7ABF27DF7A91}"/>
              </a:ext>
            </a:extLst>
          </p:cNvPr>
          <p:cNvSpPr/>
          <p:nvPr/>
        </p:nvSpPr>
        <p:spPr>
          <a:xfrm>
            <a:off x="6760209" y="3118013"/>
            <a:ext cx="4630890" cy="720594"/>
          </a:xfrm>
          <a:prstGeom prst="rect">
            <a:avLst/>
          </a:prstGeom>
          <a:solidFill>
            <a:sysClr val="window" lastClr="FFFFFF">
              <a:lumMod val="50000"/>
              <a:alpha val="24000"/>
            </a:sysClr>
          </a:solidFill>
          <a:ln w="12700" cap="flat" cmpd="sng" algn="ctr">
            <a:solidFill>
              <a:sysClr val="windowText" lastClr="000000"/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左大括号 23">
            <a:extLst>
              <a:ext uri="{FF2B5EF4-FFF2-40B4-BE49-F238E27FC236}">
                <a16:creationId xmlns:a16="http://schemas.microsoft.com/office/drawing/2014/main" id="{14DE2104-81FB-CBB1-82A2-1C7C0E822F65}"/>
              </a:ext>
            </a:extLst>
          </p:cNvPr>
          <p:cNvSpPr/>
          <p:nvPr/>
        </p:nvSpPr>
        <p:spPr>
          <a:xfrm>
            <a:off x="7399923" y="4186826"/>
            <a:ext cx="144016" cy="355122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左大括号 24">
            <a:extLst>
              <a:ext uri="{FF2B5EF4-FFF2-40B4-BE49-F238E27FC236}">
                <a16:creationId xmlns:a16="http://schemas.microsoft.com/office/drawing/2014/main" id="{F09D39C5-9ED1-BD6C-AB0D-E48450EB9030}"/>
              </a:ext>
            </a:extLst>
          </p:cNvPr>
          <p:cNvSpPr/>
          <p:nvPr/>
        </p:nvSpPr>
        <p:spPr>
          <a:xfrm>
            <a:off x="7383079" y="4794220"/>
            <a:ext cx="144016" cy="848589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4">
            <a:extLst>
              <a:ext uri="{FF2B5EF4-FFF2-40B4-BE49-F238E27FC236}">
                <a16:creationId xmlns:a16="http://schemas.microsoft.com/office/drawing/2014/main" id="{07E0849B-3024-3D2F-9542-4218EC539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1317" y="2628193"/>
            <a:ext cx="3433043" cy="3238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相对虚实地址映射表</a:t>
            </a:r>
            <a:endParaRPr lang="en-US" altLang="zh-CN" sz="1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151690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82E4A4-4B4D-41BF-9F68-1575C742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353A2E-92EE-4F23-A078-2A07C43737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C4DE104-5DA1-4B88-B642-58DE3423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页表系统</a:t>
            </a: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9FB98FB3-625B-1981-5909-CDC208977DD3}"/>
              </a:ext>
            </a:extLst>
          </p:cNvPr>
          <p:cNvGrpSpPr/>
          <p:nvPr/>
        </p:nvGrpSpPr>
        <p:grpSpPr>
          <a:xfrm>
            <a:off x="637672" y="797428"/>
            <a:ext cx="2537493" cy="5593557"/>
            <a:chOff x="119336" y="632221"/>
            <a:chExt cx="2537493" cy="5593557"/>
          </a:xfrm>
        </p:grpSpPr>
        <p:sp>
          <p:nvSpPr>
            <p:cNvPr id="77" name="矩形 83">
              <a:extLst>
                <a:ext uri="{FF2B5EF4-FFF2-40B4-BE49-F238E27FC236}">
                  <a16:creationId xmlns:a16="http://schemas.microsoft.com/office/drawing/2014/main" id="{01612BA3-A3EA-FE9E-1C27-2E7F0FDCB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438" y="3974628"/>
              <a:ext cx="907527" cy="227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3G+1M</a:t>
              </a:r>
            </a:p>
          </p:txBody>
        </p:sp>
        <p:sp>
          <p:nvSpPr>
            <p:cNvPr id="78" name="矩形 83">
              <a:extLst>
                <a:ext uri="{FF2B5EF4-FFF2-40B4-BE49-F238E27FC236}">
                  <a16:creationId xmlns:a16="http://schemas.microsoft.com/office/drawing/2014/main" id="{99F4B1C2-880D-BFF8-6666-083B512CFD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056" y="4356990"/>
              <a:ext cx="1020960" cy="2420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3G+1.5M</a:t>
              </a:r>
            </a:p>
          </p:txBody>
        </p:sp>
        <p:sp>
          <p:nvSpPr>
            <p:cNvPr id="79" name="矩形 83">
              <a:extLst>
                <a:ext uri="{FF2B5EF4-FFF2-40B4-BE49-F238E27FC236}">
                  <a16:creationId xmlns:a16="http://schemas.microsoft.com/office/drawing/2014/main" id="{B2607093-C08B-0129-255F-03AB69B8B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24" y="4755427"/>
              <a:ext cx="907527" cy="227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3G+2M</a:t>
              </a:r>
            </a:p>
          </p:txBody>
        </p:sp>
        <p:grpSp>
          <p:nvGrpSpPr>
            <p:cNvPr id="80" name="组合 154">
              <a:extLst>
                <a:ext uri="{FF2B5EF4-FFF2-40B4-BE49-F238E27FC236}">
                  <a16:creationId xmlns:a16="http://schemas.microsoft.com/office/drawing/2014/main" id="{FADA5135-579F-4E1C-706B-204914BD8FEF}"/>
                </a:ext>
              </a:extLst>
            </p:cNvPr>
            <p:cNvGrpSpPr/>
            <p:nvPr/>
          </p:nvGrpSpPr>
          <p:grpSpPr>
            <a:xfrm>
              <a:off x="119336" y="632221"/>
              <a:ext cx="2537493" cy="5593557"/>
              <a:chOff x="-233782" y="836712"/>
              <a:chExt cx="2537493" cy="5593557"/>
            </a:xfrm>
          </p:grpSpPr>
          <p:grpSp>
            <p:nvGrpSpPr>
              <p:cNvPr id="81" name="组合 7">
                <a:extLst>
                  <a:ext uri="{FF2B5EF4-FFF2-40B4-BE49-F238E27FC236}">
                    <a16:creationId xmlns:a16="http://schemas.microsoft.com/office/drawing/2014/main" id="{B4A70305-E536-C926-C774-5E08F629B0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1773" y="836712"/>
                <a:ext cx="1531938" cy="5484937"/>
                <a:chOff x="1244518" y="931129"/>
                <a:chExt cx="1532942" cy="5484953"/>
              </a:xfrm>
            </p:grpSpPr>
            <p:grpSp>
              <p:nvGrpSpPr>
                <p:cNvPr id="86" name="组合 6">
                  <a:extLst>
                    <a:ext uri="{FF2B5EF4-FFF2-40B4-BE49-F238E27FC236}">
                      <a16:creationId xmlns:a16="http://schemas.microsoft.com/office/drawing/2014/main" id="{44FAA9FF-55F6-497C-2BCD-270EEA8DA53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08059" y="3956058"/>
                  <a:ext cx="1469401" cy="2460024"/>
                  <a:chOff x="3535262" y="1401025"/>
                  <a:chExt cx="1469401" cy="2460024"/>
                </a:xfrm>
              </p:grpSpPr>
              <p:sp>
                <p:nvSpPr>
                  <p:cNvPr id="96" name="矩形 95">
                    <a:extLst>
                      <a:ext uri="{FF2B5EF4-FFF2-40B4-BE49-F238E27FC236}">
                        <a16:creationId xmlns:a16="http://schemas.microsoft.com/office/drawing/2014/main" id="{07B4C9F2-75A4-B540-9843-40EECCA2E906}"/>
                      </a:ext>
                    </a:extLst>
                  </p:cNvPr>
                  <p:cNvSpPr/>
                  <p:nvPr/>
                </p:nvSpPr>
                <p:spPr>
                  <a:xfrm>
                    <a:off x="3549125" y="1401025"/>
                    <a:ext cx="1437630" cy="2460024"/>
                  </a:xfrm>
                  <a:prstGeom prst="rect">
                    <a:avLst/>
                  </a:prstGeom>
                  <a:solidFill>
                    <a:srgbClr val="00B050"/>
                  </a:solidFill>
                  <a:effectLst/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endParaRPr lang="en-US" altLang="zh-CN" sz="20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97" name="直接箭头连接符 96">
                    <a:extLst>
                      <a:ext uri="{FF2B5EF4-FFF2-40B4-BE49-F238E27FC236}">
                        <a16:creationId xmlns:a16="http://schemas.microsoft.com/office/drawing/2014/main" id="{FAB7E796-12F0-442F-55BC-F11E6FE07DB1}"/>
                      </a:ext>
                    </a:extLst>
                  </p:cNvPr>
                  <p:cNvCxnSpPr/>
                  <p:nvPr/>
                </p:nvCxnSpPr>
                <p:spPr>
                  <a:xfrm>
                    <a:off x="3563856" y="1862397"/>
                    <a:ext cx="1440807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98" name="直接箭头连接符 97">
                    <a:extLst>
                      <a:ext uri="{FF2B5EF4-FFF2-40B4-BE49-F238E27FC236}">
                        <a16:creationId xmlns:a16="http://schemas.microsoft.com/office/drawing/2014/main" id="{2602476E-2DF4-78A3-C40F-2CFA8A17D2F7}"/>
                      </a:ext>
                    </a:extLst>
                  </p:cNvPr>
                  <p:cNvCxnSpPr/>
                  <p:nvPr/>
                </p:nvCxnSpPr>
                <p:spPr>
                  <a:xfrm>
                    <a:off x="3537101" y="2230374"/>
                    <a:ext cx="1440558" cy="75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99" name="直接箭头连接符 98">
                    <a:extLst>
                      <a:ext uri="{FF2B5EF4-FFF2-40B4-BE49-F238E27FC236}">
                        <a16:creationId xmlns:a16="http://schemas.microsoft.com/office/drawing/2014/main" id="{42E2B389-5BED-08D0-70F2-0E4F3EE28D0D}"/>
                      </a:ext>
                    </a:extLst>
                  </p:cNvPr>
                  <p:cNvCxnSpPr/>
                  <p:nvPr/>
                </p:nvCxnSpPr>
                <p:spPr>
                  <a:xfrm>
                    <a:off x="3551399" y="2612821"/>
                    <a:ext cx="1426261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100" name="矩形 96">
                    <a:extLst>
                      <a:ext uri="{FF2B5EF4-FFF2-40B4-BE49-F238E27FC236}">
                        <a16:creationId xmlns:a16="http://schemas.microsoft.com/office/drawing/2014/main" id="{01D9FB7B-C476-A3C8-381F-50FA55304D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43594" y="1508767"/>
                    <a:ext cx="1045783" cy="240040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保留区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1" name="矩形 98">
                    <a:extLst>
                      <a:ext uri="{FF2B5EF4-FFF2-40B4-BE49-F238E27FC236}">
                        <a16:creationId xmlns:a16="http://schemas.microsoft.com/office/drawing/2014/main" id="{B3AE625F-B67D-9842-86F9-B148FCA781E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69553" y="1966319"/>
                    <a:ext cx="1117790" cy="198407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内核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102" name="直接箭头连接符 101">
                    <a:extLst>
                      <a:ext uri="{FF2B5EF4-FFF2-40B4-BE49-F238E27FC236}">
                        <a16:creationId xmlns:a16="http://schemas.microsoft.com/office/drawing/2014/main" id="{CC86AA37-EE26-7F59-DB3B-6611039ECAF1}"/>
                      </a:ext>
                    </a:extLst>
                  </p:cNvPr>
                  <p:cNvCxnSpPr/>
                  <p:nvPr/>
                </p:nvCxnSpPr>
                <p:spPr>
                  <a:xfrm>
                    <a:off x="3535262" y="3500686"/>
                    <a:ext cx="1442397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103" name="矩形 105">
                    <a:extLst>
                      <a:ext uri="{FF2B5EF4-FFF2-40B4-BE49-F238E27FC236}">
                        <a16:creationId xmlns:a16="http://schemas.microsoft.com/office/drawing/2014/main" id="{F4F8D36F-6644-ED53-6A72-70F52CD608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568020" y="2239583"/>
                    <a:ext cx="1357035" cy="373238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0" rIns="0"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内核堆对象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4" name="矩形 110">
                    <a:extLst>
                      <a:ext uri="{FF2B5EF4-FFF2-40B4-BE49-F238E27FC236}">
                        <a16:creationId xmlns:a16="http://schemas.microsoft.com/office/drawing/2014/main" id="{8950FC1D-F552-06F9-D44A-4EDC16B64D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55881" y="2900110"/>
                    <a:ext cx="1185607" cy="348956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页表区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5" name="矩形 111">
                    <a:extLst>
                      <a:ext uri="{FF2B5EF4-FFF2-40B4-BE49-F238E27FC236}">
                        <a16:creationId xmlns:a16="http://schemas.microsoft.com/office/drawing/2014/main" id="{0BF58BFF-32B0-C5A2-3712-13833A8D20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55881" y="3573016"/>
                    <a:ext cx="1185607" cy="216836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en-US" altLang="zh-CN" sz="1600" kern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PPDA</a:t>
                    </a:r>
                  </a:p>
                </p:txBody>
              </p:sp>
            </p:grpSp>
            <p:grpSp>
              <p:nvGrpSpPr>
                <p:cNvPr id="87" name="组合 5">
                  <a:extLst>
                    <a:ext uri="{FF2B5EF4-FFF2-40B4-BE49-F238E27FC236}">
                      <a16:creationId xmlns:a16="http://schemas.microsoft.com/office/drawing/2014/main" id="{DDC0DD60-C451-7C40-52E0-2E9A1F2A37A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44518" y="1248755"/>
                  <a:ext cx="1509582" cy="1981997"/>
                  <a:chOff x="2911404" y="2986958"/>
                  <a:chExt cx="1509582" cy="1981997"/>
                </a:xfrm>
              </p:grpSpPr>
              <p:sp>
                <p:nvSpPr>
                  <p:cNvPr id="89" name="矩形 88">
                    <a:extLst>
                      <a:ext uri="{FF2B5EF4-FFF2-40B4-BE49-F238E27FC236}">
                        <a16:creationId xmlns:a16="http://schemas.microsoft.com/office/drawing/2014/main" id="{EC9FE9D9-27EC-3CC9-FF8D-C1B051268294}"/>
                      </a:ext>
                    </a:extLst>
                  </p:cNvPr>
                  <p:cNvSpPr/>
                  <p:nvPr/>
                </p:nvSpPr>
                <p:spPr>
                  <a:xfrm>
                    <a:off x="2983357" y="2986958"/>
                    <a:ext cx="1437629" cy="1981997"/>
                  </a:xfrm>
                  <a:prstGeom prst="rect">
                    <a:avLst/>
                  </a:prstGeom>
                  <a:solidFill>
                    <a:srgbClr val="00B050"/>
                  </a:solidFill>
                  <a:effectLst/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endParaRPr lang="en-US" altLang="zh-CN" sz="20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90" name="直接箭头连接符 89">
                    <a:extLst>
                      <a:ext uri="{FF2B5EF4-FFF2-40B4-BE49-F238E27FC236}">
                        <a16:creationId xmlns:a16="http://schemas.microsoft.com/office/drawing/2014/main" id="{8C09E11B-1FF7-2217-1FE8-64E7090CE097}"/>
                      </a:ext>
                    </a:extLst>
                  </p:cNvPr>
                  <p:cNvCxnSpPr/>
                  <p:nvPr/>
                </p:nvCxnSpPr>
                <p:spPr>
                  <a:xfrm>
                    <a:off x="2911404" y="3366758"/>
                    <a:ext cx="1497994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91" name="矩形 62">
                    <a:extLst>
                      <a:ext uri="{FF2B5EF4-FFF2-40B4-BE49-F238E27FC236}">
                        <a16:creationId xmlns:a16="http://schemas.microsoft.com/office/drawing/2014/main" id="{7DEE31A1-B6B1-2AB6-644E-14D9FB09394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69718" y="3004503"/>
                    <a:ext cx="1045783" cy="334527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代码段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92" name="矩形 63">
                    <a:extLst>
                      <a:ext uri="{FF2B5EF4-FFF2-40B4-BE49-F238E27FC236}">
                        <a16:creationId xmlns:a16="http://schemas.microsoft.com/office/drawing/2014/main" id="{A86D96A0-E794-F900-74CB-443A3F4442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83277" y="3498186"/>
                    <a:ext cx="1045783" cy="426894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数据段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93" name="矩形 92">
                    <a:extLst>
                      <a:ext uri="{FF2B5EF4-FFF2-40B4-BE49-F238E27FC236}">
                        <a16:creationId xmlns:a16="http://schemas.microsoft.com/office/drawing/2014/main" id="{35718268-7047-125A-F6B7-33A58BB586E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84731" y="4596457"/>
                    <a:ext cx="1045783" cy="322836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堆栈段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94" name="矩形 82">
                    <a:extLst>
                      <a:ext uri="{FF2B5EF4-FFF2-40B4-BE49-F238E27FC236}">
                        <a16:creationId xmlns:a16="http://schemas.microsoft.com/office/drawing/2014/main" id="{BBBAFB8C-12CE-C258-4301-BA763F7A1F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71768" y="4097654"/>
                    <a:ext cx="1438028" cy="485909"/>
                  </a:xfrm>
                  <a:prstGeom prst="rect">
                    <a:avLst/>
                  </a:prstGeom>
                  <a:pattFill prst="dkUpDiag">
                    <a:fgClr>
                      <a:srgbClr val="00B050"/>
                    </a:fgClr>
                    <a:bgClr>
                      <a:sysClr val="window" lastClr="FFFFFF"/>
                    </a:bgClr>
                  </a:patt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endParaRPr lang="en-US" altLang="zh-CN" sz="2000" kern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95" name="直接箭头连接符 94">
                    <a:extLst>
                      <a:ext uri="{FF2B5EF4-FFF2-40B4-BE49-F238E27FC236}">
                        <a16:creationId xmlns:a16="http://schemas.microsoft.com/office/drawing/2014/main" id="{DA0B9ADD-A376-426B-B3F0-47337B7B72DC}"/>
                      </a:ext>
                    </a:extLst>
                  </p:cNvPr>
                  <p:cNvCxnSpPr/>
                  <p:nvPr/>
                </p:nvCxnSpPr>
                <p:spPr>
                  <a:xfrm>
                    <a:off x="2911404" y="4087098"/>
                    <a:ext cx="1497994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88" name="矩形 87">
                  <a:extLst>
                    <a:ext uri="{FF2B5EF4-FFF2-40B4-BE49-F238E27FC236}">
                      <a16:creationId xmlns:a16="http://schemas.microsoft.com/office/drawing/2014/main" id="{B5D892B2-8216-2784-9573-87A761F21BE8}"/>
                    </a:ext>
                  </a:extLst>
                </p:cNvPr>
                <p:cNvSpPr/>
                <p:nvPr/>
              </p:nvSpPr>
              <p:spPr>
                <a:xfrm>
                  <a:off x="1304883" y="931129"/>
                  <a:ext cx="1456692" cy="5484953"/>
                </a:xfrm>
                <a:prstGeom prst="rect">
                  <a:avLst/>
                </a:prstGeom>
                <a:noFill/>
                <a:ln w="19050" cap="flat" cmpd="sng" algn="ctr">
                  <a:solidFill>
                    <a:srgbClr val="008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2" name="矩形 224">
                <a:extLst>
                  <a:ext uri="{FF2B5EF4-FFF2-40B4-BE49-F238E27FC236}">
                    <a16:creationId xmlns:a16="http://schemas.microsoft.com/office/drawing/2014/main" id="{6B3A0342-4168-76C9-EF56-0C606EF077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3680" y="1071785"/>
                <a:ext cx="907527" cy="2286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>
                  <a:defRPr/>
                </a:pPr>
                <a:r>
                  <a:rPr lang="en-US" altLang="zh-CN" sz="1400" kern="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4M+4K</a:t>
                </a:r>
              </a:p>
            </p:txBody>
          </p:sp>
          <p:sp>
            <p:nvSpPr>
              <p:cNvPr id="83" name="矩形 227">
                <a:extLst>
                  <a:ext uri="{FF2B5EF4-FFF2-40B4-BE49-F238E27FC236}">
                    <a16:creationId xmlns:a16="http://schemas.microsoft.com/office/drawing/2014/main" id="{8C880805-5CBF-93B6-2443-C422C4B541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807" y="3025654"/>
                <a:ext cx="846349" cy="2333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>
                  <a:defRPr/>
                </a:pPr>
                <a:r>
                  <a:rPr lang="en-US" altLang="zh-CN" sz="1400" kern="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8M-1</a:t>
                </a:r>
              </a:p>
            </p:txBody>
          </p:sp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3A1D5CAF-32B4-8324-EE5A-5D230D54F7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339" y="3775670"/>
                <a:ext cx="608012" cy="2270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40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3G</a:t>
                </a:r>
              </a:p>
            </p:txBody>
          </p:sp>
          <p:sp>
            <p:nvSpPr>
              <p:cNvPr id="85" name="矩形 109">
                <a:extLst>
                  <a:ext uri="{FF2B5EF4-FFF2-40B4-BE49-F238E27FC236}">
                    <a16:creationId xmlns:a16="http://schemas.microsoft.com/office/drawing/2014/main" id="{FAE6B5B3-48C5-23C0-9126-D7309E5C3D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33782" y="6081313"/>
                <a:ext cx="1184830" cy="3489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40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3G+4M-1</a:t>
                </a:r>
              </a:p>
            </p:txBody>
          </p:sp>
        </p:grpSp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9E1FB41A-5093-B4BC-6FEF-8BB5DF15C9B4}"/>
              </a:ext>
            </a:extLst>
          </p:cNvPr>
          <p:cNvGrpSpPr/>
          <p:nvPr/>
        </p:nvGrpSpPr>
        <p:grpSpPr>
          <a:xfrm>
            <a:off x="3749753" y="874507"/>
            <a:ext cx="2492598" cy="5407858"/>
            <a:chOff x="9336360" y="685438"/>
            <a:chExt cx="2492598" cy="5407858"/>
          </a:xfrm>
        </p:grpSpPr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D6FD0E61-8AA2-6100-348C-A71C6D696AE9}"/>
                </a:ext>
              </a:extLst>
            </p:cNvPr>
            <p:cNvSpPr/>
            <p:nvPr/>
          </p:nvSpPr>
          <p:spPr>
            <a:xfrm>
              <a:off x="9336360" y="843434"/>
              <a:ext cx="1511300" cy="530225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保留区</a:t>
              </a:r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FF669A26-143D-AD49-1995-56A90807434C}"/>
                </a:ext>
              </a:extLst>
            </p:cNvPr>
            <p:cNvSpPr/>
            <p:nvPr/>
          </p:nvSpPr>
          <p:spPr>
            <a:xfrm>
              <a:off x="9336360" y="1396007"/>
              <a:ext cx="1511300" cy="331787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内核</a:t>
              </a: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01B9289D-B3FE-B817-43D9-237E58E0B3C3}"/>
                </a:ext>
              </a:extLst>
            </p:cNvPr>
            <p:cNvSpPr/>
            <p:nvPr/>
          </p:nvSpPr>
          <p:spPr>
            <a:xfrm>
              <a:off x="9336360" y="1754742"/>
              <a:ext cx="1511300" cy="331788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内核堆对象</a:t>
              </a:r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2C6A8820-4D1B-8A02-52FB-5E2EA80D757B}"/>
                </a:ext>
              </a:extLst>
            </p:cNvPr>
            <p:cNvSpPr/>
            <p:nvPr/>
          </p:nvSpPr>
          <p:spPr>
            <a:xfrm>
              <a:off x="9336360" y="2099142"/>
              <a:ext cx="1511300" cy="878026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页表区</a:t>
              </a:r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6B93BF43-1F1A-D273-5885-00DF378DDC36}"/>
                </a:ext>
              </a:extLst>
            </p:cNvPr>
            <p:cNvSpPr/>
            <p:nvPr/>
          </p:nvSpPr>
          <p:spPr>
            <a:xfrm>
              <a:off x="9341122" y="3104034"/>
              <a:ext cx="1508124" cy="2989262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用户区</a:t>
              </a:r>
            </a:p>
          </p:txBody>
        </p:sp>
        <p:sp>
          <p:nvSpPr>
            <p:cNvPr id="112" name="矩形 47">
              <a:extLst>
                <a:ext uri="{FF2B5EF4-FFF2-40B4-BE49-F238E27FC236}">
                  <a16:creationId xmlns:a16="http://schemas.microsoft.com/office/drawing/2014/main" id="{272B2F6F-68A9-0EA8-96CA-624DE5F65A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0965" y="685438"/>
              <a:ext cx="690562" cy="338361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113" name="矩形 49">
              <a:extLst>
                <a:ext uri="{FF2B5EF4-FFF2-40B4-BE49-F238E27FC236}">
                  <a16:creationId xmlns:a16="http://schemas.microsoft.com/office/drawing/2014/main" id="{884578A6-6C31-6DA8-3BA5-FDDAD9880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9892" y="1210650"/>
              <a:ext cx="690562" cy="4349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1M</a:t>
              </a:r>
            </a:p>
          </p:txBody>
        </p:sp>
        <p:sp>
          <p:nvSpPr>
            <p:cNvPr id="114" name="矩形 39">
              <a:extLst>
                <a:ext uri="{FF2B5EF4-FFF2-40B4-BE49-F238E27FC236}">
                  <a16:creationId xmlns:a16="http://schemas.microsoft.com/office/drawing/2014/main" id="{F2C9BA4B-9EEF-6DE1-275F-A463F2F35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1750" y="1595450"/>
              <a:ext cx="865187" cy="3206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1.5M</a:t>
              </a:r>
            </a:p>
          </p:txBody>
        </p:sp>
        <p:sp>
          <p:nvSpPr>
            <p:cNvPr id="115" name="矩形 41">
              <a:extLst>
                <a:ext uri="{FF2B5EF4-FFF2-40B4-BE49-F238E27FC236}">
                  <a16:creationId xmlns:a16="http://schemas.microsoft.com/office/drawing/2014/main" id="{76AB1974-BF2D-B6FA-F024-213BE4825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1750" y="1901782"/>
              <a:ext cx="865187" cy="4349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2M</a:t>
              </a:r>
            </a:p>
          </p:txBody>
        </p:sp>
        <p:sp>
          <p:nvSpPr>
            <p:cNvPr id="116" name="矩形 43">
              <a:extLst>
                <a:ext uri="{FF2B5EF4-FFF2-40B4-BE49-F238E27FC236}">
                  <a16:creationId xmlns:a16="http://schemas.microsoft.com/office/drawing/2014/main" id="{EC886D0A-D8D0-B573-3922-81CE21F5C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1448" y="2889181"/>
              <a:ext cx="1017510" cy="4349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4M</a:t>
              </a:r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86835D63-52C1-EBF5-F2B7-44F624F10700}"/>
                </a:ext>
              </a:extLst>
            </p:cNvPr>
            <p:cNvSpPr/>
            <p:nvPr/>
          </p:nvSpPr>
          <p:spPr>
            <a:xfrm>
              <a:off x="9336360" y="845021"/>
              <a:ext cx="1511300" cy="5248275"/>
            </a:xfrm>
            <a:prstGeom prst="rect">
              <a:avLst/>
            </a:prstGeom>
            <a:noFill/>
            <a:ln w="19050" cap="flat" cmpd="sng" algn="ctr">
              <a:solidFill>
                <a:srgbClr val="008000"/>
              </a:solidFill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1600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C72CF2B1-8776-B203-71DF-A8E7DAEA9CCD}"/>
              </a:ext>
            </a:extLst>
          </p:cNvPr>
          <p:cNvCxnSpPr>
            <a:cxnSpLocks/>
          </p:cNvCxnSpPr>
          <p:nvPr/>
        </p:nvCxnSpPr>
        <p:spPr>
          <a:xfrm flipH="1">
            <a:off x="3164052" y="2260076"/>
            <a:ext cx="574590" cy="2774065"/>
          </a:xfrm>
          <a:prstGeom prst="straightConnector1">
            <a:avLst/>
          </a:prstGeom>
          <a:noFill/>
          <a:ln w="12700" cap="flat" cmpd="sng" algn="ctr">
            <a:solidFill>
              <a:srgbClr val="008000"/>
            </a:solidFill>
            <a:prstDash val="solid"/>
            <a:headEnd type="triangle" w="med" len="lg"/>
            <a:tailEnd type="none" w="med" len="med"/>
          </a:ln>
          <a:effectLst/>
        </p:spPr>
      </p:cxn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F2E8D366-2F6A-6D64-B238-6EDFF2EB867F}"/>
              </a:ext>
            </a:extLst>
          </p:cNvPr>
          <p:cNvCxnSpPr>
            <a:cxnSpLocks/>
          </p:cNvCxnSpPr>
          <p:nvPr/>
        </p:nvCxnSpPr>
        <p:spPr>
          <a:xfrm flipH="1">
            <a:off x="3165675" y="3166237"/>
            <a:ext cx="595188" cy="2755766"/>
          </a:xfrm>
          <a:prstGeom prst="straightConnector1">
            <a:avLst/>
          </a:prstGeom>
          <a:noFill/>
          <a:ln w="12700" cap="flat" cmpd="sng" algn="ctr">
            <a:solidFill>
              <a:srgbClr val="008000"/>
            </a:solidFill>
            <a:prstDash val="solid"/>
            <a:headEnd type="triangle" w="med" len="lg"/>
            <a:tailEnd type="none" w="med" len="med"/>
          </a:ln>
          <a:effectLst/>
        </p:spPr>
      </p:cxnSp>
      <p:sp>
        <p:nvSpPr>
          <p:cNvPr id="168" name="Rectangle 4">
            <a:extLst>
              <a:ext uri="{FF2B5EF4-FFF2-40B4-BE49-F238E27FC236}">
                <a16:creationId xmlns:a16="http://schemas.microsoft.com/office/drawing/2014/main" id="{60CA974C-1E35-3437-1DCE-51D492D1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29" y="2715812"/>
            <a:ext cx="244012" cy="142637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wrap="square" tIns="0" bIns="0" anchor="ctr" anchorCtr="1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页表的构成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A07CF50-94E5-3FC5-3F56-8F64B56E4BDD}"/>
              </a:ext>
            </a:extLst>
          </p:cNvPr>
          <p:cNvSpPr/>
          <p:nvPr/>
        </p:nvSpPr>
        <p:spPr>
          <a:xfrm>
            <a:off x="6168008" y="999609"/>
            <a:ext cx="53983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虚实地址空间的分布沿用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UNIX V6++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的设计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0D32BA-9B4E-0FA8-0389-A7F01C1C2CEF}"/>
              </a:ext>
            </a:extLst>
          </p:cNvPr>
          <p:cNvSpPr/>
          <p:nvPr/>
        </p:nvSpPr>
        <p:spPr>
          <a:xfrm>
            <a:off x="6168008" y="1422684"/>
            <a:ext cx="5398341" cy="4862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修改要求：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）不使用交换区；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）直接使用相对表作为进程的物理页表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）每个进程的页目录不同</a:t>
            </a:r>
          </a:p>
        </p:txBody>
      </p:sp>
      <p:sp>
        <p:nvSpPr>
          <p:cNvPr id="5" name="矩形 24">
            <a:extLst>
              <a:ext uri="{FF2B5EF4-FFF2-40B4-BE49-F238E27FC236}">
                <a16:creationId xmlns:a16="http://schemas.microsoft.com/office/drawing/2014/main" id="{5C693DB1-669B-273F-B182-06710BB51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1317" y="2628193"/>
            <a:ext cx="3433043" cy="32385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相对虚实地址映射表</a:t>
            </a:r>
            <a:endParaRPr lang="en-US" altLang="zh-CN" sz="1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6" name="TextBox 62">
            <a:extLst>
              <a:ext uri="{FF2B5EF4-FFF2-40B4-BE49-F238E27FC236}">
                <a16:creationId xmlns:a16="http://schemas.microsoft.com/office/drawing/2014/main" id="{8D864734-DE16-3464-CA8E-95971347F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7928" y="4105189"/>
            <a:ext cx="1986487" cy="54794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t" anchorCtr="0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lvl="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14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②. if </a:t>
            </a:r>
            <a:r>
              <a:rPr kumimoji="0" lang="en-US" altLang="zh-CN" sz="1400" b="1" u="sng" kern="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r/w==0</a:t>
            </a:r>
            <a:r>
              <a:rPr kumimoji="0" lang="zh-CN" altLang="en-US" sz="14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，直接用</a:t>
            </a:r>
            <a:r>
              <a:rPr kumimoji="0" lang="en-US" altLang="zh-CN" sz="1400" b="1" kern="0" dirty="0" err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x_caddr</a:t>
            </a:r>
            <a:r>
              <a:rPr kumimoji="0" lang="zh-CN" altLang="en-US" sz="14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计算并写入</a:t>
            </a:r>
            <a:endParaRPr kumimoji="0" lang="en-US" altLang="zh-CN" sz="1400" b="1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7" name="TextBox 62">
            <a:extLst>
              <a:ext uri="{FF2B5EF4-FFF2-40B4-BE49-F238E27FC236}">
                <a16:creationId xmlns:a16="http://schemas.microsoft.com/office/drawing/2014/main" id="{717D8D89-F2C4-3739-AC53-4A007ECAA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5174" y="5047166"/>
            <a:ext cx="1986487" cy="54794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t" anchorCtr="0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lvl="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14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③. if </a:t>
            </a:r>
            <a:r>
              <a:rPr kumimoji="0" lang="en-US" altLang="zh-CN" sz="1400" b="1" u="sng" kern="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r/w==1</a:t>
            </a:r>
            <a:r>
              <a:rPr kumimoji="0" lang="zh-CN" altLang="en-US" sz="14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，直接用</a:t>
            </a:r>
            <a:r>
              <a:rPr kumimoji="0" lang="en-US" altLang="zh-CN" sz="1400" b="1" kern="0" dirty="0" err="1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p_addr</a:t>
            </a:r>
            <a:r>
              <a:rPr kumimoji="0" lang="zh-CN" altLang="en-US" sz="14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计算并写入</a:t>
            </a:r>
            <a:endParaRPr kumimoji="0" lang="en-US" altLang="zh-CN" sz="1400" b="1" kern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9DC8580-4B3C-DADD-6B01-8F6E1D7B3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091241"/>
              </p:ext>
            </p:extLst>
          </p:nvPr>
        </p:nvGraphicFramePr>
        <p:xfrm>
          <a:off x="7468907" y="2954127"/>
          <a:ext cx="3789625" cy="2779129"/>
        </p:xfrm>
        <a:graphic>
          <a:graphicData uri="http://schemas.openxmlformats.org/drawingml/2006/table">
            <a:tbl>
              <a:tblPr firstRow="1" bandRow="1"/>
              <a:tblGrid>
                <a:gridCol w="613093">
                  <a:extLst>
                    <a:ext uri="{9D8B030D-6E8A-4147-A177-3AD203B41FA5}">
                      <a16:colId xmlns:a16="http://schemas.microsoft.com/office/drawing/2014/main" val="4051049113"/>
                    </a:ext>
                  </a:extLst>
                </a:gridCol>
                <a:gridCol w="1462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619">
                  <a:extLst>
                    <a:ext uri="{9D8B030D-6E8A-4147-A177-3AD203B41FA5}">
                      <a16:colId xmlns:a16="http://schemas.microsoft.com/office/drawing/2014/main" val="1868162133"/>
                    </a:ext>
                  </a:extLst>
                </a:gridCol>
                <a:gridCol w="473393">
                  <a:extLst>
                    <a:ext uri="{9D8B030D-6E8A-4147-A177-3AD203B41FA5}">
                      <a16:colId xmlns:a16="http://schemas.microsoft.com/office/drawing/2014/main" val="4043567449"/>
                    </a:ext>
                  </a:extLst>
                </a:gridCol>
                <a:gridCol w="495618">
                  <a:extLst>
                    <a:ext uri="{9D8B030D-6E8A-4147-A177-3AD203B41FA5}">
                      <a16:colId xmlns:a16="http://schemas.microsoft.com/office/drawing/2014/main" val="2545022663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1151903849"/>
                    </a:ext>
                  </a:extLst>
                </a:gridCol>
              </a:tblGrid>
              <a:tr h="310249">
                <a:tc>
                  <a:txBody>
                    <a:bodyPr/>
                    <a:lstStyle/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Page Base </a:t>
                      </a:r>
                      <a:r>
                        <a:rPr lang="en-US" altLang="zh-CN" sz="12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Addr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200" b="1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s/u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r/w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8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0#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xxx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891">
                <a:tc>
                  <a:txBody>
                    <a:bodyPr/>
                    <a:lstStyle/>
                    <a:p>
                      <a:endParaRPr lang="zh-CN" altLang="en-US" sz="1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8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1024#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xxx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8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1025#</a:t>
                      </a:r>
                      <a:endParaRPr lang="zh-CN" altLang="en-US" sz="1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8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1026#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250166"/>
                  </a:ext>
                </a:extLst>
              </a:tr>
              <a:tr h="2488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1027#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</a:defRPr>
                      </a:lvl9pPr>
                    </a:lstStyle>
                    <a:p>
                      <a:r>
                        <a:rPr lang="en-US" altLang="zh-CN" sz="1200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8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CD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C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C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C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C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217323"/>
                  </a:ext>
                </a:extLst>
              </a:tr>
              <a:tr h="2488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</a:t>
                      </a:r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2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2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2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945B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306953"/>
                  </a:ext>
                </a:extLst>
              </a:tr>
              <a:tr h="2488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2023#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CD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1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C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C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CD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C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454721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14FD5B7A-D840-08AF-D174-3A24BEEC0024}"/>
              </a:ext>
            </a:extLst>
          </p:cNvPr>
          <p:cNvSpPr/>
          <p:nvPr/>
        </p:nvSpPr>
        <p:spPr>
          <a:xfrm>
            <a:off x="6760209" y="3118013"/>
            <a:ext cx="4630890" cy="720594"/>
          </a:xfrm>
          <a:prstGeom prst="rect">
            <a:avLst/>
          </a:prstGeom>
          <a:solidFill>
            <a:sysClr val="window" lastClr="FFFFFF">
              <a:lumMod val="50000"/>
              <a:alpha val="24000"/>
            </a:sysClr>
          </a:solidFill>
          <a:ln w="12700" cap="flat" cmpd="sng" algn="ctr">
            <a:solidFill>
              <a:sysClr val="windowText" lastClr="000000"/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左大括号 9">
            <a:extLst>
              <a:ext uri="{FF2B5EF4-FFF2-40B4-BE49-F238E27FC236}">
                <a16:creationId xmlns:a16="http://schemas.microsoft.com/office/drawing/2014/main" id="{C614F308-88AE-DD4E-1307-34350750113B}"/>
              </a:ext>
            </a:extLst>
          </p:cNvPr>
          <p:cNvSpPr/>
          <p:nvPr/>
        </p:nvSpPr>
        <p:spPr>
          <a:xfrm>
            <a:off x="7399923" y="4186826"/>
            <a:ext cx="144016" cy="355122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左大括号 11">
            <a:extLst>
              <a:ext uri="{FF2B5EF4-FFF2-40B4-BE49-F238E27FC236}">
                <a16:creationId xmlns:a16="http://schemas.microsoft.com/office/drawing/2014/main" id="{3B96C9B4-9F24-BAC9-C697-7021E554B61D}"/>
              </a:ext>
            </a:extLst>
          </p:cNvPr>
          <p:cNvSpPr/>
          <p:nvPr/>
        </p:nvSpPr>
        <p:spPr>
          <a:xfrm>
            <a:off x="7383079" y="4794220"/>
            <a:ext cx="144016" cy="848589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55486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82E4A4-4B4D-41BF-9F68-1575C742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353A2E-92EE-4F23-A078-2A07C43737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C4DE104-5DA1-4B88-B642-58DE3423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页表系统</a:t>
            </a: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9FB98FB3-625B-1981-5909-CDC208977DD3}"/>
              </a:ext>
            </a:extLst>
          </p:cNvPr>
          <p:cNvGrpSpPr/>
          <p:nvPr/>
        </p:nvGrpSpPr>
        <p:grpSpPr>
          <a:xfrm>
            <a:off x="637672" y="797428"/>
            <a:ext cx="2537493" cy="5593557"/>
            <a:chOff x="119336" y="632221"/>
            <a:chExt cx="2537493" cy="5593557"/>
          </a:xfrm>
        </p:grpSpPr>
        <p:sp>
          <p:nvSpPr>
            <p:cNvPr id="77" name="矩形 83">
              <a:extLst>
                <a:ext uri="{FF2B5EF4-FFF2-40B4-BE49-F238E27FC236}">
                  <a16:creationId xmlns:a16="http://schemas.microsoft.com/office/drawing/2014/main" id="{01612BA3-A3EA-FE9E-1C27-2E7F0FDCB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438" y="3974628"/>
              <a:ext cx="907527" cy="227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3G+1M</a:t>
              </a:r>
            </a:p>
          </p:txBody>
        </p:sp>
        <p:sp>
          <p:nvSpPr>
            <p:cNvPr id="78" name="矩形 83">
              <a:extLst>
                <a:ext uri="{FF2B5EF4-FFF2-40B4-BE49-F238E27FC236}">
                  <a16:creationId xmlns:a16="http://schemas.microsoft.com/office/drawing/2014/main" id="{99F4B1C2-880D-BFF8-6666-083B512CFD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056" y="4356990"/>
              <a:ext cx="1020960" cy="2420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3G+1.5M</a:t>
              </a:r>
            </a:p>
          </p:txBody>
        </p:sp>
        <p:sp>
          <p:nvSpPr>
            <p:cNvPr id="79" name="矩形 83">
              <a:extLst>
                <a:ext uri="{FF2B5EF4-FFF2-40B4-BE49-F238E27FC236}">
                  <a16:creationId xmlns:a16="http://schemas.microsoft.com/office/drawing/2014/main" id="{B2607093-C08B-0129-255F-03AB69B8B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24" y="4755427"/>
              <a:ext cx="907527" cy="227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3G+2M</a:t>
              </a:r>
            </a:p>
          </p:txBody>
        </p:sp>
        <p:grpSp>
          <p:nvGrpSpPr>
            <p:cNvPr id="80" name="组合 154">
              <a:extLst>
                <a:ext uri="{FF2B5EF4-FFF2-40B4-BE49-F238E27FC236}">
                  <a16:creationId xmlns:a16="http://schemas.microsoft.com/office/drawing/2014/main" id="{FADA5135-579F-4E1C-706B-204914BD8FEF}"/>
                </a:ext>
              </a:extLst>
            </p:cNvPr>
            <p:cNvGrpSpPr/>
            <p:nvPr/>
          </p:nvGrpSpPr>
          <p:grpSpPr>
            <a:xfrm>
              <a:off x="119336" y="632221"/>
              <a:ext cx="2537493" cy="5593557"/>
              <a:chOff x="-233782" y="836712"/>
              <a:chExt cx="2537493" cy="5593557"/>
            </a:xfrm>
          </p:grpSpPr>
          <p:grpSp>
            <p:nvGrpSpPr>
              <p:cNvPr id="81" name="组合 7">
                <a:extLst>
                  <a:ext uri="{FF2B5EF4-FFF2-40B4-BE49-F238E27FC236}">
                    <a16:creationId xmlns:a16="http://schemas.microsoft.com/office/drawing/2014/main" id="{B4A70305-E536-C926-C774-5E08F629B0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1773" y="836712"/>
                <a:ext cx="1531938" cy="5484937"/>
                <a:chOff x="1244518" y="931129"/>
                <a:chExt cx="1532942" cy="5484953"/>
              </a:xfrm>
            </p:grpSpPr>
            <p:grpSp>
              <p:nvGrpSpPr>
                <p:cNvPr id="86" name="组合 6">
                  <a:extLst>
                    <a:ext uri="{FF2B5EF4-FFF2-40B4-BE49-F238E27FC236}">
                      <a16:creationId xmlns:a16="http://schemas.microsoft.com/office/drawing/2014/main" id="{44FAA9FF-55F6-497C-2BCD-270EEA8DA53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08059" y="3956058"/>
                  <a:ext cx="1469401" cy="2460024"/>
                  <a:chOff x="3535262" y="1401025"/>
                  <a:chExt cx="1469401" cy="2460024"/>
                </a:xfrm>
              </p:grpSpPr>
              <p:sp>
                <p:nvSpPr>
                  <p:cNvPr id="96" name="矩形 95">
                    <a:extLst>
                      <a:ext uri="{FF2B5EF4-FFF2-40B4-BE49-F238E27FC236}">
                        <a16:creationId xmlns:a16="http://schemas.microsoft.com/office/drawing/2014/main" id="{07B4C9F2-75A4-B540-9843-40EECCA2E906}"/>
                      </a:ext>
                    </a:extLst>
                  </p:cNvPr>
                  <p:cNvSpPr/>
                  <p:nvPr/>
                </p:nvSpPr>
                <p:spPr>
                  <a:xfrm>
                    <a:off x="3549125" y="1401025"/>
                    <a:ext cx="1437630" cy="2460024"/>
                  </a:xfrm>
                  <a:prstGeom prst="rect">
                    <a:avLst/>
                  </a:prstGeom>
                  <a:solidFill>
                    <a:srgbClr val="00B050"/>
                  </a:solidFill>
                  <a:effectLst/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endParaRPr lang="en-US" altLang="zh-CN" sz="20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97" name="直接箭头连接符 96">
                    <a:extLst>
                      <a:ext uri="{FF2B5EF4-FFF2-40B4-BE49-F238E27FC236}">
                        <a16:creationId xmlns:a16="http://schemas.microsoft.com/office/drawing/2014/main" id="{FAB7E796-12F0-442F-55BC-F11E6FE07DB1}"/>
                      </a:ext>
                    </a:extLst>
                  </p:cNvPr>
                  <p:cNvCxnSpPr/>
                  <p:nvPr/>
                </p:nvCxnSpPr>
                <p:spPr>
                  <a:xfrm>
                    <a:off x="3563856" y="1862397"/>
                    <a:ext cx="1440807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98" name="直接箭头连接符 97">
                    <a:extLst>
                      <a:ext uri="{FF2B5EF4-FFF2-40B4-BE49-F238E27FC236}">
                        <a16:creationId xmlns:a16="http://schemas.microsoft.com/office/drawing/2014/main" id="{2602476E-2DF4-78A3-C40F-2CFA8A17D2F7}"/>
                      </a:ext>
                    </a:extLst>
                  </p:cNvPr>
                  <p:cNvCxnSpPr/>
                  <p:nvPr/>
                </p:nvCxnSpPr>
                <p:spPr>
                  <a:xfrm>
                    <a:off x="3537101" y="2230374"/>
                    <a:ext cx="1440558" cy="75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99" name="直接箭头连接符 98">
                    <a:extLst>
                      <a:ext uri="{FF2B5EF4-FFF2-40B4-BE49-F238E27FC236}">
                        <a16:creationId xmlns:a16="http://schemas.microsoft.com/office/drawing/2014/main" id="{42E2B389-5BED-08D0-70F2-0E4F3EE28D0D}"/>
                      </a:ext>
                    </a:extLst>
                  </p:cNvPr>
                  <p:cNvCxnSpPr/>
                  <p:nvPr/>
                </p:nvCxnSpPr>
                <p:spPr>
                  <a:xfrm>
                    <a:off x="3551399" y="2612821"/>
                    <a:ext cx="1426261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100" name="矩形 96">
                    <a:extLst>
                      <a:ext uri="{FF2B5EF4-FFF2-40B4-BE49-F238E27FC236}">
                        <a16:creationId xmlns:a16="http://schemas.microsoft.com/office/drawing/2014/main" id="{01D9FB7B-C476-A3C8-381F-50FA55304D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43594" y="1508767"/>
                    <a:ext cx="1045783" cy="240040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保留区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1" name="矩形 98">
                    <a:extLst>
                      <a:ext uri="{FF2B5EF4-FFF2-40B4-BE49-F238E27FC236}">
                        <a16:creationId xmlns:a16="http://schemas.microsoft.com/office/drawing/2014/main" id="{B3AE625F-B67D-9842-86F9-B148FCA781E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69553" y="1966319"/>
                    <a:ext cx="1117790" cy="198407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内核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102" name="直接箭头连接符 101">
                    <a:extLst>
                      <a:ext uri="{FF2B5EF4-FFF2-40B4-BE49-F238E27FC236}">
                        <a16:creationId xmlns:a16="http://schemas.microsoft.com/office/drawing/2014/main" id="{CC86AA37-EE26-7F59-DB3B-6611039ECAF1}"/>
                      </a:ext>
                    </a:extLst>
                  </p:cNvPr>
                  <p:cNvCxnSpPr/>
                  <p:nvPr/>
                </p:nvCxnSpPr>
                <p:spPr>
                  <a:xfrm>
                    <a:off x="3535262" y="3500686"/>
                    <a:ext cx="1442397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103" name="矩形 105">
                    <a:extLst>
                      <a:ext uri="{FF2B5EF4-FFF2-40B4-BE49-F238E27FC236}">
                        <a16:creationId xmlns:a16="http://schemas.microsoft.com/office/drawing/2014/main" id="{F4F8D36F-6644-ED53-6A72-70F52CD608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568020" y="2239583"/>
                    <a:ext cx="1357035" cy="373238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0" rIns="0"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内核堆对象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4" name="矩形 110">
                    <a:extLst>
                      <a:ext uri="{FF2B5EF4-FFF2-40B4-BE49-F238E27FC236}">
                        <a16:creationId xmlns:a16="http://schemas.microsoft.com/office/drawing/2014/main" id="{8950FC1D-F552-06F9-D44A-4EDC16B64D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55881" y="2900110"/>
                    <a:ext cx="1185607" cy="348956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页表区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5" name="矩形 111">
                    <a:extLst>
                      <a:ext uri="{FF2B5EF4-FFF2-40B4-BE49-F238E27FC236}">
                        <a16:creationId xmlns:a16="http://schemas.microsoft.com/office/drawing/2014/main" id="{0BF58BFF-32B0-C5A2-3712-13833A8D20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55881" y="3573016"/>
                    <a:ext cx="1185607" cy="216836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en-US" altLang="zh-CN" sz="1600" kern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PPDA</a:t>
                    </a:r>
                  </a:p>
                </p:txBody>
              </p:sp>
            </p:grpSp>
            <p:grpSp>
              <p:nvGrpSpPr>
                <p:cNvPr id="87" name="组合 5">
                  <a:extLst>
                    <a:ext uri="{FF2B5EF4-FFF2-40B4-BE49-F238E27FC236}">
                      <a16:creationId xmlns:a16="http://schemas.microsoft.com/office/drawing/2014/main" id="{DDC0DD60-C451-7C40-52E0-2E9A1F2A37A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44518" y="1248755"/>
                  <a:ext cx="1509582" cy="1981997"/>
                  <a:chOff x="2911404" y="2986958"/>
                  <a:chExt cx="1509582" cy="1981997"/>
                </a:xfrm>
              </p:grpSpPr>
              <p:sp>
                <p:nvSpPr>
                  <p:cNvPr id="89" name="矩形 88">
                    <a:extLst>
                      <a:ext uri="{FF2B5EF4-FFF2-40B4-BE49-F238E27FC236}">
                        <a16:creationId xmlns:a16="http://schemas.microsoft.com/office/drawing/2014/main" id="{EC9FE9D9-27EC-3CC9-FF8D-C1B051268294}"/>
                      </a:ext>
                    </a:extLst>
                  </p:cNvPr>
                  <p:cNvSpPr/>
                  <p:nvPr/>
                </p:nvSpPr>
                <p:spPr>
                  <a:xfrm>
                    <a:off x="2983357" y="2986958"/>
                    <a:ext cx="1437629" cy="1981997"/>
                  </a:xfrm>
                  <a:prstGeom prst="rect">
                    <a:avLst/>
                  </a:prstGeom>
                  <a:solidFill>
                    <a:srgbClr val="00B050"/>
                  </a:solidFill>
                  <a:effectLst/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endParaRPr lang="en-US" altLang="zh-CN" sz="20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90" name="直接箭头连接符 89">
                    <a:extLst>
                      <a:ext uri="{FF2B5EF4-FFF2-40B4-BE49-F238E27FC236}">
                        <a16:creationId xmlns:a16="http://schemas.microsoft.com/office/drawing/2014/main" id="{8C09E11B-1FF7-2217-1FE8-64E7090CE097}"/>
                      </a:ext>
                    </a:extLst>
                  </p:cNvPr>
                  <p:cNvCxnSpPr/>
                  <p:nvPr/>
                </p:nvCxnSpPr>
                <p:spPr>
                  <a:xfrm>
                    <a:off x="2911404" y="3366758"/>
                    <a:ext cx="1497994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91" name="矩形 62">
                    <a:extLst>
                      <a:ext uri="{FF2B5EF4-FFF2-40B4-BE49-F238E27FC236}">
                        <a16:creationId xmlns:a16="http://schemas.microsoft.com/office/drawing/2014/main" id="{7DEE31A1-B6B1-2AB6-644E-14D9FB09394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69718" y="3004503"/>
                    <a:ext cx="1045783" cy="334527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代码段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92" name="矩形 63">
                    <a:extLst>
                      <a:ext uri="{FF2B5EF4-FFF2-40B4-BE49-F238E27FC236}">
                        <a16:creationId xmlns:a16="http://schemas.microsoft.com/office/drawing/2014/main" id="{A86D96A0-E794-F900-74CB-443A3F4442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83277" y="3498186"/>
                    <a:ext cx="1045783" cy="426894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数据段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93" name="矩形 92">
                    <a:extLst>
                      <a:ext uri="{FF2B5EF4-FFF2-40B4-BE49-F238E27FC236}">
                        <a16:creationId xmlns:a16="http://schemas.microsoft.com/office/drawing/2014/main" id="{35718268-7047-125A-F6B7-33A58BB586E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84731" y="4596457"/>
                    <a:ext cx="1045783" cy="322836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堆栈段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94" name="矩形 82">
                    <a:extLst>
                      <a:ext uri="{FF2B5EF4-FFF2-40B4-BE49-F238E27FC236}">
                        <a16:creationId xmlns:a16="http://schemas.microsoft.com/office/drawing/2014/main" id="{BBBAFB8C-12CE-C258-4301-BA763F7A1F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71768" y="4097654"/>
                    <a:ext cx="1438028" cy="485909"/>
                  </a:xfrm>
                  <a:prstGeom prst="rect">
                    <a:avLst/>
                  </a:prstGeom>
                  <a:pattFill prst="dkUpDiag">
                    <a:fgClr>
                      <a:srgbClr val="00B050"/>
                    </a:fgClr>
                    <a:bgClr>
                      <a:sysClr val="window" lastClr="FFFFFF"/>
                    </a:bgClr>
                  </a:patt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endParaRPr lang="en-US" altLang="zh-CN" sz="2000" kern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95" name="直接箭头连接符 94">
                    <a:extLst>
                      <a:ext uri="{FF2B5EF4-FFF2-40B4-BE49-F238E27FC236}">
                        <a16:creationId xmlns:a16="http://schemas.microsoft.com/office/drawing/2014/main" id="{DA0B9ADD-A376-426B-B3F0-47337B7B72DC}"/>
                      </a:ext>
                    </a:extLst>
                  </p:cNvPr>
                  <p:cNvCxnSpPr/>
                  <p:nvPr/>
                </p:nvCxnSpPr>
                <p:spPr>
                  <a:xfrm>
                    <a:off x="2911404" y="4087098"/>
                    <a:ext cx="1497994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88" name="矩形 87">
                  <a:extLst>
                    <a:ext uri="{FF2B5EF4-FFF2-40B4-BE49-F238E27FC236}">
                      <a16:creationId xmlns:a16="http://schemas.microsoft.com/office/drawing/2014/main" id="{B5D892B2-8216-2784-9573-87A761F21BE8}"/>
                    </a:ext>
                  </a:extLst>
                </p:cNvPr>
                <p:cNvSpPr/>
                <p:nvPr/>
              </p:nvSpPr>
              <p:spPr>
                <a:xfrm>
                  <a:off x="1304883" y="931129"/>
                  <a:ext cx="1456692" cy="5484953"/>
                </a:xfrm>
                <a:prstGeom prst="rect">
                  <a:avLst/>
                </a:prstGeom>
                <a:noFill/>
                <a:ln w="19050" cap="flat" cmpd="sng" algn="ctr">
                  <a:solidFill>
                    <a:srgbClr val="008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2" name="矩形 224">
                <a:extLst>
                  <a:ext uri="{FF2B5EF4-FFF2-40B4-BE49-F238E27FC236}">
                    <a16:creationId xmlns:a16="http://schemas.microsoft.com/office/drawing/2014/main" id="{6B3A0342-4168-76C9-EF56-0C606EF077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3680" y="1071785"/>
                <a:ext cx="907527" cy="2286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>
                  <a:defRPr/>
                </a:pPr>
                <a:r>
                  <a:rPr lang="en-US" altLang="zh-CN" sz="1400" kern="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4M+4K</a:t>
                </a:r>
              </a:p>
            </p:txBody>
          </p:sp>
          <p:sp>
            <p:nvSpPr>
              <p:cNvPr id="83" name="矩形 227">
                <a:extLst>
                  <a:ext uri="{FF2B5EF4-FFF2-40B4-BE49-F238E27FC236}">
                    <a16:creationId xmlns:a16="http://schemas.microsoft.com/office/drawing/2014/main" id="{8C880805-5CBF-93B6-2443-C422C4B541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807" y="3025654"/>
                <a:ext cx="846349" cy="2333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>
                  <a:defRPr/>
                </a:pPr>
                <a:r>
                  <a:rPr lang="en-US" altLang="zh-CN" sz="1400" kern="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8M-1</a:t>
                </a:r>
              </a:p>
            </p:txBody>
          </p:sp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3A1D5CAF-32B4-8324-EE5A-5D230D54F7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339" y="3775670"/>
                <a:ext cx="608012" cy="2270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40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3G</a:t>
                </a:r>
              </a:p>
            </p:txBody>
          </p:sp>
          <p:sp>
            <p:nvSpPr>
              <p:cNvPr id="85" name="矩形 109">
                <a:extLst>
                  <a:ext uri="{FF2B5EF4-FFF2-40B4-BE49-F238E27FC236}">
                    <a16:creationId xmlns:a16="http://schemas.microsoft.com/office/drawing/2014/main" id="{FAE6B5B3-48C5-23C0-9126-D7309E5C3D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33782" y="6081313"/>
                <a:ext cx="1184830" cy="3489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40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3G+4M-1</a:t>
                </a:r>
              </a:p>
            </p:txBody>
          </p:sp>
        </p:grpSp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9E1FB41A-5093-B4BC-6FEF-8BB5DF15C9B4}"/>
              </a:ext>
            </a:extLst>
          </p:cNvPr>
          <p:cNvGrpSpPr/>
          <p:nvPr/>
        </p:nvGrpSpPr>
        <p:grpSpPr>
          <a:xfrm>
            <a:off x="3749753" y="874507"/>
            <a:ext cx="2492598" cy="5407858"/>
            <a:chOff x="9336360" y="685438"/>
            <a:chExt cx="2492598" cy="5407858"/>
          </a:xfrm>
        </p:grpSpPr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D6FD0E61-8AA2-6100-348C-A71C6D696AE9}"/>
                </a:ext>
              </a:extLst>
            </p:cNvPr>
            <p:cNvSpPr/>
            <p:nvPr/>
          </p:nvSpPr>
          <p:spPr>
            <a:xfrm>
              <a:off x="9336360" y="843434"/>
              <a:ext cx="1511300" cy="530225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保留区</a:t>
              </a:r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FF669A26-143D-AD49-1995-56A90807434C}"/>
                </a:ext>
              </a:extLst>
            </p:cNvPr>
            <p:cNvSpPr/>
            <p:nvPr/>
          </p:nvSpPr>
          <p:spPr>
            <a:xfrm>
              <a:off x="9336360" y="1396007"/>
              <a:ext cx="1511300" cy="331787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内核</a:t>
              </a: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01B9289D-B3FE-B817-43D9-237E58E0B3C3}"/>
                </a:ext>
              </a:extLst>
            </p:cNvPr>
            <p:cNvSpPr/>
            <p:nvPr/>
          </p:nvSpPr>
          <p:spPr>
            <a:xfrm>
              <a:off x="9336360" y="1754742"/>
              <a:ext cx="1511300" cy="331788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内核堆对象</a:t>
              </a:r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2C6A8820-4D1B-8A02-52FB-5E2EA80D757B}"/>
                </a:ext>
              </a:extLst>
            </p:cNvPr>
            <p:cNvSpPr/>
            <p:nvPr/>
          </p:nvSpPr>
          <p:spPr>
            <a:xfrm>
              <a:off x="9336360" y="2099142"/>
              <a:ext cx="1511300" cy="878026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页表区</a:t>
              </a:r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6B93BF43-1F1A-D273-5885-00DF378DDC36}"/>
                </a:ext>
              </a:extLst>
            </p:cNvPr>
            <p:cNvSpPr/>
            <p:nvPr/>
          </p:nvSpPr>
          <p:spPr>
            <a:xfrm>
              <a:off x="9341122" y="3104034"/>
              <a:ext cx="1508124" cy="2989262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用户区</a:t>
              </a:r>
            </a:p>
          </p:txBody>
        </p:sp>
        <p:sp>
          <p:nvSpPr>
            <p:cNvPr id="112" name="矩形 47">
              <a:extLst>
                <a:ext uri="{FF2B5EF4-FFF2-40B4-BE49-F238E27FC236}">
                  <a16:creationId xmlns:a16="http://schemas.microsoft.com/office/drawing/2014/main" id="{272B2F6F-68A9-0EA8-96CA-624DE5F65A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0965" y="685438"/>
              <a:ext cx="690562" cy="338361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113" name="矩形 49">
              <a:extLst>
                <a:ext uri="{FF2B5EF4-FFF2-40B4-BE49-F238E27FC236}">
                  <a16:creationId xmlns:a16="http://schemas.microsoft.com/office/drawing/2014/main" id="{884578A6-6C31-6DA8-3BA5-FDDAD9880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9892" y="1210650"/>
              <a:ext cx="690562" cy="4349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1M</a:t>
              </a:r>
            </a:p>
          </p:txBody>
        </p:sp>
        <p:sp>
          <p:nvSpPr>
            <p:cNvPr id="114" name="矩形 39">
              <a:extLst>
                <a:ext uri="{FF2B5EF4-FFF2-40B4-BE49-F238E27FC236}">
                  <a16:creationId xmlns:a16="http://schemas.microsoft.com/office/drawing/2014/main" id="{F2C9BA4B-9EEF-6DE1-275F-A463F2F35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1750" y="1595450"/>
              <a:ext cx="865187" cy="3206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1.5M</a:t>
              </a:r>
            </a:p>
          </p:txBody>
        </p:sp>
        <p:sp>
          <p:nvSpPr>
            <p:cNvPr id="115" name="矩形 41">
              <a:extLst>
                <a:ext uri="{FF2B5EF4-FFF2-40B4-BE49-F238E27FC236}">
                  <a16:creationId xmlns:a16="http://schemas.microsoft.com/office/drawing/2014/main" id="{76AB1974-BF2D-B6FA-F024-213BE4825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1750" y="1901782"/>
              <a:ext cx="865187" cy="4349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2M</a:t>
              </a:r>
            </a:p>
          </p:txBody>
        </p:sp>
        <p:sp>
          <p:nvSpPr>
            <p:cNvPr id="116" name="矩形 43">
              <a:extLst>
                <a:ext uri="{FF2B5EF4-FFF2-40B4-BE49-F238E27FC236}">
                  <a16:creationId xmlns:a16="http://schemas.microsoft.com/office/drawing/2014/main" id="{EC886D0A-D8D0-B573-3922-81CE21F5C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1448" y="2889181"/>
              <a:ext cx="1017510" cy="4349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4M</a:t>
              </a:r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86835D63-52C1-EBF5-F2B7-44F624F10700}"/>
                </a:ext>
              </a:extLst>
            </p:cNvPr>
            <p:cNvSpPr/>
            <p:nvPr/>
          </p:nvSpPr>
          <p:spPr>
            <a:xfrm>
              <a:off x="9336360" y="845021"/>
              <a:ext cx="1511300" cy="5248275"/>
            </a:xfrm>
            <a:prstGeom prst="rect">
              <a:avLst/>
            </a:prstGeom>
            <a:noFill/>
            <a:ln w="19050" cap="flat" cmpd="sng" algn="ctr">
              <a:solidFill>
                <a:srgbClr val="008000"/>
              </a:solidFill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1600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C72CF2B1-8776-B203-71DF-A8E7DAEA9CCD}"/>
              </a:ext>
            </a:extLst>
          </p:cNvPr>
          <p:cNvCxnSpPr>
            <a:cxnSpLocks/>
          </p:cNvCxnSpPr>
          <p:nvPr/>
        </p:nvCxnSpPr>
        <p:spPr>
          <a:xfrm flipH="1">
            <a:off x="3164052" y="2260076"/>
            <a:ext cx="574590" cy="2774065"/>
          </a:xfrm>
          <a:prstGeom prst="straightConnector1">
            <a:avLst/>
          </a:prstGeom>
          <a:noFill/>
          <a:ln w="12700" cap="flat" cmpd="sng" algn="ctr">
            <a:solidFill>
              <a:srgbClr val="008000"/>
            </a:solidFill>
            <a:prstDash val="solid"/>
            <a:headEnd type="triangle" w="med" len="lg"/>
            <a:tailEnd type="none" w="med" len="med"/>
          </a:ln>
          <a:effectLst/>
        </p:spPr>
      </p:cxn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F2E8D366-2F6A-6D64-B238-6EDFF2EB867F}"/>
              </a:ext>
            </a:extLst>
          </p:cNvPr>
          <p:cNvCxnSpPr>
            <a:cxnSpLocks/>
          </p:cNvCxnSpPr>
          <p:nvPr/>
        </p:nvCxnSpPr>
        <p:spPr>
          <a:xfrm flipH="1">
            <a:off x="3165675" y="3166237"/>
            <a:ext cx="595188" cy="2755766"/>
          </a:xfrm>
          <a:prstGeom prst="straightConnector1">
            <a:avLst/>
          </a:prstGeom>
          <a:noFill/>
          <a:ln w="12700" cap="flat" cmpd="sng" algn="ctr">
            <a:solidFill>
              <a:srgbClr val="008000"/>
            </a:solidFill>
            <a:prstDash val="solid"/>
            <a:headEnd type="triangle" w="med" len="lg"/>
            <a:tailEnd type="none" w="med" len="med"/>
          </a:ln>
          <a:effectLst/>
        </p:spPr>
      </p:cxnSp>
      <p:sp>
        <p:nvSpPr>
          <p:cNvPr id="168" name="Rectangle 4">
            <a:extLst>
              <a:ext uri="{FF2B5EF4-FFF2-40B4-BE49-F238E27FC236}">
                <a16:creationId xmlns:a16="http://schemas.microsoft.com/office/drawing/2014/main" id="{60CA974C-1E35-3437-1DCE-51D492D1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29" y="2715812"/>
            <a:ext cx="244012" cy="142637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wrap="square" tIns="0" bIns="0" anchor="ctr" anchorCtr="1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页表的构成</a:t>
            </a:r>
          </a:p>
        </p:txBody>
      </p:sp>
      <p:sp>
        <p:nvSpPr>
          <p:cNvPr id="8" name="矩形 72">
            <a:extLst>
              <a:ext uri="{FF2B5EF4-FFF2-40B4-BE49-F238E27FC236}">
                <a16:creationId xmlns:a16="http://schemas.microsoft.com/office/drawing/2014/main" id="{F0833D31-948F-EB13-0D72-C9F5FE43A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413" y="940393"/>
            <a:ext cx="1979613" cy="358775"/>
          </a:xfrm>
          <a:prstGeom prst="rect">
            <a:avLst/>
          </a:prstGeom>
          <a:gradFill rotWithShape="1">
            <a:gsLst>
              <a:gs pos="0">
                <a:srgbClr val="8B4F00"/>
              </a:gs>
              <a:gs pos="50000">
                <a:srgbClr val="C97500"/>
              </a:gs>
              <a:gs pos="100000">
                <a:srgbClr val="EF8C00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 latinLnBrk="1">
              <a:defRPr/>
            </a:pPr>
            <a:r>
              <a:rPr kumimoji="1" lang="en-US" altLang="zh-CN" sz="16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Table 768#</a:t>
            </a:r>
            <a:endParaRPr kumimoji="1"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4239AD3-F1EE-A6E9-0049-7E0FF094E32B}"/>
              </a:ext>
            </a:extLst>
          </p:cNvPr>
          <p:cNvCxnSpPr>
            <a:cxnSpLocks/>
          </p:cNvCxnSpPr>
          <p:nvPr/>
        </p:nvCxnSpPr>
        <p:spPr>
          <a:xfrm flipH="1">
            <a:off x="5254358" y="936397"/>
            <a:ext cx="873647" cy="1377530"/>
          </a:xfrm>
          <a:prstGeom prst="straightConnector1">
            <a:avLst/>
          </a:prstGeom>
          <a:noFill/>
          <a:ln w="19050" cap="flat" cmpd="sng" algn="ctr">
            <a:solidFill>
              <a:srgbClr val="008000"/>
            </a:solidFill>
            <a:prstDash val="dash"/>
            <a:headEnd type="none" w="med" len="med"/>
            <a:tailEnd type="none" w="med" len="med"/>
          </a:ln>
          <a:effectLst/>
        </p:spPr>
      </p:cxnSp>
      <p:sp>
        <p:nvSpPr>
          <p:cNvPr id="10" name="矩形 81">
            <a:extLst>
              <a:ext uri="{FF2B5EF4-FFF2-40B4-BE49-F238E27FC236}">
                <a16:creationId xmlns:a16="http://schemas.microsoft.com/office/drawing/2014/main" id="{A05DD484-5926-5D80-796C-B92D9C4C8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9201" y="1299934"/>
            <a:ext cx="1344612" cy="43497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altLang="zh-CN" sz="1400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0x201</a:t>
            </a:r>
            <a:r>
              <a:rPr lang="zh-CN" altLang="en-US" sz="1400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号</a:t>
            </a: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页框</a:t>
            </a:r>
            <a:endParaRPr lang="en-US" altLang="zh-CN" sz="14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1" name="矩形 86">
            <a:extLst>
              <a:ext uri="{FF2B5EF4-FFF2-40B4-BE49-F238E27FC236}">
                <a16:creationId xmlns:a16="http://schemas.microsoft.com/office/drawing/2014/main" id="{C8E9A779-8DB8-1C49-5E33-AD66BB949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413" y="1315043"/>
            <a:ext cx="1979613" cy="361950"/>
          </a:xfrm>
          <a:prstGeom prst="rect">
            <a:avLst/>
          </a:prstGeom>
          <a:gradFill rotWithShape="1">
            <a:gsLst>
              <a:gs pos="0">
                <a:srgbClr val="8B4F00"/>
              </a:gs>
              <a:gs pos="50000">
                <a:srgbClr val="C97500"/>
              </a:gs>
              <a:gs pos="100000">
                <a:srgbClr val="EF8C00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 latinLnBrk="1">
              <a:defRPr/>
            </a:pPr>
            <a:r>
              <a:rPr kumimoji="1" lang="en-US" altLang="zh-CN" sz="16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Table 0#</a:t>
            </a:r>
            <a:endParaRPr kumimoji="1"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88">
            <a:extLst>
              <a:ext uri="{FF2B5EF4-FFF2-40B4-BE49-F238E27FC236}">
                <a16:creationId xmlns:a16="http://schemas.microsoft.com/office/drawing/2014/main" id="{CDC08018-D09A-0446-47B3-251F03923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413" y="2104797"/>
            <a:ext cx="1979613" cy="342900"/>
          </a:xfrm>
          <a:prstGeom prst="rect">
            <a:avLst/>
          </a:prstGeom>
          <a:gradFill rotWithShape="1">
            <a:gsLst>
              <a:gs pos="0">
                <a:srgbClr val="8B4F00"/>
              </a:gs>
              <a:gs pos="50000">
                <a:srgbClr val="C97500"/>
              </a:gs>
              <a:gs pos="100000">
                <a:srgbClr val="EF8C00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 latinLnBrk="1">
              <a:defRPr/>
            </a:pPr>
            <a:r>
              <a:rPr kumimoji="1" lang="en-US" altLang="zh-CN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Table 1#</a:t>
            </a:r>
            <a:endParaRPr kumimoji="1"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7CDFDB1-F91B-68D4-2DBE-4290291D98D6}"/>
              </a:ext>
            </a:extLst>
          </p:cNvPr>
          <p:cNvCxnSpPr>
            <a:cxnSpLocks/>
          </p:cNvCxnSpPr>
          <p:nvPr/>
        </p:nvCxnSpPr>
        <p:spPr>
          <a:xfrm flipH="1" flipV="1">
            <a:off x="5261053" y="3155504"/>
            <a:ext cx="834947" cy="1065584"/>
          </a:xfrm>
          <a:prstGeom prst="straightConnector1">
            <a:avLst/>
          </a:prstGeom>
          <a:noFill/>
          <a:ln w="19050" cap="flat" cmpd="sng" algn="ctr">
            <a:solidFill>
              <a:srgbClr val="008000"/>
            </a:solidFill>
            <a:prstDash val="dash"/>
            <a:headEnd type="none" w="med" len="med"/>
            <a:tailEnd type="none" w="med" len="med"/>
          </a:ln>
          <a:effectLst/>
        </p:spPr>
      </p:cxnSp>
      <p:sp>
        <p:nvSpPr>
          <p:cNvPr id="16" name="矩形 109">
            <a:extLst>
              <a:ext uri="{FF2B5EF4-FFF2-40B4-BE49-F238E27FC236}">
                <a16:creationId xmlns:a16="http://schemas.microsoft.com/office/drawing/2014/main" id="{F2287899-AAC5-35C3-6D39-D36158652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413" y="2468333"/>
            <a:ext cx="1979613" cy="342900"/>
          </a:xfrm>
          <a:prstGeom prst="rect">
            <a:avLst/>
          </a:prstGeom>
          <a:solidFill>
            <a:srgbClr val="8F45C7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r" latinLnBrk="1">
              <a:defRPr/>
            </a:pPr>
            <a:r>
              <a:rPr kumimoji="1" lang="en-US" altLang="zh-CN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Directory</a:t>
            </a:r>
            <a:endParaRPr kumimoji="1"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12">
            <a:extLst>
              <a:ext uri="{FF2B5EF4-FFF2-40B4-BE49-F238E27FC236}">
                <a16:creationId xmlns:a16="http://schemas.microsoft.com/office/drawing/2014/main" id="{05E330B3-98AD-0558-F5CA-36D204353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413" y="2827108"/>
            <a:ext cx="1979613" cy="342900"/>
          </a:xfrm>
          <a:prstGeom prst="rect">
            <a:avLst/>
          </a:prstGeom>
          <a:gradFill rotWithShape="1">
            <a:gsLst>
              <a:gs pos="0">
                <a:srgbClr val="8B4F00"/>
              </a:gs>
              <a:gs pos="50000">
                <a:srgbClr val="C97500"/>
              </a:gs>
              <a:gs pos="100000">
                <a:srgbClr val="EF8C00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 latinLnBrk="1">
              <a:defRPr/>
            </a:pPr>
            <a:r>
              <a:rPr kumimoji="1" lang="en-US" altLang="zh-CN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Table 1#</a:t>
            </a:r>
            <a:endParaRPr kumimoji="1"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14">
            <a:extLst>
              <a:ext uri="{FF2B5EF4-FFF2-40B4-BE49-F238E27FC236}">
                <a16:creationId xmlns:a16="http://schemas.microsoft.com/office/drawing/2014/main" id="{8DBC2632-D23B-F00A-3A9D-AEEEF46E3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413" y="3187470"/>
            <a:ext cx="1979613" cy="342900"/>
          </a:xfrm>
          <a:prstGeom prst="rect">
            <a:avLst/>
          </a:prstGeom>
          <a:solidFill>
            <a:srgbClr val="8F45C7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r" latinLnBrk="1"/>
            <a:r>
              <a:rPr kumimoji="1" lang="en-US" altLang="zh-CN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Directory</a:t>
            </a:r>
            <a:endParaRPr kumimoji="1"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3">
            <a:extLst>
              <a:ext uri="{FF2B5EF4-FFF2-40B4-BE49-F238E27FC236}">
                <a16:creationId xmlns:a16="http://schemas.microsoft.com/office/drawing/2014/main" id="{243D8A24-811A-24DC-8253-5748916A2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2683" y="1412174"/>
            <a:ext cx="2238088" cy="712788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所有进程的核心页表和</a:t>
            </a:r>
            <a:r>
              <a:rPr lang="en-US" altLang="zh-CN" sz="20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0#</a:t>
            </a:r>
            <a:r>
              <a:rPr lang="zh-CN" altLang="en-US" sz="20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用户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页表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4966FBA-11E5-680B-E6CE-8BE4E0C50EEA}"/>
              </a:ext>
            </a:extLst>
          </p:cNvPr>
          <p:cNvSpPr/>
          <p:nvPr/>
        </p:nvSpPr>
        <p:spPr>
          <a:xfrm>
            <a:off x="5654926" y="829756"/>
            <a:ext cx="3798887" cy="916266"/>
          </a:xfrm>
          <a:prstGeom prst="rect">
            <a:avLst/>
          </a:prstGeom>
          <a:noFill/>
          <a:ln w="19050" cap="flat" cmpd="sng" algn="ctr">
            <a:solidFill>
              <a:srgbClr val="DF890B"/>
            </a:solidFill>
            <a:prstDash val="dash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75">
            <a:extLst>
              <a:ext uri="{FF2B5EF4-FFF2-40B4-BE49-F238E27FC236}">
                <a16:creationId xmlns:a16="http://schemas.microsoft.com/office/drawing/2014/main" id="{7F364B2E-6B2E-3ACF-8610-74F71FD09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4109" y="955974"/>
            <a:ext cx="1347787" cy="433387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altLang="zh-CN" sz="1400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0x200</a:t>
            </a:r>
            <a:r>
              <a:rPr lang="zh-CN" altLang="en-US" sz="1400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号</a:t>
            </a: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页框</a:t>
            </a:r>
            <a:endParaRPr lang="en-US" altLang="zh-CN" sz="14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21" name="矩形 77">
            <a:extLst>
              <a:ext uri="{FF2B5EF4-FFF2-40B4-BE49-F238E27FC236}">
                <a16:creationId xmlns:a16="http://schemas.microsoft.com/office/drawing/2014/main" id="{0554689D-65BE-552E-0F0A-0127F0000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251" y="1688693"/>
            <a:ext cx="1979613" cy="403225"/>
          </a:xfrm>
          <a:prstGeom prst="rect">
            <a:avLst/>
          </a:prstGeom>
          <a:solidFill>
            <a:srgbClr val="8F45C7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r" latinLnBrk="1">
              <a:defRPr/>
            </a:pPr>
            <a:r>
              <a:rPr kumimoji="1" lang="en-US" altLang="zh-CN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Directory</a:t>
            </a:r>
            <a:endParaRPr kumimoji="1"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112">
            <a:extLst>
              <a:ext uri="{FF2B5EF4-FFF2-40B4-BE49-F238E27FC236}">
                <a16:creationId xmlns:a16="http://schemas.microsoft.com/office/drawing/2014/main" id="{F1868CD8-1CFB-BE84-4318-820D94C46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0187" y="3550982"/>
            <a:ext cx="1979613" cy="342900"/>
          </a:xfrm>
          <a:prstGeom prst="rect">
            <a:avLst/>
          </a:prstGeom>
          <a:gradFill rotWithShape="1">
            <a:gsLst>
              <a:gs pos="0">
                <a:srgbClr val="8B4F00"/>
              </a:gs>
              <a:gs pos="50000">
                <a:srgbClr val="C97500"/>
              </a:gs>
              <a:gs pos="100000">
                <a:srgbClr val="EF8C00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 latinLnBrk="1">
              <a:defRPr/>
            </a:pPr>
            <a:r>
              <a:rPr kumimoji="1" lang="en-US" altLang="zh-CN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Table 1#</a:t>
            </a:r>
            <a:endParaRPr kumimoji="1"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29C7ED9-C1FA-EF24-627B-893D45147CCB}"/>
              </a:ext>
            </a:extLst>
          </p:cNvPr>
          <p:cNvSpPr/>
          <p:nvPr/>
        </p:nvSpPr>
        <p:spPr>
          <a:xfrm>
            <a:off x="5893847" y="2446175"/>
            <a:ext cx="2362393" cy="720594"/>
          </a:xfrm>
          <a:prstGeom prst="rect">
            <a:avLst/>
          </a:prstGeom>
          <a:solidFill>
            <a:sysClr val="window" lastClr="FFFFFF">
              <a:lumMod val="50000"/>
              <a:alpha val="24000"/>
            </a:sysClr>
          </a:solidFill>
          <a:ln w="12700" cap="flat" cmpd="sng" algn="ctr">
            <a:solidFill>
              <a:sysClr val="windowText" lastClr="000000"/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矩形 97">
            <a:extLst>
              <a:ext uri="{FF2B5EF4-FFF2-40B4-BE49-F238E27FC236}">
                <a16:creationId xmlns:a16="http://schemas.microsoft.com/office/drawing/2014/main" id="{62B519EE-6BC8-D166-026E-4F1B7B2A0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8592" y="2639783"/>
            <a:ext cx="1861864" cy="457259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每个进程自己的页目录和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1#</a:t>
            </a:r>
            <a:r>
              <a:rPr lang="zh-CN" altLang="en-US" sz="1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用户页表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32" name="矩形 97">
            <a:extLst>
              <a:ext uri="{FF2B5EF4-FFF2-40B4-BE49-F238E27FC236}">
                <a16:creationId xmlns:a16="http://schemas.microsoft.com/office/drawing/2014/main" id="{89013C98-FFBA-E98D-E4EE-88451A38F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8005" y="3982274"/>
            <a:ext cx="1861864" cy="457259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。。。。。。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E8F3E9B-2B5A-53BE-EB01-25E8579E2D52}"/>
              </a:ext>
            </a:extLst>
          </p:cNvPr>
          <p:cNvSpPr/>
          <p:nvPr/>
        </p:nvSpPr>
        <p:spPr>
          <a:xfrm>
            <a:off x="5897022" y="1699231"/>
            <a:ext cx="2362393" cy="720594"/>
          </a:xfrm>
          <a:prstGeom prst="rect">
            <a:avLst/>
          </a:prstGeom>
          <a:solidFill>
            <a:sysClr val="window" lastClr="FFFFFF">
              <a:lumMod val="50000"/>
              <a:alpha val="24000"/>
            </a:sysClr>
          </a:solidFill>
          <a:ln w="12700" cap="flat" cmpd="sng" algn="ctr">
            <a:solidFill>
              <a:sysClr val="windowText" lastClr="000000"/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矩形 97">
            <a:extLst>
              <a:ext uri="{FF2B5EF4-FFF2-40B4-BE49-F238E27FC236}">
                <a16:creationId xmlns:a16="http://schemas.microsoft.com/office/drawing/2014/main" id="{1A070D0F-AA4B-7D06-C2A9-C760ED898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8592" y="1926089"/>
            <a:ext cx="1861864" cy="457259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0#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进程的页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目录和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1#</a:t>
            </a:r>
            <a:r>
              <a:rPr lang="zh-CN" altLang="en-US" sz="1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用户页表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4CD1F1F-12EE-407E-9459-1F6CA954FC46}"/>
              </a:ext>
            </a:extLst>
          </p:cNvPr>
          <p:cNvSpPr/>
          <p:nvPr/>
        </p:nvSpPr>
        <p:spPr>
          <a:xfrm>
            <a:off x="6168008" y="5814020"/>
            <a:ext cx="5398341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）每个进程的页目录不同</a:t>
            </a:r>
          </a:p>
        </p:txBody>
      </p:sp>
    </p:spTree>
    <p:extLst>
      <p:ext uri="{BB962C8B-B14F-4D97-AF65-F5344CB8AC3E}">
        <p14:creationId xmlns:p14="http://schemas.microsoft.com/office/powerpoint/2010/main" val="1499886013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82E4A4-4B4D-41BF-9F68-1575C742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353A2E-92EE-4F23-A078-2A07C43737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C4DE104-5DA1-4B88-B642-58DE3423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页表系统</a:t>
            </a: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9FB98FB3-625B-1981-5909-CDC208977DD3}"/>
              </a:ext>
            </a:extLst>
          </p:cNvPr>
          <p:cNvGrpSpPr/>
          <p:nvPr/>
        </p:nvGrpSpPr>
        <p:grpSpPr>
          <a:xfrm>
            <a:off x="637672" y="797428"/>
            <a:ext cx="2537493" cy="5593557"/>
            <a:chOff x="119336" y="632221"/>
            <a:chExt cx="2537493" cy="5593557"/>
          </a:xfrm>
        </p:grpSpPr>
        <p:sp>
          <p:nvSpPr>
            <p:cNvPr id="77" name="矩形 83">
              <a:extLst>
                <a:ext uri="{FF2B5EF4-FFF2-40B4-BE49-F238E27FC236}">
                  <a16:creationId xmlns:a16="http://schemas.microsoft.com/office/drawing/2014/main" id="{01612BA3-A3EA-FE9E-1C27-2E7F0FDCB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438" y="3974628"/>
              <a:ext cx="907527" cy="227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3G+1M</a:t>
              </a:r>
            </a:p>
          </p:txBody>
        </p:sp>
        <p:sp>
          <p:nvSpPr>
            <p:cNvPr id="78" name="矩形 83">
              <a:extLst>
                <a:ext uri="{FF2B5EF4-FFF2-40B4-BE49-F238E27FC236}">
                  <a16:creationId xmlns:a16="http://schemas.microsoft.com/office/drawing/2014/main" id="{99F4B1C2-880D-BFF8-6666-083B512CFD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056" y="4356990"/>
              <a:ext cx="1020960" cy="2420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3G+1.5M</a:t>
              </a:r>
            </a:p>
          </p:txBody>
        </p:sp>
        <p:sp>
          <p:nvSpPr>
            <p:cNvPr id="79" name="矩形 83">
              <a:extLst>
                <a:ext uri="{FF2B5EF4-FFF2-40B4-BE49-F238E27FC236}">
                  <a16:creationId xmlns:a16="http://schemas.microsoft.com/office/drawing/2014/main" id="{B2607093-C08B-0129-255F-03AB69B8B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24" y="4755427"/>
              <a:ext cx="907527" cy="227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3G+2M</a:t>
              </a:r>
            </a:p>
          </p:txBody>
        </p:sp>
        <p:grpSp>
          <p:nvGrpSpPr>
            <p:cNvPr id="80" name="组合 154">
              <a:extLst>
                <a:ext uri="{FF2B5EF4-FFF2-40B4-BE49-F238E27FC236}">
                  <a16:creationId xmlns:a16="http://schemas.microsoft.com/office/drawing/2014/main" id="{FADA5135-579F-4E1C-706B-204914BD8FEF}"/>
                </a:ext>
              </a:extLst>
            </p:cNvPr>
            <p:cNvGrpSpPr/>
            <p:nvPr/>
          </p:nvGrpSpPr>
          <p:grpSpPr>
            <a:xfrm>
              <a:off x="119336" y="632221"/>
              <a:ext cx="2537493" cy="5593557"/>
              <a:chOff x="-233782" y="836712"/>
              <a:chExt cx="2537493" cy="5593557"/>
            </a:xfrm>
          </p:grpSpPr>
          <p:grpSp>
            <p:nvGrpSpPr>
              <p:cNvPr id="81" name="组合 7">
                <a:extLst>
                  <a:ext uri="{FF2B5EF4-FFF2-40B4-BE49-F238E27FC236}">
                    <a16:creationId xmlns:a16="http://schemas.microsoft.com/office/drawing/2014/main" id="{B4A70305-E536-C926-C774-5E08F629B0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1773" y="836712"/>
                <a:ext cx="1531938" cy="5484937"/>
                <a:chOff x="1244518" y="931129"/>
                <a:chExt cx="1532942" cy="5484953"/>
              </a:xfrm>
            </p:grpSpPr>
            <p:grpSp>
              <p:nvGrpSpPr>
                <p:cNvPr id="86" name="组合 6">
                  <a:extLst>
                    <a:ext uri="{FF2B5EF4-FFF2-40B4-BE49-F238E27FC236}">
                      <a16:creationId xmlns:a16="http://schemas.microsoft.com/office/drawing/2014/main" id="{44FAA9FF-55F6-497C-2BCD-270EEA8DA53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08059" y="3956058"/>
                  <a:ext cx="1469401" cy="2460024"/>
                  <a:chOff x="3535262" y="1401025"/>
                  <a:chExt cx="1469401" cy="2460024"/>
                </a:xfrm>
              </p:grpSpPr>
              <p:sp>
                <p:nvSpPr>
                  <p:cNvPr id="96" name="矩形 95">
                    <a:extLst>
                      <a:ext uri="{FF2B5EF4-FFF2-40B4-BE49-F238E27FC236}">
                        <a16:creationId xmlns:a16="http://schemas.microsoft.com/office/drawing/2014/main" id="{07B4C9F2-75A4-B540-9843-40EECCA2E906}"/>
                      </a:ext>
                    </a:extLst>
                  </p:cNvPr>
                  <p:cNvSpPr/>
                  <p:nvPr/>
                </p:nvSpPr>
                <p:spPr>
                  <a:xfrm>
                    <a:off x="3549125" y="1401025"/>
                    <a:ext cx="1437630" cy="2460024"/>
                  </a:xfrm>
                  <a:prstGeom prst="rect">
                    <a:avLst/>
                  </a:prstGeom>
                  <a:solidFill>
                    <a:srgbClr val="00B050"/>
                  </a:solidFill>
                  <a:effectLst/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endParaRPr lang="en-US" altLang="zh-CN" sz="20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97" name="直接箭头连接符 96">
                    <a:extLst>
                      <a:ext uri="{FF2B5EF4-FFF2-40B4-BE49-F238E27FC236}">
                        <a16:creationId xmlns:a16="http://schemas.microsoft.com/office/drawing/2014/main" id="{FAB7E796-12F0-442F-55BC-F11E6FE07DB1}"/>
                      </a:ext>
                    </a:extLst>
                  </p:cNvPr>
                  <p:cNvCxnSpPr/>
                  <p:nvPr/>
                </p:nvCxnSpPr>
                <p:spPr>
                  <a:xfrm>
                    <a:off x="3563856" y="1862397"/>
                    <a:ext cx="1440807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98" name="直接箭头连接符 97">
                    <a:extLst>
                      <a:ext uri="{FF2B5EF4-FFF2-40B4-BE49-F238E27FC236}">
                        <a16:creationId xmlns:a16="http://schemas.microsoft.com/office/drawing/2014/main" id="{2602476E-2DF4-78A3-C40F-2CFA8A17D2F7}"/>
                      </a:ext>
                    </a:extLst>
                  </p:cNvPr>
                  <p:cNvCxnSpPr/>
                  <p:nvPr/>
                </p:nvCxnSpPr>
                <p:spPr>
                  <a:xfrm>
                    <a:off x="3537101" y="2230374"/>
                    <a:ext cx="1440558" cy="75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99" name="直接箭头连接符 98">
                    <a:extLst>
                      <a:ext uri="{FF2B5EF4-FFF2-40B4-BE49-F238E27FC236}">
                        <a16:creationId xmlns:a16="http://schemas.microsoft.com/office/drawing/2014/main" id="{42E2B389-5BED-08D0-70F2-0E4F3EE28D0D}"/>
                      </a:ext>
                    </a:extLst>
                  </p:cNvPr>
                  <p:cNvCxnSpPr/>
                  <p:nvPr/>
                </p:nvCxnSpPr>
                <p:spPr>
                  <a:xfrm>
                    <a:off x="3551399" y="2612821"/>
                    <a:ext cx="1426261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100" name="矩形 96">
                    <a:extLst>
                      <a:ext uri="{FF2B5EF4-FFF2-40B4-BE49-F238E27FC236}">
                        <a16:creationId xmlns:a16="http://schemas.microsoft.com/office/drawing/2014/main" id="{01D9FB7B-C476-A3C8-381F-50FA55304D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43594" y="1508767"/>
                    <a:ext cx="1045783" cy="240040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保留区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1" name="矩形 98">
                    <a:extLst>
                      <a:ext uri="{FF2B5EF4-FFF2-40B4-BE49-F238E27FC236}">
                        <a16:creationId xmlns:a16="http://schemas.microsoft.com/office/drawing/2014/main" id="{B3AE625F-B67D-9842-86F9-B148FCA781E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69553" y="1966319"/>
                    <a:ext cx="1117790" cy="198407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内核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102" name="直接箭头连接符 101">
                    <a:extLst>
                      <a:ext uri="{FF2B5EF4-FFF2-40B4-BE49-F238E27FC236}">
                        <a16:creationId xmlns:a16="http://schemas.microsoft.com/office/drawing/2014/main" id="{CC86AA37-EE26-7F59-DB3B-6611039ECAF1}"/>
                      </a:ext>
                    </a:extLst>
                  </p:cNvPr>
                  <p:cNvCxnSpPr/>
                  <p:nvPr/>
                </p:nvCxnSpPr>
                <p:spPr>
                  <a:xfrm>
                    <a:off x="3535262" y="3500686"/>
                    <a:ext cx="1442397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103" name="矩形 105">
                    <a:extLst>
                      <a:ext uri="{FF2B5EF4-FFF2-40B4-BE49-F238E27FC236}">
                        <a16:creationId xmlns:a16="http://schemas.microsoft.com/office/drawing/2014/main" id="{F4F8D36F-6644-ED53-6A72-70F52CD608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568020" y="2239583"/>
                    <a:ext cx="1357035" cy="373238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0" rIns="0"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内核堆对象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4" name="矩形 110">
                    <a:extLst>
                      <a:ext uri="{FF2B5EF4-FFF2-40B4-BE49-F238E27FC236}">
                        <a16:creationId xmlns:a16="http://schemas.microsoft.com/office/drawing/2014/main" id="{8950FC1D-F552-06F9-D44A-4EDC16B64D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55881" y="2900110"/>
                    <a:ext cx="1185607" cy="348956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页表区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5" name="矩形 111">
                    <a:extLst>
                      <a:ext uri="{FF2B5EF4-FFF2-40B4-BE49-F238E27FC236}">
                        <a16:creationId xmlns:a16="http://schemas.microsoft.com/office/drawing/2014/main" id="{0BF58BFF-32B0-C5A2-3712-13833A8D20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55881" y="3573016"/>
                    <a:ext cx="1185607" cy="216836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en-US" altLang="zh-CN" sz="1600" kern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PPDA</a:t>
                    </a:r>
                  </a:p>
                </p:txBody>
              </p:sp>
            </p:grpSp>
            <p:grpSp>
              <p:nvGrpSpPr>
                <p:cNvPr id="87" name="组合 5">
                  <a:extLst>
                    <a:ext uri="{FF2B5EF4-FFF2-40B4-BE49-F238E27FC236}">
                      <a16:creationId xmlns:a16="http://schemas.microsoft.com/office/drawing/2014/main" id="{DDC0DD60-C451-7C40-52E0-2E9A1F2A37A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44518" y="1248755"/>
                  <a:ext cx="1509582" cy="1981997"/>
                  <a:chOff x="2911404" y="2986958"/>
                  <a:chExt cx="1509582" cy="1981997"/>
                </a:xfrm>
              </p:grpSpPr>
              <p:sp>
                <p:nvSpPr>
                  <p:cNvPr id="89" name="矩形 88">
                    <a:extLst>
                      <a:ext uri="{FF2B5EF4-FFF2-40B4-BE49-F238E27FC236}">
                        <a16:creationId xmlns:a16="http://schemas.microsoft.com/office/drawing/2014/main" id="{EC9FE9D9-27EC-3CC9-FF8D-C1B051268294}"/>
                      </a:ext>
                    </a:extLst>
                  </p:cNvPr>
                  <p:cNvSpPr/>
                  <p:nvPr/>
                </p:nvSpPr>
                <p:spPr>
                  <a:xfrm>
                    <a:off x="2983357" y="2986958"/>
                    <a:ext cx="1437629" cy="1981997"/>
                  </a:xfrm>
                  <a:prstGeom prst="rect">
                    <a:avLst/>
                  </a:prstGeom>
                  <a:solidFill>
                    <a:srgbClr val="00B050"/>
                  </a:solidFill>
                  <a:effectLst/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endParaRPr lang="en-US" altLang="zh-CN" sz="20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90" name="直接箭头连接符 89">
                    <a:extLst>
                      <a:ext uri="{FF2B5EF4-FFF2-40B4-BE49-F238E27FC236}">
                        <a16:creationId xmlns:a16="http://schemas.microsoft.com/office/drawing/2014/main" id="{8C09E11B-1FF7-2217-1FE8-64E7090CE097}"/>
                      </a:ext>
                    </a:extLst>
                  </p:cNvPr>
                  <p:cNvCxnSpPr/>
                  <p:nvPr/>
                </p:nvCxnSpPr>
                <p:spPr>
                  <a:xfrm>
                    <a:off x="2911404" y="3366758"/>
                    <a:ext cx="1497994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91" name="矩形 62">
                    <a:extLst>
                      <a:ext uri="{FF2B5EF4-FFF2-40B4-BE49-F238E27FC236}">
                        <a16:creationId xmlns:a16="http://schemas.microsoft.com/office/drawing/2014/main" id="{7DEE31A1-B6B1-2AB6-644E-14D9FB09394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69718" y="3004503"/>
                    <a:ext cx="1045783" cy="334527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代码段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92" name="矩形 63">
                    <a:extLst>
                      <a:ext uri="{FF2B5EF4-FFF2-40B4-BE49-F238E27FC236}">
                        <a16:creationId xmlns:a16="http://schemas.microsoft.com/office/drawing/2014/main" id="{A86D96A0-E794-F900-74CB-443A3F4442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83277" y="3498186"/>
                    <a:ext cx="1045783" cy="426894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数据段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93" name="矩形 92">
                    <a:extLst>
                      <a:ext uri="{FF2B5EF4-FFF2-40B4-BE49-F238E27FC236}">
                        <a16:creationId xmlns:a16="http://schemas.microsoft.com/office/drawing/2014/main" id="{35718268-7047-125A-F6B7-33A58BB586E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84731" y="4596457"/>
                    <a:ext cx="1045783" cy="322836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堆栈段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94" name="矩形 82">
                    <a:extLst>
                      <a:ext uri="{FF2B5EF4-FFF2-40B4-BE49-F238E27FC236}">
                        <a16:creationId xmlns:a16="http://schemas.microsoft.com/office/drawing/2014/main" id="{BBBAFB8C-12CE-C258-4301-BA763F7A1F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71768" y="4097654"/>
                    <a:ext cx="1438028" cy="485909"/>
                  </a:xfrm>
                  <a:prstGeom prst="rect">
                    <a:avLst/>
                  </a:prstGeom>
                  <a:pattFill prst="dkUpDiag">
                    <a:fgClr>
                      <a:srgbClr val="00B050"/>
                    </a:fgClr>
                    <a:bgClr>
                      <a:sysClr val="window" lastClr="FFFFFF"/>
                    </a:bgClr>
                  </a:patt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endParaRPr lang="en-US" altLang="zh-CN" sz="2000" kern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95" name="直接箭头连接符 94">
                    <a:extLst>
                      <a:ext uri="{FF2B5EF4-FFF2-40B4-BE49-F238E27FC236}">
                        <a16:creationId xmlns:a16="http://schemas.microsoft.com/office/drawing/2014/main" id="{DA0B9ADD-A376-426B-B3F0-47337B7B72DC}"/>
                      </a:ext>
                    </a:extLst>
                  </p:cNvPr>
                  <p:cNvCxnSpPr/>
                  <p:nvPr/>
                </p:nvCxnSpPr>
                <p:spPr>
                  <a:xfrm>
                    <a:off x="2911404" y="4087098"/>
                    <a:ext cx="1497994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88" name="矩形 87">
                  <a:extLst>
                    <a:ext uri="{FF2B5EF4-FFF2-40B4-BE49-F238E27FC236}">
                      <a16:creationId xmlns:a16="http://schemas.microsoft.com/office/drawing/2014/main" id="{B5D892B2-8216-2784-9573-87A761F21BE8}"/>
                    </a:ext>
                  </a:extLst>
                </p:cNvPr>
                <p:cNvSpPr/>
                <p:nvPr/>
              </p:nvSpPr>
              <p:spPr>
                <a:xfrm>
                  <a:off x="1304883" y="931129"/>
                  <a:ext cx="1456692" cy="5484953"/>
                </a:xfrm>
                <a:prstGeom prst="rect">
                  <a:avLst/>
                </a:prstGeom>
                <a:noFill/>
                <a:ln w="19050" cap="flat" cmpd="sng" algn="ctr">
                  <a:solidFill>
                    <a:srgbClr val="008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2" name="矩形 224">
                <a:extLst>
                  <a:ext uri="{FF2B5EF4-FFF2-40B4-BE49-F238E27FC236}">
                    <a16:creationId xmlns:a16="http://schemas.microsoft.com/office/drawing/2014/main" id="{6B3A0342-4168-76C9-EF56-0C606EF077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3680" y="1071785"/>
                <a:ext cx="907527" cy="2286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>
                  <a:defRPr/>
                </a:pPr>
                <a:r>
                  <a:rPr lang="en-US" altLang="zh-CN" sz="1400" kern="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4M+4K</a:t>
                </a:r>
              </a:p>
            </p:txBody>
          </p:sp>
          <p:sp>
            <p:nvSpPr>
              <p:cNvPr id="83" name="矩形 227">
                <a:extLst>
                  <a:ext uri="{FF2B5EF4-FFF2-40B4-BE49-F238E27FC236}">
                    <a16:creationId xmlns:a16="http://schemas.microsoft.com/office/drawing/2014/main" id="{8C880805-5CBF-93B6-2443-C422C4B541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807" y="3025654"/>
                <a:ext cx="846349" cy="2333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>
                  <a:defRPr/>
                </a:pPr>
                <a:r>
                  <a:rPr lang="en-US" altLang="zh-CN" sz="1400" kern="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8M-1</a:t>
                </a:r>
              </a:p>
            </p:txBody>
          </p:sp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3A1D5CAF-32B4-8324-EE5A-5D230D54F7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339" y="3775670"/>
                <a:ext cx="608012" cy="2270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40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3G</a:t>
                </a:r>
              </a:p>
            </p:txBody>
          </p:sp>
          <p:sp>
            <p:nvSpPr>
              <p:cNvPr id="85" name="矩形 109">
                <a:extLst>
                  <a:ext uri="{FF2B5EF4-FFF2-40B4-BE49-F238E27FC236}">
                    <a16:creationId xmlns:a16="http://schemas.microsoft.com/office/drawing/2014/main" id="{FAE6B5B3-48C5-23C0-9126-D7309E5C3D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33782" y="6081313"/>
                <a:ext cx="1184830" cy="3489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40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3G+4M-1</a:t>
                </a:r>
              </a:p>
            </p:txBody>
          </p:sp>
        </p:grpSp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9E1FB41A-5093-B4BC-6FEF-8BB5DF15C9B4}"/>
              </a:ext>
            </a:extLst>
          </p:cNvPr>
          <p:cNvGrpSpPr/>
          <p:nvPr/>
        </p:nvGrpSpPr>
        <p:grpSpPr>
          <a:xfrm>
            <a:off x="3749753" y="874507"/>
            <a:ext cx="2492598" cy="5407858"/>
            <a:chOff x="9336360" y="685438"/>
            <a:chExt cx="2492598" cy="5407858"/>
          </a:xfrm>
        </p:grpSpPr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D6FD0E61-8AA2-6100-348C-A71C6D696AE9}"/>
                </a:ext>
              </a:extLst>
            </p:cNvPr>
            <p:cNvSpPr/>
            <p:nvPr/>
          </p:nvSpPr>
          <p:spPr>
            <a:xfrm>
              <a:off x="9336360" y="843434"/>
              <a:ext cx="1511300" cy="530225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保留区</a:t>
              </a:r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FF669A26-143D-AD49-1995-56A90807434C}"/>
                </a:ext>
              </a:extLst>
            </p:cNvPr>
            <p:cNvSpPr/>
            <p:nvPr/>
          </p:nvSpPr>
          <p:spPr>
            <a:xfrm>
              <a:off x="9336360" y="1396007"/>
              <a:ext cx="1511300" cy="331787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内核</a:t>
              </a: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01B9289D-B3FE-B817-43D9-237E58E0B3C3}"/>
                </a:ext>
              </a:extLst>
            </p:cNvPr>
            <p:cNvSpPr/>
            <p:nvPr/>
          </p:nvSpPr>
          <p:spPr>
            <a:xfrm>
              <a:off x="9336360" y="1754742"/>
              <a:ext cx="1511300" cy="331788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内核堆对象</a:t>
              </a:r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2C6A8820-4D1B-8A02-52FB-5E2EA80D757B}"/>
                </a:ext>
              </a:extLst>
            </p:cNvPr>
            <p:cNvSpPr/>
            <p:nvPr/>
          </p:nvSpPr>
          <p:spPr>
            <a:xfrm>
              <a:off x="9336360" y="2099142"/>
              <a:ext cx="1511300" cy="878026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页表区</a:t>
              </a:r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6B93BF43-1F1A-D273-5885-00DF378DDC36}"/>
                </a:ext>
              </a:extLst>
            </p:cNvPr>
            <p:cNvSpPr/>
            <p:nvPr/>
          </p:nvSpPr>
          <p:spPr>
            <a:xfrm>
              <a:off x="9341122" y="3104034"/>
              <a:ext cx="1508124" cy="2989262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用户区</a:t>
              </a:r>
            </a:p>
          </p:txBody>
        </p:sp>
        <p:sp>
          <p:nvSpPr>
            <p:cNvPr id="112" name="矩形 47">
              <a:extLst>
                <a:ext uri="{FF2B5EF4-FFF2-40B4-BE49-F238E27FC236}">
                  <a16:creationId xmlns:a16="http://schemas.microsoft.com/office/drawing/2014/main" id="{272B2F6F-68A9-0EA8-96CA-624DE5F65A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0965" y="685438"/>
              <a:ext cx="690562" cy="338361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113" name="矩形 49">
              <a:extLst>
                <a:ext uri="{FF2B5EF4-FFF2-40B4-BE49-F238E27FC236}">
                  <a16:creationId xmlns:a16="http://schemas.microsoft.com/office/drawing/2014/main" id="{884578A6-6C31-6DA8-3BA5-FDDAD9880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9892" y="1210650"/>
              <a:ext cx="690562" cy="4349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1M</a:t>
              </a:r>
            </a:p>
          </p:txBody>
        </p:sp>
        <p:sp>
          <p:nvSpPr>
            <p:cNvPr id="114" name="矩形 39">
              <a:extLst>
                <a:ext uri="{FF2B5EF4-FFF2-40B4-BE49-F238E27FC236}">
                  <a16:creationId xmlns:a16="http://schemas.microsoft.com/office/drawing/2014/main" id="{F2C9BA4B-9EEF-6DE1-275F-A463F2F35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1750" y="1595450"/>
              <a:ext cx="865187" cy="3206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1.5M</a:t>
              </a:r>
            </a:p>
          </p:txBody>
        </p:sp>
        <p:sp>
          <p:nvSpPr>
            <p:cNvPr id="115" name="矩形 41">
              <a:extLst>
                <a:ext uri="{FF2B5EF4-FFF2-40B4-BE49-F238E27FC236}">
                  <a16:creationId xmlns:a16="http://schemas.microsoft.com/office/drawing/2014/main" id="{76AB1974-BF2D-B6FA-F024-213BE4825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1750" y="1901782"/>
              <a:ext cx="865187" cy="4349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2M</a:t>
              </a:r>
            </a:p>
          </p:txBody>
        </p:sp>
        <p:sp>
          <p:nvSpPr>
            <p:cNvPr id="116" name="矩形 43">
              <a:extLst>
                <a:ext uri="{FF2B5EF4-FFF2-40B4-BE49-F238E27FC236}">
                  <a16:creationId xmlns:a16="http://schemas.microsoft.com/office/drawing/2014/main" id="{EC886D0A-D8D0-B573-3922-81CE21F5C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1448" y="2889181"/>
              <a:ext cx="1017510" cy="4349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4M</a:t>
              </a:r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86835D63-52C1-EBF5-F2B7-44F624F10700}"/>
                </a:ext>
              </a:extLst>
            </p:cNvPr>
            <p:cNvSpPr/>
            <p:nvPr/>
          </p:nvSpPr>
          <p:spPr>
            <a:xfrm>
              <a:off x="9336360" y="845021"/>
              <a:ext cx="1511300" cy="5248275"/>
            </a:xfrm>
            <a:prstGeom prst="rect">
              <a:avLst/>
            </a:prstGeom>
            <a:noFill/>
            <a:ln w="19050" cap="flat" cmpd="sng" algn="ctr">
              <a:solidFill>
                <a:srgbClr val="008000"/>
              </a:solidFill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1600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C72CF2B1-8776-B203-71DF-A8E7DAEA9CCD}"/>
              </a:ext>
            </a:extLst>
          </p:cNvPr>
          <p:cNvCxnSpPr>
            <a:cxnSpLocks/>
          </p:cNvCxnSpPr>
          <p:nvPr/>
        </p:nvCxnSpPr>
        <p:spPr>
          <a:xfrm flipH="1">
            <a:off x="3164052" y="2260076"/>
            <a:ext cx="574590" cy="2774065"/>
          </a:xfrm>
          <a:prstGeom prst="straightConnector1">
            <a:avLst/>
          </a:prstGeom>
          <a:noFill/>
          <a:ln w="12700" cap="flat" cmpd="sng" algn="ctr">
            <a:solidFill>
              <a:srgbClr val="008000"/>
            </a:solidFill>
            <a:prstDash val="solid"/>
            <a:headEnd type="triangle" w="med" len="lg"/>
            <a:tailEnd type="none" w="med" len="med"/>
          </a:ln>
          <a:effectLst/>
        </p:spPr>
      </p:cxn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F2E8D366-2F6A-6D64-B238-6EDFF2EB867F}"/>
              </a:ext>
            </a:extLst>
          </p:cNvPr>
          <p:cNvCxnSpPr>
            <a:cxnSpLocks/>
          </p:cNvCxnSpPr>
          <p:nvPr/>
        </p:nvCxnSpPr>
        <p:spPr>
          <a:xfrm flipH="1">
            <a:off x="3165675" y="3166237"/>
            <a:ext cx="595188" cy="2755766"/>
          </a:xfrm>
          <a:prstGeom prst="straightConnector1">
            <a:avLst/>
          </a:prstGeom>
          <a:noFill/>
          <a:ln w="12700" cap="flat" cmpd="sng" algn="ctr">
            <a:solidFill>
              <a:srgbClr val="008000"/>
            </a:solidFill>
            <a:prstDash val="solid"/>
            <a:headEnd type="triangle" w="med" len="lg"/>
            <a:tailEnd type="none" w="med" len="med"/>
          </a:ln>
          <a:effectLst/>
        </p:spPr>
      </p:cxnSp>
      <p:sp>
        <p:nvSpPr>
          <p:cNvPr id="168" name="Rectangle 4">
            <a:extLst>
              <a:ext uri="{FF2B5EF4-FFF2-40B4-BE49-F238E27FC236}">
                <a16:creationId xmlns:a16="http://schemas.microsoft.com/office/drawing/2014/main" id="{60CA974C-1E35-3437-1DCE-51D492D1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29" y="2715812"/>
            <a:ext cx="244012" cy="142637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wrap="square" tIns="0" bIns="0" anchor="ctr" anchorCtr="1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页表的构成</a:t>
            </a:r>
          </a:p>
        </p:txBody>
      </p:sp>
      <p:sp>
        <p:nvSpPr>
          <p:cNvPr id="8" name="矩形 72">
            <a:extLst>
              <a:ext uri="{FF2B5EF4-FFF2-40B4-BE49-F238E27FC236}">
                <a16:creationId xmlns:a16="http://schemas.microsoft.com/office/drawing/2014/main" id="{F0833D31-948F-EB13-0D72-C9F5FE43A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413" y="940393"/>
            <a:ext cx="1979613" cy="358775"/>
          </a:xfrm>
          <a:prstGeom prst="rect">
            <a:avLst/>
          </a:prstGeom>
          <a:gradFill rotWithShape="1">
            <a:gsLst>
              <a:gs pos="0">
                <a:srgbClr val="8B4F00"/>
              </a:gs>
              <a:gs pos="50000">
                <a:srgbClr val="C97500"/>
              </a:gs>
              <a:gs pos="100000">
                <a:srgbClr val="EF8C00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 latinLnBrk="1">
              <a:defRPr/>
            </a:pPr>
            <a:r>
              <a:rPr kumimoji="1" lang="en-US" altLang="zh-CN" sz="16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Table 768#</a:t>
            </a:r>
            <a:endParaRPr kumimoji="1"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4239AD3-F1EE-A6E9-0049-7E0FF094E32B}"/>
              </a:ext>
            </a:extLst>
          </p:cNvPr>
          <p:cNvCxnSpPr>
            <a:cxnSpLocks/>
          </p:cNvCxnSpPr>
          <p:nvPr/>
        </p:nvCxnSpPr>
        <p:spPr>
          <a:xfrm flipH="1">
            <a:off x="5254358" y="936397"/>
            <a:ext cx="873647" cy="1377530"/>
          </a:xfrm>
          <a:prstGeom prst="straightConnector1">
            <a:avLst/>
          </a:prstGeom>
          <a:noFill/>
          <a:ln w="19050" cap="flat" cmpd="sng" algn="ctr">
            <a:solidFill>
              <a:srgbClr val="008000"/>
            </a:solidFill>
            <a:prstDash val="dash"/>
            <a:headEnd type="none" w="med" len="med"/>
            <a:tailEnd type="none" w="med" len="med"/>
          </a:ln>
          <a:effectLst/>
        </p:spPr>
      </p:cxnSp>
      <p:sp>
        <p:nvSpPr>
          <p:cNvPr id="10" name="矩形 81">
            <a:extLst>
              <a:ext uri="{FF2B5EF4-FFF2-40B4-BE49-F238E27FC236}">
                <a16:creationId xmlns:a16="http://schemas.microsoft.com/office/drawing/2014/main" id="{A05DD484-5926-5D80-796C-B92D9C4C8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9201" y="1299934"/>
            <a:ext cx="1344612" cy="43497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altLang="zh-CN" sz="1400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0x201</a:t>
            </a:r>
            <a:r>
              <a:rPr lang="zh-CN" altLang="en-US" sz="1400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号</a:t>
            </a: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页框</a:t>
            </a:r>
            <a:endParaRPr lang="en-US" altLang="zh-CN" sz="14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1" name="矩形 86">
            <a:extLst>
              <a:ext uri="{FF2B5EF4-FFF2-40B4-BE49-F238E27FC236}">
                <a16:creationId xmlns:a16="http://schemas.microsoft.com/office/drawing/2014/main" id="{C8E9A779-8DB8-1C49-5E33-AD66BB949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413" y="1315043"/>
            <a:ext cx="1979613" cy="361950"/>
          </a:xfrm>
          <a:prstGeom prst="rect">
            <a:avLst/>
          </a:prstGeom>
          <a:gradFill rotWithShape="1">
            <a:gsLst>
              <a:gs pos="0">
                <a:srgbClr val="8B4F00"/>
              </a:gs>
              <a:gs pos="50000">
                <a:srgbClr val="C97500"/>
              </a:gs>
              <a:gs pos="100000">
                <a:srgbClr val="EF8C00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 latinLnBrk="1">
              <a:defRPr/>
            </a:pPr>
            <a:r>
              <a:rPr kumimoji="1" lang="en-US" altLang="zh-CN" sz="16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Table 0#</a:t>
            </a:r>
            <a:endParaRPr kumimoji="1"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88">
            <a:extLst>
              <a:ext uri="{FF2B5EF4-FFF2-40B4-BE49-F238E27FC236}">
                <a16:creationId xmlns:a16="http://schemas.microsoft.com/office/drawing/2014/main" id="{CDC08018-D09A-0446-47B3-251F03923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413" y="2104797"/>
            <a:ext cx="1979613" cy="342900"/>
          </a:xfrm>
          <a:prstGeom prst="rect">
            <a:avLst/>
          </a:prstGeom>
          <a:gradFill rotWithShape="1">
            <a:gsLst>
              <a:gs pos="0">
                <a:srgbClr val="8B4F00"/>
              </a:gs>
              <a:gs pos="50000">
                <a:srgbClr val="C97500"/>
              </a:gs>
              <a:gs pos="100000">
                <a:srgbClr val="EF8C00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 latinLnBrk="1">
              <a:defRPr/>
            </a:pPr>
            <a:r>
              <a:rPr kumimoji="1" lang="en-US" altLang="zh-CN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Table 1#</a:t>
            </a:r>
            <a:endParaRPr kumimoji="1"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7CDFDB1-F91B-68D4-2DBE-4290291D98D6}"/>
              </a:ext>
            </a:extLst>
          </p:cNvPr>
          <p:cNvCxnSpPr>
            <a:cxnSpLocks/>
          </p:cNvCxnSpPr>
          <p:nvPr/>
        </p:nvCxnSpPr>
        <p:spPr>
          <a:xfrm flipH="1" flipV="1">
            <a:off x="5261053" y="3155504"/>
            <a:ext cx="834947" cy="1065584"/>
          </a:xfrm>
          <a:prstGeom prst="straightConnector1">
            <a:avLst/>
          </a:prstGeom>
          <a:noFill/>
          <a:ln w="19050" cap="flat" cmpd="sng" algn="ctr">
            <a:solidFill>
              <a:srgbClr val="008000"/>
            </a:solidFill>
            <a:prstDash val="dash"/>
            <a:headEnd type="none" w="med" len="med"/>
            <a:tailEnd type="none" w="med" len="med"/>
          </a:ln>
          <a:effectLst/>
        </p:spPr>
      </p:cxnSp>
      <p:sp>
        <p:nvSpPr>
          <p:cNvPr id="16" name="矩形 109">
            <a:extLst>
              <a:ext uri="{FF2B5EF4-FFF2-40B4-BE49-F238E27FC236}">
                <a16:creationId xmlns:a16="http://schemas.microsoft.com/office/drawing/2014/main" id="{F2287899-AAC5-35C3-6D39-D36158652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413" y="2468333"/>
            <a:ext cx="1979613" cy="342900"/>
          </a:xfrm>
          <a:prstGeom prst="rect">
            <a:avLst/>
          </a:prstGeom>
          <a:solidFill>
            <a:srgbClr val="8F45C7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r" latinLnBrk="1">
              <a:defRPr/>
            </a:pPr>
            <a:r>
              <a:rPr kumimoji="1" lang="en-US" altLang="zh-CN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Directory</a:t>
            </a:r>
            <a:endParaRPr kumimoji="1"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12">
            <a:extLst>
              <a:ext uri="{FF2B5EF4-FFF2-40B4-BE49-F238E27FC236}">
                <a16:creationId xmlns:a16="http://schemas.microsoft.com/office/drawing/2014/main" id="{05E330B3-98AD-0558-F5CA-36D204353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413" y="2827108"/>
            <a:ext cx="1979613" cy="342900"/>
          </a:xfrm>
          <a:prstGeom prst="rect">
            <a:avLst/>
          </a:prstGeom>
          <a:gradFill rotWithShape="1">
            <a:gsLst>
              <a:gs pos="0">
                <a:srgbClr val="8B4F00"/>
              </a:gs>
              <a:gs pos="50000">
                <a:srgbClr val="C97500"/>
              </a:gs>
              <a:gs pos="100000">
                <a:srgbClr val="EF8C00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 latinLnBrk="1">
              <a:defRPr/>
            </a:pPr>
            <a:r>
              <a:rPr kumimoji="1" lang="en-US" altLang="zh-CN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Table 1#</a:t>
            </a:r>
            <a:endParaRPr kumimoji="1"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14">
            <a:extLst>
              <a:ext uri="{FF2B5EF4-FFF2-40B4-BE49-F238E27FC236}">
                <a16:creationId xmlns:a16="http://schemas.microsoft.com/office/drawing/2014/main" id="{8DBC2632-D23B-F00A-3A9D-AEEEF46E3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413" y="3187470"/>
            <a:ext cx="1979613" cy="342900"/>
          </a:xfrm>
          <a:prstGeom prst="rect">
            <a:avLst/>
          </a:prstGeom>
          <a:solidFill>
            <a:srgbClr val="8F45C7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r" latinLnBrk="1"/>
            <a:r>
              <a:rPr kumimoji="1" lang="en-US" altLang="zh-CN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Directory</a:t>
            </a:r>
            <a:endParaRPr kumimoji="1"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3">
            <a:extLst>
              <a:ext uri="{FF2B5EF4-FFF2-40B4-BE49-F238E27FC236}">
                <a16:creationId xmlns:a16="http://schemas.microsoft.com/office/drawing/2014/main" id="{243D8A24-811A-24DC-8253-5748916A2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2683" y="1412174"/>
            <a:ext cx="2238088" cy="712788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所有进程的核心页表和</a:t>
            </a:r>
            <a:r>
              <a:rPr lang="en-US" altLang="zh-CN" sz="20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0#</a:t>
            </a:r>
            <a:r>
              <a:rPr lang="zh-CN" altLang="en-US" sz="20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用户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页表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4966FBA-11E5-680B-E6CE-8BE4E0C50EEA}"/>
              </a:ext>
            </a:extLst>
          </p:cNvPr>
          <p:cNvSpPr/>
          <p:nvPr/>
        </p:nvSpPr>
        <p:spPr>
          <a:xfrm>
            <a:off x="5654926" y="829756"/>
            <a:ext cx="3798887" cy="916266"/>
          </a:xfrm>
          <a:prstGeom prst="rect">
            <a:avLst/>
          </a:prstGeom>
          <a:noFill/>
          <a:ln w="19050" cap="flat" cmpd="sng" algn="ctr">
            <a:solidFill>
              <a:srgbClr val="DF890B"/>
            </a:solidFill>
            <a:prstDash val="dash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75">
            <a:extLst>
              <a:ext uri="{FF2B5EF4-FFF2-40B4-BE49-F238E27FC236}">
                <a16:creationId xmlns:a16="http://schemas.microsoft.com/office/drawing/2014/main" id="{7F364B2E-6B2E-3ACF-8610-74F71FD09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4109" y="955974"/>
            <a:ext cx="1347787" cy="433387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altLang="zh-CN" sz="1400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0x200</a:t>
            </a:r>
            <a:r>
              <a:rPr lang="zh-CN" altLang="en-US" sz="1400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号</a:t>
            </a: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页框</a:t>
            </a:r>
            <a:endParaRPr lang="en-US" altLang="zh-CN" sz="14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21" name="矩形 77">
            <a:extLst>
              <a:ext uri="{FF2B5EF4-FFF2-40B4-BE49-F238E27FC236}">
                <a16:creationId xmlns:a16="http://schemas.microsoft.com/office/drawing/2014/main" id="{0554689D-65BE-552E-0F0A-0127F0000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251" y="1688693"/>
            <a:ext cx="1979613" cy="403225"/>
          </a:xfrm>
          <a:prstGeom prst="rect">
            <a:avLst/>
          </a:prstGeom>
          <a:solidFill>
            <a:srgbClr val="8F45C7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r" latinLnBrk="1">
              <a:defRPr/>
            </a:pPr>
            <a:r>
              <a:rPr kumimoji="1" lang="en-US" altLang="zh-CN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Directory</a:t>
            </a:r>
            <a:endParaRPr kumimoji="1"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37029FE0-1A15-12FE-BBB8-71FF80B5FEAA}"/>
              </a:ext>
            </a:extLst>
          </p:cNvPr>
          <p:cNvGrpSpPr/>
          <p:nvPr/>
        </p:nvGrpSpPr>
        <p:grpSpPr>
          <a:xfrm>
            <a:off x="8106027" y="911495"/>
            <a:ext cx="3708206" cy="2447424"/>
            <a:chOff x="-902415" y="925140"/>
            <a:chExt cx="3708206" cy="2447424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8474F27C-F30F-7700-9DD2-EB65C9D13295}"/>
                </a:ext>
              </a:extLst>
            </p:cNvPr>
            <p:cNvGrpSpPr/>
            <p:nvPr/>
          </p:nvGrpSpPr>
          <p:grpSpPr>
            <a:xfrm>
              <a:off x="600861" y="925140"/>
              <a:ext cx="2204930" cy="346399"/>
              <a:chOff x="598695" y="1085428"/>
              <a:chExt cx="2212975" cy="347663"/>
            </a:xfrm>
          </p:grpSpPr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276DC845-54CA-AEB8-C6C7-0FAFAB8A18CF}"/>
                  </a:ext>
                </a:extLst>
              </p:cNvPr>
              <p:cNvSpPr/>
              <p:nvPr/>
            </p:nvSpPr>
            <p:spPr bwMode="auto">
              <a:xfrm>
                <a:off x="598695" y="1085428"/>
                <a:ext cx="1437997" cy="347663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952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？？？</a:t>
                </a:r>
              </a:p>
            </p:txBody>
          </p:sp>
          <p:sp>
            <p:nvSpPr>
              <p:cNvPr id="26" name="矩形 97">
                <a:extLst>
                  <a:ext uri="{FF2B5EF4-FFF2-40B4-BE49-F238E27FC236}">
                    <a16:creationId xmlns:a16="http://schemas.microsoft.com/office/drawing/2014/main" id="{F3AA48A7-71A2-B9AC-8CD6-0F89972A6B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21195" y="1096667"/>
                <a:ext cx="690475" cy="324418"/>
              </a:xfrm>
              <a:prstGeom prst="rect">
                <a:avLst/>
              </a:prstGeom>
              <a:noFill/>
              <a:ln w="9525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CR3</a:t>
                </a:r>
              </a:p>
            </p:txBody>
          </p:sp>
        </p:grpSp>
        <p:cxnSp>
          <p:nvCxnSpPr>
            <p:cNvPr id="24" name="连接符: 肘形 110">
              <a:extLst>
                <a:ext uri="{FF2B5EF4-FFF2-40B4-BE49-F238E27FC236}">
                  <a16:creationId xmlns:a16="http://schemas.microsoft.com/office/drawing/2014/main" id="{D1C2351D-15DF-4A72-9CDC-ABF54E64955A}"/>
                </a:ext>
              </a:extLst>
            </p:cNvPr>
            <p:cNvCxnSpPr>
              <a:cxnSpLocks/>
              <a:stCxn id="25" idx="1"/>
              <a:endCxn id="18" idx="3"/>
            </p:cNvCxnSpPr>
            <p:nvPr/>
          </p:nvCxnSpPr>
          <p:spPr>
            <a:xfrm rot="10800000" flipV="1">
              <a:off x="-902415" y="1098339"/>
              <a:ext cx="1503277" cy="2274225"/>
            </a:xfrm>
            <a:prstGeom prst="bentConnector3">
              <a:avLst>
                <a:gd name="adj1" fmla="val 50000"/>
              </a:avLst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headEnd type="none" w="med" len="med"/>
              <a:tailEnd type="triangle" w="med" len="lg"/>
            </a:ln>
            <a:effectLst/>
          </p:spPr>
        </p:cxnSp>
      </p:grpSp>
      <p:sp>
        <p:nvSpPr>
          <p:cNvPr id="27" name="矩形 112">
            <a:extLst>
              <a:ext uri="{FF2B5EF4-FFF2-40B4-BE49-F238E27FC236}">
                <a16:creationId xmlns:a16="http://schemas.microsoft.com/office/drawing/2014/main" id="{F1868CD8-1CFB-BE84-4318-820D94C46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0187" y="3550982"/>
            <a:ext cx="1979613" cy="342900"/>
          </a:xfrm>
          <a:prstGeom prst="rect">
            <a:avLst/>
          </a:prstGeom>
          <a:gradFill rotWithShape="1">
            <a:gsLst>
              <a:gs pos="0">
                <a:srgbClr val="8B4F00"/>
              </a:gs>
              <a:gs pos="50000">
                <a:srgbClr val="C97500"/>
              </a:gs>
              <a:gs pos="100000">
                <a:srgbClr val="EF8C00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 latinLnBrk="1">
              <a:defRPr/>
            </a:pPr>
            <a:r>
              <a:rPr kumimoji="1" lang="en-US" altLang="zh-CN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Table 1#</a:t>
            </a:r>
            <a:endParaRPr kumimoji="1"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29C7ED9-C1FA-EF24-627B-893D45147CCB}"/>
              </a:ext>
            </a:extLst>
          </p:cNvPr>
          <p:cNvSpPr/>
          <p:nvPr/>
        </p:nvSpPr>
        <p:spPr>
          <a:xfrm>
            <a:off x="5893847" y="2446175"/>
            <a:ext cx="2362393" cy="720594"/>
          </a:xfrm>
          <a:prstGeom prst="rect">
            <a:avLst/>
          </a:prstGeom>
          <a:solidFill>
            <a:sysClr val="window" lastClr="FFFFFF">
              <a:lumMod val="50000"/>
              <a:alpha val="24000"/>
            </a:sysClr>
          </a:solidFill>
          <a:ln w="12700" cap="flat" cmpd="sng" algn="ctr">
            <a:solidFill>
              <a:sysClr val="windowText" lastClr="000000"/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矩形 97">
            <a:extLst>
              <a:ext uri="{FF2B5EF4-FFF2-40B4-BE49-F238E27FC236}">
                <a16:creationId xmlns:a16="http://schemas.microsoft.com/office/drawing/2014/main" id="{62B519EE-6BC8-D166-026E-4F1B7B2A0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8592" y="2639783"/>
            <a:ext cx="1861864" cy="457259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每个进程自己的页目录和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1#</a:t>
            </a:r>
            <a:r>
              <a:rPr lang="zh-CN" altLang="en-US" sz="1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用户页表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32" name="矩形 97">
            <a:extLst>
              <a:ext uri="{FF2B5EF4-FFF2-40B4-BE49-F238E27FC236}">
                <a16:creationId xmlns:a16="http://schemas.microsoft.com/office/drawing/2014/main" id="{89013C98-FFBA-E98D-E4EE-88451A38F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8005" y="3982274"/>
            <a:ext cx="1861864" cy="457259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。。。。。。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E8F3E9B-2B5A-53BE-EB01-25E8579E2D52}"/>
              </a:ext>
            </a:extLst>
          </p:cNvPr>
          <p:cNvSpPr/>
          <p:nvPr/>
        </p:nvSpPr>
        <p:spPr>
          <a:xfrm>
            <a:off x="5897022" y="1699231"/>
            <a:ext cx="2362393" cy="720594"/>
          </a:xfrm>
          <a:prstGeom prst="rect">
            <a:avLst/>
          </a:prstGeom>
          <a:solidFill>
            <a:sysClr val="window" lastClr="FFFFFF">
              <a:lumMod val="50000"/>
              <a:alpha val="24000"/>
            </a:sysClr>
          </a:solidFill>
          <a:ln w="12700" cap="flat" cmpd="sng" algn="ctr">
            <a:solidFill>
              <a:sysClr val="windowText" lastClr="000000"/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矩形 97">
            <a:extLst>
              <a:ext uri="{FF2B5EF4-FFF2-40B4-BE49-F238E27FC236}">
                <a16:creationId xmlns:a16="http://schemas.microsoft.com/office/drawing/2014/main" id="{1A070D0F-AA4B-7D06-C2A9-C760ED898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8592" y="1926089"/>
            <a:ext cx="1861864" cy="457259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0#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进程的页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目录和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1#</a:t>
            </a:r>
            <a:r>
              <a:rPr lang="zh-CN" altLang="en-US" sz="1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用户页表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graphicFrame>
        <p:nvGraphicFramePr>
          <p:cNvPr id="43" name="表格 42">
            <a:extLst>
              <a:ext uri="{FF2B5EF4-FFF2-40B4-BE49-F238E27FC236}">
                <a16:creationId xmlns:a16="http://schemas.microsoft.com/office/drawing/2014/main" id="{B8E5B29E-2FAF-2CE2-F922-7C309F4A2F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872291"/>
              </p:ext>
            </p:extLst>
          </p:nvPr>
        </p:nvGraphicFramePr>
        <p:xfrm>
          <a:off x="8620894" y="4008933"/>
          <a:ext cx="3312368" cy="1742440"/>
        </p:xfrm>
        <a:graphic>
          <a:graphicData uri="http://schemas.openxmlformats.org/drawingml/2006/table">
            <a:tbl>
              <a:tblPr firstRow="1" bandRow="1"/>
              <a:tblGrid>
                <a:gridCol w="1746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72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68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Page Base Address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45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45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s/u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45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r/w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45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45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65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0x201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8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???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……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0x200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……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492874"/>
                  </a:ext>
                </a:extLst>
              </a:tr>
            </a:tbl>
          </a:graphicData>
        </a:graphic>
      </p:graphicFrame>
      <p:sp>
        <p:nvSpPr>
          <p:cNvPr id="44" name="文本框 43">
            <a:extLst>
              <a:ext uri="{FF2B5EF4-FFF2-40B4-BE49-F238E27FC236}">
                <a16:creationId xmlns:a16="http://schemas.microsoft.com/office/drawing/2014/main" id="{AAB9B2B9-E6B9-9FF3-B5E2-7DE8A8AB133B}"/>
              </a:ext>
            </a:extLst>
          </p:cNvPr>
          <p:cNvSpPr txBox="1"/>
          <p:nvPr/>
        </p:nvSpPr>
        <p:spPr>
          <a:xfrm>
            <a:off x="8357973" y="3196457"/>
            <a:ext cx="17356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微软雅黑" panose="020B0503020204020204" pitchFamily="34" charset="-122"/>
              </a:rPr>
              <a:t>进程创建时动态分配，写入</a:t>
            </a:r>
            <a:r>
              <a:rPr lang="en-US" altLang="zh-CN" sz="1400" b="1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微软雅黑" panose="020B0503020204020204" pitchFamily="34" charset="-122"/>
              </a:rPr>
              <a:t>CR3</a:t>
            </a:r>
            <a:endParaRPr lang="en-US" altLang="zh-CN" sz="1400" b="1" dirty="0">
              <a:solidFill>
                <a:srgbClr val="C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" name="连接符: 肘形 110">
            <a:extLst>
              <a:ext uri="{FF2B5EF4-FFF2-40B4-BE49-F238E27FC236}">
                <a16:creationId xmlns:a16="http://schemas.microsoft.com/office/drawing/2014/main" id="{295DE7D5-C128-2B8F-979B-41405E997D56}"/>
              </a:ext>
            </a:extLst>
          </p:cNvPr>
          <p:cNvCxnSpPr>
            <a:cxnSpLocks/>
            <a:stCxn id="27" idx="3"/>
            <a:endCxn id="43" idx="1"/>
          </p:cNvCxnSpPr>
          <p:nvPr/>
        </p:nvCxnSpPr>
        <p:spPr>
          <a:xfrm>
            <a:off x="8099800" y="3722432"/>
            <a:ext cx="521094" cy="1157721"/>
          </a:xfrm>
          <a:prstGeom prst="bentConnector3">
            <a:avLst>
              <a:gd name="adj1" fmla="val 50000"/>
            </a:avLst>
          </a:prstGeom>
          <a:noFill/>
          <a:ln w="15875" cap="flat" cmpd="sng" algn="ctr">
            <a:solidFill>
              <a:sysClr val="windowText" lastClr="000000"/>
            </a:solidFill>
            <a:prstDash val="solid"/>
            <a:headEnd type="none" w="med" len="med"/>
            <a:tailEnd type="triangle" w="med" len="lg"/>
          </a:ln>
          <a:effectLst/>
        </p:spPr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74766056-1888-799F-BFAE-10C161B2D7BB}"/>
              </a:ext>
            </a:extLst>
          </p:cNvPr>
          <p:cNvSpPr txBox="1"/>
          <p:nvPr/>
        </p:nvSpPr>
        <p:spPr>
          <a:xfrm>
            <a:off x="6929363" y="4275340"/>
            <a:ext cx="17356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微软雅黑" panose="020B0503020204020204" pitchFamily="34" charset="-122"/>
              </a:rPr>
              <a:t>进程创建时动态分配，登记入页目录</a:t>
            </a:r>
            <a:endParaRPr lang="en-US" altLang="zh-CN" sz="1400" b="1" dirty="0">
              <a:solidFill>
                <a:srgbClr val="C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69D002F-16F7-0E0F-DBD4-B0570F284DCE}"/>
              </a:ext>
            </a:extLst>
          </p:cNvPr>
          <p:cNvSpPr/>
          <p:nvPr/>
        </p:nvSpPr>
        <p:spPr>
          <a:xfrm>
            <a:off x="6168008" y="5814020"/>
            <a:ext cx="5398341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）每个进程的页目录不同</a:t>
            </a:r>
          </a:p>
        </p:txBody>
      </p:sp>
    </p:spTree>
    <p:extLst>
      <p:ext uri="{BB962C8B-B14F-4D97-AF65-F5344CB8AC3E}">
        <p14:creationId xmlns:p14="http://schemas.microsoft.com/office/powerpoint/2010/main" val="1413027739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82E4A4-4B4D-41BF-9F68-1575C742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353A2E-92EE-4F23-A078-2A07C43737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C4DE104-5DA1-4B88-B642-58DE3423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页表系统</a:t>
            </a: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9FB98FB3-625B-1981-5909-CDC208977DD3}"/>
              </a:ext>
            </a:extLst>
          </p:cNvPr>
          <p:cNvGrpSpPr/>
          <p:nvPr/>
        </p:nvGrpSpPr>
        <p:grpSpPr>
          <a:xfrm>
            <a:off x="637672" y="797428"/>
            <a:ext cx="2537493" cy="5593557"/>
            <a:chOff x="119336" y="632221"/>
            <a:chExt cx="2537493" cy="5593557"/>
          </a:xfrm>
        </p:grpSpPr>
        <p:sp>
          <p:nvSpPr>
            <p:cNvPr id="77" name="矩形 83">
              <a:extLst>
                <a:ext uri="{FF2B5EF4-FFF2-40B4-BE49-F238E27FC236}">
                  <a16:creationId xmlns:a16="http://schemas.microsoft.com/office/drawing/2014/main" id="{01612BA3-A3EA-FE9E-1C27-2E7F0FDCB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438" y="3974628"/>
              <a:ext cx="907527" cy="227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3G+1M</a:t>
              </a:r>
            </a:p>
          </p:txBody>
        </p:sp>
        <p:sp>
          <p:nvSpPr>
            <p:cNvPr id="78" name="矩形 83">
              <a:extLst>
                <a:ext uri="{FF2B5EF4-FFF2-40B4-BE49-F238E27FC236}">
                  <a16:creationId xmlns:a16="http://schemas.microsoft.com/office/drawing/2014/main" id="{99F4B1C2-880D-BFF8-6666-083B512CFD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056" y="4356990"/>
              <a:ext cx="1020960" cy="2420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3G+1.5M</a:t>
              </a:r>
            </a:p>
          </p:txBody>
        </p:sp>
        <p:sp>
          <p:nvSpPr>
            <p:cNvPr id="79" name="矩形 83">
              <a:extLst>
                <a:ext uri="{FF2B5EF4-FFF2-40B4-BE49-F238E27FC236}">
                  <a16:creationId xmlns:a16="http://schemas.microsoft.com/office/drawing/2014/main" id="{B2607093-C08B-0129-255F-03AB69B8B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24" y="4755427"/>
              <a:ext cx="907527" cy="227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3G+2M</a:t>
              </a:r>
            </a:p>
          </p:txBody>
        </p:sp>
        <p:grpSp>
          <p:nvGrpSpPr>
            <p:cNvPr id="80" name="组合 154">
              <a:extLst>
                <a:ext uri="{FF2B5EF4-FFF2-40B4-BE49-F238E27FC236}">
                  <a16:creationId xmlns:a16="http://schemas.microsoft.com/office/drawing/2014/main" id="{FADA5135-579F-4E1C-706B-204914BD8FEF}"/>
                </a:ext>
              </a:extLst>
            </p:cNvPr>
            <p:cNvGrpSpPr/>
            <p:nvPr/>
          </p:nvGrpSpPr>
          <p:grpSpPr>
            <a:xfrm>
              <a:off x="119336" y="632221"/>
              <a:ext cx="2537493" cy="5593557"/>
              <a:chOff x="-233782" y="836712"/>
              <a:chExt cx="2537493" cy="5593557"/>
            </a:xfrm>
          </p:grpSpPr>
          <p:grpSp>
            <p:nvGrpSpPr>
              <p:cNvPr id="81" name="组合 7">
                <a:extLst>
                  <a:ext uri="{FF2B5EF4-FFF2-40B4-BE49-F238E27FC236}">
                    <a16:creationId xmlns:a16="http://schemas.microsoft.com/office/drawing/2014/main" id="{B4A70305-E536-C926-C774-5E08F629B0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1773" y="836712"/>
                <a:ext cx="1531938" cy="5484937"/>
                <a:chOff x="1244518" y="931129"/>
                <a:chExt cx="1532942" cy="5484953"/>
              </a:xfrm>
            </p:grpSpPr>
            <p:grpSp>
              <p:nvGrpSpPr>
                <p:cNvPr id="86" name="组合 6">
                  <a:extLst>
                    <a:ext uri="{FF2B5EF4-FFF2-40B4-BE49-F238E27FC236}">
                      <a16:creationId xmlns:a16="http://schemas.microsoft.com/office/drawing/2014/main" id="{44FAA9FF-55F6-497C-2BCD-270EEA8DA53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08059" y="3956058"/>
                  <a:ext cx="1469401" cy="2460024"/>
                  <a:chOff x="3535262" y="1401025"/>
                  <a:chExt cx="1469401" cy="2460024"/>
                </a:xfrm>
              </p:grpSpPr>
              <p:sp>
                <p:nvSpPr>
                  <p:cNvPr id="96" name="矩形 95">
                    <a:extLst>
                      <a:ext uri="{FF2B5EF4-FFF2-40B4-BE49-F238E27FC236}">
                        <a16:creationId xmlns:a16="http://schemas.microsoft.com/office/drawing/2014/main" id="{07B4C9F2-75A4-B540-9843-40EECCA2E906}"/>
                      </a:ext>
                    </a:extLst>
                  </p:cNvPr>
                  <p:cNvSpPr/>
                  <p:nvPr/>
                </p:nvSpPr>
                <p:spPr>
                  <a:xfrm>
                    <a:off x="3549125" y="1401025"/>
                    <a:ext cx="1437630" cy="2460024"/>
                  </a:xfrm>
                  <a:prstGeom prst="rect">
                    <a:avLst/>
                  </a:prstGeom>
                  <a:solidFill>
                    <a:srgbClr val="00B050"/>
                  </a:solidFill>
                  <a:effectLst/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endParaRPr lang="en-US" altLang="zh-CN" sz="20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97" name="直接箭头连接符 96">
                    <a:extLst>
                      <a:ext uri="{FF2B5EF4-FFF2-40B4-BE49-F238E27FC236}">
                        <a16:creationId xmlns:a16="http://schemas.microsoft.com/office/drawing/2014/main" id="{FAB7E796-12F0-442F-55BC-F11E6FE07DB1}"/>
                      </a:ext>
                    </a:extLst>
                  </p:cNvPr>
                  <p:cNvCxnSpPr/>
                  <p:nvPr/>
                </p:nvCxnSpPr>
                <p:spPr>
                  <a:xfrm>
                    <a:off x="3563856" y="1862397"/>
                    <a:ext cx="1440807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98" name="直接箭头连接符 97">
                    <a:extLst>
                      <a:ext uri="{FF2B5EF4-FFF2-40B4-BE49-F238E27FC236}">
                        <a16:creationId xmlns:a16="http://schemas.microsoft.com/office/drawing/2014/main" id="{2602476E-2DF4-78A3-C40F-2CFA8A17D2F7}"/>
                      </a:ext>
                    </a:extLst>
                  </p:cNvPr>
                  <p:cNvCxnSpPr/>
                  <p:nvPr/>
                </p:nvCxnSpPr>
                <p:spPr>
                  <a:xfrm>
                    <a:off x="3537101" y="2230374"/>
                    <a:ext cx="1440558" cy="75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99" name="直接箭头连接符 98">
                    <a:extLst>
                      <a:ext uri="{FF2B5EF4-FFF2-40B4-BE49-F238E27FC236}">
                        <a16:creationId xmlns:a16="http://schemas.microsoft.com/office/drawing/2014/main" id="{42E2B389-5BED-08D0-70F2-0E4F3EE28D0D}"/>
                      </a:ext>
                    </a:extLst>
                  </p:cNvPr>
                  <p:cNvCxnSpPr/>
                  <p:nvPr/>
                </p:nvCxnSpPr>
                <p:spPr>
                  <a:xfrm>
                    <a:off x="3551399" y="2612821"/>
                    <a:ext cx="1426261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100" name="矩形 96">
                    <a:extLst>
                      <a:ext uri="{FF2B5EF4-FFF2-40B4-BE49-F238E27FC236}">
                        <a16:creationId xmlns:a16="http://schemas.microsoft.com/office/drawing/2014/main" id="{01D9FB7B-C476-A3C8-381F-50FA55304D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43594" y="1508767"/>
                    <a:ext cx="1045783" cy="240040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保留区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1" name="矩形 98">
                    <a:extLst>
                      <a:ext uri="{FF2B5EF4-FFF2-40B4-BE49-F238E27FC236}">
                        <a16:creationId xmlns:a16="http://schemas.microsoft.com/office/drawing/2014/main" id="{B3AE625F-B67D-9842-86F9-B148FCA781E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69553" y="1966319"/>
                    <a:ext cx="1117790" cy="198407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内核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102" name="直接箭头连接符 101">
                    <a:extLst>
                      <a:ext uri="{FF2B5EF4-FFF2-40B4-BE49-F238E27FC236}">
                        <a16:creationId xmlns:a16="http://schemas.microsoft.com/office/drawing/2014/main" id="{CC86AA37-EE26-7F59-DB3B-6611039ECAF1}"/>
                      </a:ext>
                    </a:extLst>
                  </p:cNvPr>
                  <p:cNvCxnSpPr/>
                  <p:nvPr/>
                </p:nvCxnSpPr>
                <p:spPr>
                  <a:xfrm>
                    <a:off x="3535262" y="3500686"/>
                    <a:ext cx="1442397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103" name="矩形 105">
                    <a:extLst>
                      <a:ext uri="{FF2B5EF4-FFF2-40B4-BE49-F238E27FC236}">
                        <a16:creationId xmlns:a16="http://schemas.microsoft.com/office/drawing/2014/main" id="{F4F8D36F-6644-ED53-6A72-70F52CD608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568020" y="2239583"/>
                    <a:ext cx="1357035" cy="373238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0" rIns="0"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内核堆对象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4" name="矩形 110">
                    <a:extLst>
                      <a:ext uri="{FF2B5EF4-FFF2-40B4-BE49-F238E27FC236}">
                        <a16:creationId xmlns:a16="http://schemas.microsoft.com/office/drawing/2014/main" id="{8950FC1D-F552-06F9-D44A-4EDC16B64D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55881" y="2900110"/>
                    <a:ext cx="1185607" cy="348956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页表区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5" name="矩形 111">
                    <a:extLst>
                      <a:ext uri="{FF2B5EF4-FFF2-40B4-BE49-F238E27FC236}">
                        <a16:creationId xmlns:a16="http://schemas.microsoft.com/office/drawing/2014/main" id="{0BF58BFF-32B0-C5A2-3712-13833A8D20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55881" y="3573016"/>
                    <a:ext cx="1185607" cy="216836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en-US" altLang="zh-CN" sz="1600" kern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PPDA</a:t>
                    </a:r>
                  </a:p>
                </p:txBody>
              </p:sp>
            </p:grpSp>
            <p:grpSp>
              <p:nvGrpSpPr>
                <p:cNvPr id="87" name="组合 5">
                  <a:extLst>
                    <a:ext uri="{FF2B5EF4-FFF2-40B4-BE49-F238E27FC236}">
                      <a16:creationId xmlns:a16="http://schemas.microsoft.com/office/drawing/2014/main" id="{DDC0DD60-C451-7C40-52E0-2E9A1F2A37A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44518" y="1248755"/>
                  <a:ext cx="1509582" cy="1981997"/>
                  <a:chOff x="2911404" y="2986958"/>
                  <a:chExt cx="1509582" cy="1981997"/>
                </a:xfrm>
              </p:grpSpPr>
              <p:sp>
                <p:nvSpPr>
                  <p:cNvPr id="89" name="矩形 88">
                    <a:extLst>
                      <a:ext uri="{FF2B5EF4-FFF2-40B4-BE49-F238E27FC236}">
                        <a16:creationId xmlns:a16="http://schemas.microsoft.com/office/drawing/2014/main" id="{EC9FE9D9-27EC-3CC9-FF8D-C1B051268294}"/>
                      </a:ext>
                    </a:extLst>
                  </p:cNvPr>
                  <p:cNvSpPr/>
                  <p:nvPr/>
                </p:nvSpPr>
                <p:spPr>
                  <a:xfrm>
                    <a:off x="2983357" y="2986958"/>
                    <a:ext cx="1437629" cy="1981997"/>
                  </a:xfrm>
                  <a:prstGeom prst="rect">
                    <a:avLst/>
                  </a:prstGeom>
                  <a:solidFill>
                    <a:srgbClr val="00B050"/>
                  </a:solidFill>
                  <a:effectLst/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endParaRPr lang="en-US" altLang="zh-CN" sz="20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90" name="直接箭头连接符 89">
                    <a:extLst>
                      <a:ext uri="{FF2B5EF4-FFF2-40B4-BE49-F238E27FC236}">
                        <a16:creationId xmlns:a16="http://schemas.microsoft.com/office/drawing/2014/main" id="{8C09E11B-1FF7-2217-1FE8-64E7090CE097}"/>
                      </a:ext>
                    </a:extLst>
                  </p:cNvPr>
                  <p:cNvCxnSpPr/>
                  <p:nvPr/>
                </p:nvCxnSpPr>
                <p:spPr>
                  <a:xfrm>
                    <a:off x="2911404" y="3366758"/>
                    <a:ext cx="1497994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91" name="矩形 62">
                    <a:extLst>
                      <a:ext uri="{FF2B5EF4-FFF2-40B4-BE49-F238E27FC236}">
                        <a16:creationId xmlns:a16="http://schemas.microsoft.com/office/drawing/2014/main" id="{7DEE31A1-B6B1-2AB6-644E-14D9FB09394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69718" y="3004503"/>
                    <a:ext cx="1045783" cy="334527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代码段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92" name="矩形 63">
                    <a:extLst>
                      <a:ext uri="{FF2B5EF4-FFF2-40B4-BE49-F238E27FC236}">
                        <a16:creationId xmlns:a16="http://schemas.microsoft.com/office/drawing/2014/main" id="{A86D96A0-E794-F900-74CB-443A3F4442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83277" y="3498186"/>
                    <a:ext cx="1045783" cy="426894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数据段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93" name="矩形 92">
                    <a:extLst>
                      <a:ext uri="{FF2B5EF4-FFF2-40B4-BE49-F238E27FC236}">
                        <a16:creationId xmlns:a16="http://schemas.microsoft.com/office/drawing/2014/main" id="{35718268-7047-125A-F6B7-33A58BB586E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84731" y="4596457"/>
                    <a:ext cx="1045783" cy="322836"/>
                  </a:xfrm>
                  <a:prstGeom prst="rect">
                    <a:avLst/>
                  </a:prstGeom>
                  <a:solidFill>
                    <a:srgbClr val="00B05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r>
                      <a:rPr lang="zh-CN" altLang="en-US" sz="1600" kern="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rPr>
                      <a:t>堆栈段</a:t>
                    </a:r>
                    <a:endParaRPr lang="en-US" altLang="zh-CN" sz="1600" kern="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94" name="矩形 82">
                    <a:extLst>
                      <a:ext uri="{FF2B5EF4-FFF2-40B4-BE49-F238E27FC236}">
                        <a16:creationId xmlns:a16="http://schemas.microsoft.com/office/drawing/2014/main" id="{BBBAFB8C-12CE-C258-4301-BA763F7A1F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71768" y="4097654"/>
                    <a:ext cx="1438028" cy="485909"/>
                  </a:xfrm>
                  <a:prstGeom prst="rect">
                    <a:avLst/>
                  </a:prstGeom>
                  <a:pattFill prst="dkUpDiag">
                    <a:fgClr>
                      <a:srgbClr val="00B050"/>
                    </a:fgClr>
                    <a:bgClr>
                      <a:sysClr val="window" lastClr="FFFFFF"/>
                    </a:bgClr>
                  </a:patt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 anchorCtr="1"/>
                  <a:lstStyle/>
                  <a:p>
                    <a:pPr algn="ctr">
                      <a:defRPr/>
                    </a:pPr>
                    <a:endParaRPr lang="en-US" altLang="zh-CN" sz="2000" kern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95" name="直接箭头连接符 94">
                    <a:extLst>
                      <a:ext uri="{FF2B5EF4-FFF2-40B4-BE49-F238E27FC236}">
                        <a16:creationId xmlns:a16="http://schemas.microsoft.com/office/drawing/2014/main" id="{DA0B9ADD-A376-426B-B3F0-47337B7B72DC}"/>
                      </a:ext>
                    </a:extLst>
                  </p:cNvPr>
                  <p:cNvCxnSpPr/>
                  <p:nvPr/>
                </p:nvCxnSpPr>
                <p:spPr>
                  <a:xfrm>
                    <a:off x="2911404" y="4087098"/>
                    <a:ext cx="1497994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" lastClr="FFFFFF"/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88" name="矩形 87">
                  <a:extLst>
                    <a:ext uri="{FF2B5EF4-FFF2-40B4-BE49-F238E27FC236}">
                      <a16:creationId xmlns:a16="http://schemas.microsoft.com/office/drawing/2014/main" id="{B5D892B2-8216-2784-9573-87A761F21BE8}"/>
                    </a:ext>
                  </a:extLst>
                </p:cNvPr>
                <p:cNvSpPr/>
                <p:nvPr/>
              </p:nvSpPr>
              <p:spPr>
                <a:xfrm>
                  <a:off x="1304883" y="931129"/>
                  <a:ext cx="1456692" cy="5484953"/>
                </a:xfrm>
                <a:prstGeom prst="rect">
                  <a:avLst/>
                </a:prstGeom>
                <a:noFill/>
                <a:ln w="19050" cap="flat" cmpd="sng" algn="ctr">
                  <a:solidFill>
                    <a:srgbClr val="008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2" name="矩形 224">
                <a:extLst>
                  <a:ext uri="{FF2B5EF4-FFF2-40B4-BE49-F238E27FC236}">
                    <a16:creationId xmlns:a16="http://schemas.microsoft.com/office/drawing/2014/main" id="{6B3A0342-4168-76C9-EF56-0C606EF077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3680" y="1071785"/>
                <a:ext cx="907527" cy="2286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>
                  <a:defRPr/>
                </a:pPr>
                <a:r>
                  <a:rPr lang="en-US" altLang="zh-CN" sz="1400" kern="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4M+4K</a:t>
                </a:r>
              </a:p>
            </p:txBody>
          </p:sp>
          <p:sp>
            <p:nvSpPr>
              <p:cNvPr id="83" name="矩形 227">
                <a:extLst>
                  <a:ext uri="{FF2B5EF4-FFF2-40B4-BE49-F238E27FC236}">
                    <a16:creationId xmlns:a16="http://schemas.microsoft.com/office/drawing/2014/main" id="{8C880805-5CBF-93B6-2443-C422C4B541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807" y="3025654"/>
                <a:ext cx="846349" cy="2333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>
                  <a:defRPr/>
                </a:pPr>
                <a:r>
                  <a:rPr lang="en-US" altLang="zh-CN" sz="1400" kern="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8M-1</a:t>
                </a:r>
              </a:p>
            </p:txBody>
          </p:sp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3A1D5CAF-32B4-8324-EE5A-5D230D54F7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339" y="3775670"/>
                <a:ext cx="608012" cy="2270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40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3G</a:t>
                </a:r>
              </a:p>
            </p:txBody>
          </p:sp>
          <p:sp>
            <p:nvSpPr>
              <p:cNvPr id="85" name="矩形 109">
                <a:extLst>
                  <a:ext uri="{FF2B5EF4-FFF2-40B4-BE49-F238E27FC236}">
                    <a16:creationId xmlns:a16="http://schemas.microsoft.com/office/drawing/2014/main" id="{FAE6B5B3-48C5-23C0-9126-D7309E5C3D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33782" y="6081313"/>
                <a:ext cx="1184830" cy="3489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 anchorCtr="1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400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3G+4M-1</a:t>
                </a:r>
              </a:p>
            </p:txBody>
          </p:sp>
        </p:grpSp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9E1FB41A-5093-B4BC-6FEF-8BB5DF15C9B4}"/>
              </a:ext>
            </a:extLst>
          </p:cNvPr>
          <p:cNvGrpSpPr/>
          <p:nvPr/>
        </p:nvGrpSpPr>
        <p:grpSpPr>
          <a:xfrm>
            <a:off x="3749753" y="874507"/>
            <a:ext cx="2492598" cy="5407858"/>
            <a:chOff x="9336360" y="685438"/>
            <a:chExt cx="2492598" cy="5407858"/>
          </a:xfrm>
        </p:grpSpPr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D6FD0E61-8AA2-6100-348C-A71C6D696AE9}"/>
                </a:ext>
              </a:extLst>
            </p:cNvPr>
            <p:cNvSpPr/>
            <p:nvPr/>
          </p:nvSpPr>
          <p:spPr>
            <a:xfrm>
              <a:off x="9336360" y="843434"/>
              <a:ext cx="1511300" cy="530225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保留区</a:t>
              </a:r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FF669A26-143D-AD49-1995-56A90807434C}"/>
                </a:ext>
              </a:extLst>
            </p:cNvPr>
            <p:cNvSpPr/>
            <p:nvPr/>
          </p:nvSpPr>
          <p:spPr>
            <a:xfrm>
              <a:off x="9336360" y="1396007"/>
              <a:ext cx="1511300" cy="331787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内核</a:t>
              </a: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01B9289D-B3FE-B817-43D9-237E58E0B3C3}"/>
                </a:ext>
              </a:extLst>
            </p:cNvPr>
            <p:cNvSpPr/>
            <p:nvPr/>
          </p:nvSpPr>
          <p:spPr>
            <a:xfrm>
              <a:off x="9336360" y="1754742"/>
              <a:ext cx="1511300" cy="331788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内核堆对象</a:t>
              </a:r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2C6A8820-4D1B-8A02-52FB-5E2EA80D757B}"/>
                </a:ext>
              </a:extLst>
            </p:cNvPr>
            <p:cNvSpPr/>
            <p:nvPr/>
          </p:nvSpPr>
          <p:spPr>
            <a:xfrm>
              <a:off x="9336360" y="2099142"/>
              <a:ext cx="1511300" cy="878026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页表区</a:t>
              </a:r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6B93BF43-1F1A-D273-5885-00DF378DDC36}"/>
                </a:ext>
              </a:extLst>
            </p:cNvPr>
            <p:cNvSpPr/>
            <p:nvPr/>
          </p:nvSpPr>
          <p:spPr>
            <a:xfrm>
              <a:off x="9341122" y="3104034"/>
              <a:ext cx="1508124" cy="2989262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用户区</a:t>
              </a:r>
            </a:p>
          </p:txBody>
        </p:sp>
        <p:sp>
          <p:nvSpPr>
            <p:cNvPr id="112" name="矩形 47">
              <a:extLst>
                <a:ext uri="{FF2B5EF4-FFF2-40B4-BE49-F238E27FC236}">
                  <a16:creationId xmlns:a16="http://schemas.microsoft.com/office/drawing/2014/main" id="{272B2F6F-68A9-0EA8-96CA-624DE5F65A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0965" y="685438"/>
              <a:ext cx="690562" cy="338361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113" name="矩形 49">
              <a:extLst>
                <a:ext uri="{FF2B5EF4-FFF2-40B4-BE49-F238E27FC236}">
                  <a16:creationId xmlns:a16="http://schemas.microsoft.com/office/drawing/2014/main" id="{884578A6-6C31-6DA8-3BA5-FDDAD9880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9892" y="1210650"/>
              <a:ext cx="690562" cy="4349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1M</a:t>
              </a:r>
            </a:p>
          </p:txBody>
        </p:sp>
        <p:sp>
          <p:nvSpPr>
            <p:cNvPr id="114" name="矩形 39">
              <a:extLst>
                <a:ext uri="{FF2B5EF4-FFF2-40B4-BE49-F238E27FC236}">
                  <a16:creationId xmlns:a16="http://schemas.microsoft.com/office/drawing/2014/main" id="{F2C9BA4B-9EEF-6DE1-275F-A463F2F35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1750" y="1595450"/>
              <a:ext cx="865187" cy="3206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1.5M</a:t>
              </a:r>
            </a:p>
          </p:txBody>
        </p:sp>
        <p:sp>
          <p:nvSpPr>
            <p:cNvPr id="115" name="矩形 41">
              <a:extLst>
                <a:ext uri="{FF2B5EF4-FFF2-40B4-BE49-F238E27FC236}">
                  <a16:creationId xmlns:a16="http://schemas.microsoft.com/office/drawing/2014/main" id="{76AB1974-BF2D-B6FA-F024-213BE4825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1750" y="1901782"/>
              <a:ext cx="865187" cy="4349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2M</a:t>
              </a:r>
            </a:p>
          </p:txBody>
        </p:sp>
        <p:sp>
          <p:nvSpPr>
            <p:cNvPr id="116" name="矩形 43">
              <a:extLst>
                <a:ext uri="{FF2B5EF4-FFF2-40B4-BE49-F238E27FC236}">
                  <a16:creationId xmlns:a16="http://schemas.microsoft.com/office/drawing/2014/main" id="{EC886D0A-D8D0-B573-3922-81CE21F5C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1448" y="2889181"/>
              <a:ext cx="1017510" cy="4349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4M</a:t>
              </a:r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86835D63-52C1-EBF5-F2B7-44F624F10700}"/>
                </a:ext>
              </a:extLst>
            </p:cNvPr>
            <p:cNvSpPr/>
            <p:nvPr/>
          </p:nvSpPr>
          <p:spPr>
            <a:xfrm>
              <a:off x="9336360" y="845021"/>
              <a:ext cx="1511300" cy="5248275"/>
            </a:xfrm>
            <a:prstGeom prst="rect">
              <a:avLst/>
            </a:prstGeom>
            <a:noFill/>
            <a:ln w="19050" cap="flat" cmpd="sng" algn="ctr">
              <a:solidFill>
                <a:srgbClr val="008000"/>
              </a:solidFill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1600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C72CF2B1-8776-B203-71DF-A8E7DAEA9CCD}"/>
              </a:ext>
            </a:extLst>
          </p:cNvPr>
          <p:cNvCxnSpPr>
            <a:cxnSpLocks/>
          </p:cNvCxnSpPr>
          <p:nvPr/>
        </p:nvCxnSpPr>
        <p:spPr>
          <a:xfrm flipH="1">
            <a:off x="3164052" y="2260076"/>
            <a:ext cx="574590" cy="2774065"/>
          </a:xfrm>
          <a:prstGeom prst="straightConnector1">
            <a:avLst/>
          </a:prstGeom>
          <a:noFill/>
          <a:ln w="12700" cap="flat" cmpd="sng" algn="ctr">
            <a:solidFill>
              <a:srgbClr val="008000"/>
            </a:solidFill>
            <a:prstDash val="solid"/>
            <a:headEnd type="triangle" w="med" len="lg"/>
            <a:tailEnd type="none" w="med" len="med"/>
          </a:ln>
          <a:effectLst/>
        </p:spPr>
      </p:cxn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F2E8D366-2F6A-6D64-B238-6EDFF2EB867F}"/>
              </a:ext>
            </a:extLst>
          </p:cNvPr>
          <p:cNvCxnSpPr>
            <a:cxnSpLocks/>
          </p:cNvCxnSpPr>
          <p:nvPr/>
        </p:nvCxnSpPr>
        <p:spPr>
          <a:xfrm flipH="1">
            <a:off x="3165675" y="3166237"/>
            <a:ext cx="595188" cy="2755766"/>
          </a:xfrm>
          <a:prstGeom prst="straightConnector1">
            <a:avLst/>
          </a:prstGeom>
          <a:noFill/>
          <a:ln w="12700" cap="flat" cmpd="sng" algn="ctr">
            <a:solidFill>
              <a:srgbClr val="008000"/>
            </a:solidFill>
            <a:prstDash val="solid"/>
            <a:headEnd type="triangle" w="med" len="lg"/>
            <a:tailEnd type="none" w="med" len="med"/>
          </a:ln>
          <a:effectLst/>
        </p:spPr>
      </p:cxnSp>
      <p:sp>
        <p:nvSpPr>
          <p:cNvPr id="168" name="Rectangle 4">
            <a:extLst>
              <a:ext uri="{FF2B5EF4-FFF2-40B4-BE49-F238E27FC236}">
                <a16:creationId xmlns:a16="http://schemas.microsoft.com/office/drawing/2014/main" id="{60CA974C-1E35-3437-1DCE-51D492D1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29" y="2715812"/>
            <a:ext cx="244012" cy="142637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wrap="square" tIns="0" bIns="0" anchor="ctr" anchorCtr="1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页表的构成</a:t>
            </a:r>
          </a:p>
        </p:txBody>
      </p:sp>
      <p:sp>
        <p:nvSpPr>
          <p:cNvPr id="8" name="矩形 72">
            <a:extLst>
              <a:ext uri="{FF2B5EF4-FFF2-40B4-BE49-F238E27FC236}">
                <a16:creationId xmlns:a16="http://schemas.microsoft.com/office/drawing/2014/main" id="{F0833D31-948F-EB13-0D72-C9F5FE43A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413" y="940393"/>
            <a:ext cx="1979613" cy="358775"/>
          </a:xfrm>
          <a:prstGeom prst="rect">
            <a:avLst/>
          </a:prstGeom>
          <a:gradFill rotWithShape="1">
            <a:gsLst>
              <a:gs pos="0">
                <a:srgbClr val="8B4F00"/>
              </a:gs>
              <a:gs pos="50000">
                <a:srgbClr val="C97500"/>
              </a:gs>
              <a:gs pos="100000">
                <a:srgbClr val="EF8C00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 latinLnBrk="1">
              <a:defRPr/>
            </a:pPr>
            <a:r>
              <a:rPr kumimoji="1" lang="en-US" altLang="zh-CN" sz="16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Table 768#</a:t>
            </a:r>
            <a:endParaRPr kumimoji="1"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4239AD3-F1EE-A6E9-0049-7E0FF094E32B}"/>
              </a:ext>
            </a:extLst>
          </p:cNvPr>
          <p:cNvCxnSpPr>
            <a:cxnSpLocks/>
          </p:cNvCxnSpPr>
          <p:nvPr/>
        </p:nvCxnSpPr>
        <p:spPr>
          <a:xfrm flipH="1">
            <a:off x="5254358" y="936397"/>
            <a:ext cx="873647" cy="1377530"/>
          </a:xfrm>
          <a:prstGeom prst="straightConnector1">
            <a:avLst/>
          </a:prstGeom>
          <a:noFill/>
          <a:ln w="19050" cap="flat" cmpd="sng" algn="ctr">
            <a:solidFill>
              <a:srgbClr val="008000"/>
            </a:solidFill>
            <a:prstDash val="dash"/>
            <a:headEnd type="none" w="med" len="med"/>
            <a:tailEnd type="none" w="med" len="med"/>
          </a:ln>
          <a:effectLst/>
        </p:spPr>
      </p:cxnSp>
      <p:sp>
        <p:nvSpPr>
          <p:cNvPr id="10" name="矩形 81">
            <a:extLst>
              <a:ext uri="{FF2B5EF4-FFF2-40B4-BE49-F238E27FC236}">
                <a16:creationId xmlns:a16="http://schemas.microsoft.com/office/drawing/2014/main" id="{A05DD484-5926-5D80-796C-B92D9C4C8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9201" y="1299934"/>
            <a:ext cx="1344612" cy="43497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altLang="zh-CN" sz="1400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0x201</a:t>
            </a:r>
            <a:r>
              <a:rPr lang="zh-CN" altLang="en-US" sz="1400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号</a:t>
            </a: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页框</a:t>
            </a:r>
            <a:endParaRPr lang="en-US" altLang="zh-CN" sz="14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1" name="矩形 86">
            <a:extLst>
              <a:ext uri="{FF2B5EF4-FFF2-40B4-BE49-F238E27FC236}">
                <a16:creationId xmlns:a16="http://schemas.microsoft.com/office/drawing/2014/main" id="{C8E9A779-8DB8-1C49-5E33-AD66BB949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413" y="1315043"/>
            <a:ext cx="1979613" cy="361950"/>
          </a:xfrm>
          <a:prstGeom prst="rect">
            <a:avLst/>
          </a:prstGeom>
          <a:gradFill rotWithShape="1">
            <a:gsLst>
              <a:gs pos="0">
                <a:srgbClr val="8B4F00"/>
              </a:gs>
              <a:gs pos="50000">
                <a:srgbClr val="C97500"/>
              </a:gs>
              <a:gs pos="100000">
                <a:srgbClr val="EF8C00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 latinLnBrk="1">
              <a:defRPr/>
            </a:pPr>
            <a:r>
              <a:rPr kumimoji="1" lang="en-US" altLang="zh-CN" sz="16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Table 0#</a:t>
            </a:r>
            <a:endParaRPr kumimoji="1"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88">
            <a:extLst>
              <a:ext uri="{FF2B5EF4-FFF2-40B4-BE49-F238E27FC236}">
                <a16:creationId xmlns:a16="http://schemas.microsoft.com/office/drawing/2014/main" id="{CDC08018-D09A-0446-47B3-251F03923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413" y="2104797"/>
            <a:ext cx="1979613" cy="342900"/>
          </a:xfrm>
          <a:prstGeom prst="rect">
            <a:avLst/>
          </a:prstGeom>
          <a:gradFill rotWithShape="1">
            <a:gsLst>
              <a:gs pos="0">
                <a:srgbClr val="8B4F00"/>
              </a:gs>
              <a:gs pos="50000">
                <a:srgbClr val="C97500"/>
              </a:gs>
              <a:gs pos="100000">
                <a:srgbClr val="EF8C00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 latinLnBrk="1">
              <a:defRPr/>
            </a:pPr>
            <a:r>
              <a:rPr kumimoji="1" lang="en-US" altLang="zh-CN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Table 1#</a:t>
            </a:r>
            <a:endParaRPr kumimoji="1"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7CDFDB1-F91B-68D4-2DBE-4290291D98D6}"/>
              </a:ext>
            </a:extLst>
          </p:cNvPr>
          <p:cNvCxnSpPr>
            <a:cxnSpLocks/>
          </p:cNvCxnSpPr>
          <p:nvPr/>
        </p:nvCxnSpPr>
        <p:spPr>
          <a:xfrm flipH="1" flipV="1">
            <a:off x="5261053" y="3155504"/>
            <a:ext cx="834947" cy="1065584"/>
          </a:xfrm>
          <a:prstGeom prst="straightConnector1">
            <a:avLst/>
          </a:prstGeom>
          <a:noFill/>
          <a:ln w="19050" cap="flat" cmpd="sng" algn="ctr">
            <a:solidFill>
              <a:srgbClr val="008000"/>
            </a:solidFill>
            <a:prstDash val="dash"/>
            <a:headEnd type="none" w="med" len="med"/>
            <a:tailEnd type="none" w="med" len="med"/>
          </a:ln>
          <a:effectLst/>
        </p:spPr>
      </p:cxnSp>
      <p:sp>
        <p:nvSpPr>
          <p:cNvPr id="16" name="矩形 109">
            <a:extLst>
              <a:ext uri="{FF2B5EF4-FFF2-40B4-BE49-F238E27FC236}">
                <a16:creationId xmlns:a16="http://schemas.microsoft.com/office/drawing/2014/main" id="{F2287899-AAC5-35C3-6D39-D36158652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413" y="2468333"/>
            <a:ext cx="1979613" cy="342900"/>
          </a:xfrm>
          <a:prstGeom prst="rect">
            <a:avLst/>
          </a:prstGeom>
          <a:solidFill>
            <a:srgbClr val="8F45C7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r" latinLnBrk="1">
              <a:defRPr/>
            </a:pPr>
            <a:r>
              <a:rPr kumimoji="1" lang="en-US" altLang="zh-CN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Directory</a:t>
            </a:r>
            <a:endParaRPr kumimoji="1"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12">
            <a:extLst>
              <a:ext uri="{FF2B5EF4-FFF2-40B4-BE49-F238E27FC236}">
                <a16:creationId xmlns:a16="http://schemas.microsoft.com/office/drawing/2014/main" id="{05E330B3-98AD-0558-F5CA-36D204353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413" y="2827108"/>
            <a:ext cx="1979613" cy="342900"/>
          </a:xfrm>
          <a:prstGeom prst="rect">
            <a:avLst/>
          </a:prstGeom>
          <a:gradFill rotWithShape="1">
            <a:gsLst>
              <a:gs pos="0">
                <a:srgbClr val="8B4F00"/>
              </a:gs>
              <a:gs pos="50000">
                <a:srgbClr val="C97500"/>
              </a:gs>
              <a:gs pos="100000">
                <a:srgbClr val="EF8C00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 latinLnBrk="1">
              <a:defRPr/>
            </a:pPr>
            <a:r>
              <a:rPr kumimoji="1" lang="en-US" altLang="zh-CN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Table 1#</a:t>
            </a:r>
            <a:endParaRPr kumimoji="1"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14">
            <a:extLst>
              <a:ext uri="{FF2B5EF4-FFF2-40B4-BE49-F238E27FC236}">
                <a16:creationId xmlns:a16="http://schemas.microsoft.com/office/drawing/2014/main" id="{8DBC2632-D23B-F00A-3A9D-AEEEF46E3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413" y="3187470"/>
            <a:ext cx="1979613" cy="342900"/>
          </a:xfrm>
          <a:prstGeom prst="rect">
            <a:avLst/>
          </a:prstGeom>
          <a:solidFill>
            <a:srgbClr val="8F45C7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r" latinLnBrk="1"/>
            <a:r>
              <a:rPr kumimoji="1" lang="en-US" altLang="zh-CN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Directory</a:t>
            </a:r>
            <a:endParaRPr kumimoji="1"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3">
            <a:extLst>
              <a:ext uri="{FF2B5EF4-FFF2-40B4-BE49-F238E27FC236}">
                <a16:creationId xmlns:a16="http://schemas.microsoft.com/office/drawing/2014/main" id="{243D8A24-811A-24DC-8253-5748916A2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2683" y="1412174"/>
            <a:ext cx="2238088" cy="712788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所有进程的核心页表和</a:t>
            </a:r>
            <a:r>
              <a:rPr lang="en-US" altLang="zh-CN" sz="20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0#</a:t>
            </a:r>
            <a:r>
              <a:rPr lang="zh-CN" altLang="en-US" sz="20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用户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页表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4966FBA-11E5-680B-E6CE-8BE4E0C50EEA}"/>
              </a:ext>
            </a:extLst>
          </p:cNvPr>
          <p:cNvSpPr/>
          <p:nvPr/>
        </p:nvSpPr>
        <p:spPr>
          <a:xfrm>
            <a:off x="5654926" y="829756"/>
            <a:ext cx="3798887" cy="916266"/>
          </a:xfrm>
          <a:prstGeom prst="rect">
            <a:avLst/>
          </a:prstGeom>
          <a:noFill/>
          <a:ln w="19050" cap="flat" cmpd="sng" algn="ctr">
            <a:solidFill>
              <a:srgbClr val="DF890B"/>
            </a:solidFill>
            <a:prstDash val="dash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75">
            <a:extLst>
              <a:ext uri="{FF2B5EF4-FFF2-40B4-BE49-F238E27FC236}">
                <a16:creationId xmlns:a16="http://schemas.microsoft.com/office/drawing/2014/main" id="{7F364B2E-6B2E-3ACF-8610-74F71FD09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4109" y="955974"/>
            <a:ext cx="1347787" cy="433387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altLang="zh-CN" sz="1400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0x200</a:t>
            </a:r>
            <a:r>
              <a:rPr lang="zh-CN" altLang="en-US" sz="1400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号</a:t>
            </a: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页框</a:t>
            </a:r>
            <a:endParaRPr lang="en-US" altLang="zh-CN" sz="14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21" name="矩形 77">
            <a:extLst>
              <a:ext uri="{FF2B5EF4-FFF2-40B4-BE49-F238E27FC236}">
                <a16:creationId xmlns:a16="http://schemas.microsoft.com/office/drawing/2014/main" id="{0554689D-65BE-552E-0F0A-0127F0000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251" y="1688693"/>
            <a:ext cx="1979613" cy="403225"/>
          </a:xfrm>
          <a:prstGeom prst="rect">
            <a:avLst/>
          </a:prstGeom>
          <a:solidFill>
            <a:srgbClr val="8F45C7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r" latinLnBrk="1">
              <a:defRPr/>
            </a:pPr>
            <a:r>
              <a:rPr kumimoji="1" lang="en-US" altLang="zh-CN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Directory</a:t>
            </a:r>
            <a:endParaRPr kumimoji="1"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112">
            <a:extLst>
              <a:ext uri="{FF2B5EF4-FFF2-40B4-BE49-F238E27FC236}">
                <a16:creationId xmlns:a16="http://schemas.microsoft.com/office/drawing/2014/main" id="{F1868CD8-1CFB-BE84-4318-820D94C46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0187" y="3550982"/>
            <a:ext cx="1979613" cy="342900"/>
          </a:xfrm>
          <a:prstGeom prst="rect">
            <a:avLst/>
          </a:prstGeom>
          <a:gradFill rotWithShape="1">
            <a:gsLst>
              <a:gs pos="0">
                <a:srgbClr val="8B4F00"/>
              </a:gs>
              <a:gs pos="50000">
                <a:srgbClr val="C97500"/>
              </a:gs>
              <a:gs pos="100000">
                <a:srgbClr val="EF8C00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 latinLnBrk="1">
              <a:defRPr/>
            </a:pPr>
            <a:r>
              <a:rPr kumimoji="1" lang="en-US" altLang="zh-CN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Table 1#</a:t>
            </a:r>
            <a:endParaRPr kumimoji="1"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29C7ED9-C1FA-EF24-627B-893D45147CCB}"/>
              </a:ext>
            </a:extLst>
          </p:cNvPr>
          <p:cNvSpPr/>
          <p:nvPr/>
        </p:nvSpPr>
        <p:spPr>
          <a:xfrm>
            <a:off x="5893847" y="2446175"/>
            <a:ext cx="2362393" cy="720594"/>
          </a:xfrm>
          <a:prstGeom prst="rect">
            <a:avLst/>
          </a:prstGeom>
          <a:solidFill>
            <a:sysClr val="window" lastClr="FFFFFF">
              <a:lumMod val="50000"/>
              <a:alpha val="24000"/>
            </a:sysClr>
          </a:solidFill>
          <a:ln w="12700" cap="flat" cmpd="sng" algn="ctr">
            <a:solidFill>
              <a:sysClr val="windowText" lastClr="000000"/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矩形 97">
            <a:extLst>
              <a:ext uri="{FF2B5EF4-FFF2-40B4-BE49-F238E27FC236}">
                <a16:creationId xmlns:a16="http://schemas.microsoft.com/office/drawing/2014/main" id="{62B519EE-6BC8-D166-026E-4F1B7B2A0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8592" y="2639783"/>
            <a:ext cx="1861864" cy="457259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每个进程自己的页目录和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1#</a:t>
            </a:r>
            <a:r>
              <a:rPr lang="zh-CN" altLang="en-US" sz="1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用户页表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32" name="矩形 97">
            <a:extLst>
              <a:ext uri="{FF2B5EF4-FFF2-40B4-BE49-F238E27FC236}">
                <a16:creationId xmlns:a16="http://schemas.microsoft.com/office/drawing/2014/main" id="{89013C98-FFBA-E98D-E4EE-88451A38F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8005" y="3982274"/>
            <a:ext cx="1861864" cy="457259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。。。。。。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E8F3E9B-2B5A-53BE-EB01-25E8579E2D52}"/>
              </a:ext>
            </a:extLst>
          </p:cNvPr>
          <p:cNvSpPr/>
          <p:nvPr/>
        </p:nvSpPr>
        <p:spPr>
          <a:xfrm>
            <a:off x="5897022" y="1699231"/>
            <a:ext cx="2362393" cy="720594"/>
          </a:xfrm>
          <a:prstGeom prst="rect">
            <a:avLst/>
          </a:prstGeom>
          <a:solidFill>
            <a:sysClr val="window" lastClr="FFFFFF">
              <a:lumMod val="50000"/>
              <a:alpha val="24000"/>
            </a:sysClr>
          </a:solidFill>
          <a:ln w="12700" cap="flat" cmpd="sng" algn="ctr">
            <a:solidFill>
              <a:sysClr val="windowText" lastClr="000000"/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矩形 97">
            <a:extLst>
              <a:ext uri="{FF2B5EF4-FFF2-40B4-BE49-F238E27FC236}">
                <a16:creationId xmlns:a16="http://schemas.microsoft.com/office/drawing/2014/main" id="{1A070D0F-AA4B-7D06-C2A9-C760ED898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8592" y="1926089"/>
            <a:ext cx="1861864" cy="457259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0#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进程的页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目录和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1#</a:t>
            </a:r>
            <a:r>
              <a:rPr lang="zh-CN" altLang="en-US" sz="1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用户页表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4CD1F1F-12EE-407E-9459-1F6CA954FC46}"/>
              </a:ext>
            </a:extLst>
          </p:cNvPr>
          <p:cNvSpPr/>
          <p:nvPr/>
        </p:nvSpPr>
        <p:spPr>
          <a:xfrm>
            <a:off x="6168008" y="5814020"/>
            <a:ext cx="5398341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）每个进程的页目录不同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DAF02D-2E95-ACA9-4D17-832511E851F6}"/>
              </a:ext>
            </a:extLst>
          </p:cNvPr>
          <p:cNvSpPr txBox="1"/>
          <p:nvPr/>
        </p:nvSpPr>
        <p:spPr>
          <a:xfrm>
            <a:off x="5864304" y="4480032"/>
            <a:ext cx="6105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FlushPageDirectory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    </a:t>
            </a:r>
            <a:r>
              <a:rPr lang="en-US" altLang="zh-CN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</a:t>
            </a:r>
            <a:endParaRPr lang="en-US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   __</a:t>
            </a:r>
            <a:r>
              <a:rPr lang="en-US" altLang="zh-C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asm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__ _</a:t>
            </a:r>
            <a:r>
              <a:rPr lang="en-US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_volatile__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en-US" altLang="zh-C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movl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%0,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%%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cr3"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: : 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0x200000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 );</a:t>
            </a:r>
            <a:endParaRPr lang="en-US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58CC68C-062E-951C-72FD-2D6FEABFAB95}"/>
              </a:ext>
            </a:extLst>
          </p:cNvPr>
          <p:cNvSpPr txBox="1"/>
          <p:nvPr/>
        </p:nvSpPr>
        <p:spPr>
          <a:xfrm>
            <a:off x="5851516" y="5160142"/>
            <a:ext cx="6105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FlushPageDirectory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pgTable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</a:t>
            </a:r>
            <a:endParaRPr lang="en-US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   __</a:t>
            </a:r>
            <a:r>
              <a:rPr lang="en-US" altLang="zh-C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asm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__ _</a:t>
            </a:r>
            <a:r>
              <a:rPr lang="en-US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_volatile__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en-US" altLang="zh-C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movl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%0,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%%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cr3"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: : 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pgTable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));</a:t>
            </a:r>
            <a:endParaRPr lang="en-US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09D7C8C-8919-8AE0-BC59-76A1D660500B}"/>
              </a:ext>
            </a:extLst>
          </p:cNvPr>
          <p:cNvSpPr/>
          <p:nvPr/>
        </p:nvSpPr>
        <p:spPr>
          <a:xfrm>
            <a:off x="9840416" y="4687494"/>
            <a:ext cx="1392957" cy="251028"/>
          </a:xfrm>
          <a:prstGeom prst="roundRect">
            <a:avLst>
              <a:gd name="adj" fmla="val 7401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A155737-A51F-D952-7355-3578B50935A9}"/>
              </a:ext>
            </a:extLst>
          </p:cNvPr>
          <p:cNvSpPr/>
          <p:nvPr/>
        </p:nvSpPr>
        <p:spPr>
          <a:xfrm>
            <a:off x="9840416" y="5355788"/>
            <a:ext cx="1392957" cy="251028"/>
          </a:xfrm>
          <a:prstGeom prst="roundRect">
            <a:avLst>
              <a:gd name="adj" fmla="val 7401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859A25F-4422-E8C9-2094-81BD56A9B6C1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>
            <a:off x="10536895" y="4938522"/>
            <a:ext cx="0" cy="417266"/>
          </a:xfrm>
          <a:prstGeom prst="straightConnector1">
            <a:avLst/>
          </a:prstGeom>
          <a:noFill/>
          <a:ln w="22225" cap="flat" cmpd="sng" algn="ctr">
            <a:solidFill>
              <a:srgbClr val="C00000"/>
            </a:solidFill>
            <a:prstDash val="solid"/>
            <a:headEnd type="none" w="med" len="med"/>
            <a:tailEnd type="triangle" w="med" len="lg"/>
          </a:ln>
          <a:effectLst/>
        </p:spPr>
      </p:cxnSp>
    </p:spTree>
    <p:extLst>
      <p:ext uri="{BB962C8B-B14F-4D97-AF65-F5344CB8AC3E}">
        <p14:creationId xmlns:p14="http://schemas.microsoft.com/office/powerpoint/2010/main" val="2809764903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82E4A4-4B4D-41BF-9F68-1575C742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353A2E-92EE-4F23-A078-2A07C43737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C4DE104-5DA1-4B88-B642-58DE3423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页表系统</a:t>
            </a:r>
          </a:p>
        </p:txBody>
      </p:sp>
      <p:sp>
        <p:nvSpPr>
          <p:cNvPr id="168" name="Rectangle 4">
            <a:extLst>
              <a:ext uri="{FF2B5EF4-FFF2-40B4-BE49-F238E27FC236}">
                <a16:creationId xmlns:a16="http://schemas.microsoft.com/office/drawing/2014/main" id="{60CA974C-1E35-3437-1DCE-51D492D1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29" y="2715812"/>
            <a:ext cx="244012" cy="142637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wrap="square" tIns="0" bIns="0" anchor="ctr" anchorCtr="1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页表的构成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09DEDFF-140F-5852-7518-43E657CD4FF8}"/>
              </a:ext>
            </a:extLst>
          </p:cNvPr>
          <p:cNvSpPr/>
          <p:nvPr/>
        </p:nvSpPr>
        <p:spPr>
          <a:xfrm>
            <a:off x="4918792" y="1115918"/>
            <a:ext cx="1103490" cy="4849126"/>
          </a:xfrm>
          <a:prstGeom prst="rect">
            <a:avLst/>
          </a:prstGeom>
          <a:gradFill rotWithShape="1">
            <a:gsLst>
              <a:gs pos="0">
                <a:srgbClr val="63891F">
                  <a:tint val="50000"/>
                  <a:satMod val="300000"/>
                </a:srgbClr>
              </a:gs>
              <a:gs pos="35000">
                <a:srgbClr val="63891F">
                  <a:tint val="37000"/>
                  <a:satMod val="300000"/>
                </a:srgbClr>
              </a:gs>
              <a:gs pos="100000">
                <a:srgbClr val="63891F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63891F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CN" altLang="en-US" sz="2400" b="1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62">
            <a:extLst>
              <a:ext uri="{FF2B5EF4-FFF2-40B4-BE49-F238E27FC236}">
                <a16:creationId xmlns:a16="http://schemas.microsoft.com/office/drawing/2014/main" id="{8BD41BC9-65C4-B423-1116-B351B076FB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8330" y="1004421"/>
            <a:ext cx="42862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1400" b="1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62">
            <a:extLst>
              <a:ext uri="{FF2B5EF4-FFF2-40B4-BE49-F238E27FC236}">
                <a16:creationId xmlns:a16="http://schemas.microsoft.com/office/drawing/2014/main" id="{E4099A2E-66D0-4777-DDBA-243B989D7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797" y="5452957"/>
            <a:ext cx="50006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4M</a:t>
            </a:r>
            <a:endParaRPr lang="zh-CN" altLang="en-US" sz="1400" b="1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25">
            <a:extLst>
              <a:ext uri="{FF2B5EF4-FFF2-40B4-BE49-F238E27FC236}">
                <a16:creationId xmlns:a16="http://schemas.microsoft.com/office/drawing/2014/main" id="{CC6648FC-5831-5A03-8925-88319A5052CF}"/>
              </a:ext>
            </a:extLst>
          </p:cNvPr>
          <p:cNvGrpSpPr/>
          <p:nvPr/>
        </p:nvGrpSpPr>
        <p:grpSpPr>
          <a:xfrm>
            <a:off x="4925135" y="1380991"/>
            <a:ext cx="3000396" cy="527175"/>
            <a:chOff x="4071934" y="3187577"/>
            <a:chExt cx="3000396" cy="52717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E89DB36-550C-F6A6-227B-D73338909B4E}"/>
                </a:ext>
              </a:extLst>
            </p:cNvPr>
            <p:cNvSpPr/>
            <p:nvPr/>
          </p:nvSpPr>
          <p:spPr>
            <a:xfrm>
              <a:off x="4071934" y="3357562"/>
              <a:ext cx="1103490" cy="280095"/>
            </a:xfrm>
            <a:prstGeom prst="rect">
              <a:avLst/>
            </a:prstGeom>
            <a:solidFill>
              <a:srgbClr val="00B05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 anchorCtr="1"/>
            <a:lstStyle/>
            <a:p>
              <a:pPr algn="ctr">
                <a:defRPr/>
              </a:pPr>
              <a:endPara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EF55B489-A151-4CCD-4662-5149F3906B90}"/>
                </a:ext>
              </a:extLst>
            </p:cNvPr>
            <p:cNvCxnSpPr/>
            <p:nvPr/>
          </p:nvCxnSpPr>
          <p:spPr>
            <a:xfrm flipV="1">
              <a:off x="5214942" y="3187578"/>
              <a:ext cx="554626" cy="169984"/>
            </a:xfrm>
            <a:prstGeom prst="straightConnector1">
              <a:avLst/>
            </a:prstGeom>
            <a:noFill/>
            <a:ln w="38100" cap="flat" cmpd="sng" algn="ctr">
              <a:solidFill>
                <a:srgbClr val="63891F">
                  <a:lumMod val="75000"/>
                </a:srgbClr>
              </a:solidFill>
              <a:prstDash val="sysDot"/>
              <a:headEnd type="oval" w="med" len="med"/>
              <a:tailEnd type="triangle" w="med" len="lg"/>
            </a:ln>
            <a:effectLst/>
          </p:spPr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C7881DA1-1ADF-0062-74B8-33080FD3148A}"/>
                </a:ext>
              </a:extLst>
            </p:cNvPr>
            <p:cNvCxnSpPr/>
            <p:nvPr/>
          </p:nvCxnSpPr>
          <p:spPr>
            <a:xfrm>
              <a:off x="5214942" y="3650010"/>
              <a:ext cx="571504" cy="64742"/>
            </a:xfrm>
            <a:prstGeom prst="straightConnector1">
              <a:avLst/>
            </a:prstGeom>
            <a:noFill/>
            <a:ln w="38100" cap="flat" cmpd="sng" algn="ctr">
              <a:solidFill>
                <a:srgbClr val="63891F">
                  <a:lumMod val="75000"/>
                </a:srgbClr>
              </a:solidFill>
              <a:prstDash val="sysDot"/>
              <a:headEnd type="oval" w="med" len="med"/>
              <a:tailEnd type="triangle" w="med" len="lg"/>
            </a:ln>
            <a:effectLst/>
          </p:spPr>
        </p:cxn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31888CDA-B38D-0B8F-21AF-B0FD88CA3934}"/>
                </a:ext>
              </a:extLst>
            </p:cNvPr>
            <p:cNvSpPr/>
            <p:nvPr/>
          </p:nvSpPr>
          <p:spPr>
            <a:xfrm>
              <a:off x="5769568" y="3187577"/>
              <a:ext cx="1302762" cy="527175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2400" b="1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代码段</a:t>
              </a:r>
              <a:endParaRPr lang="en-US" altLang="zh-CN" sz="20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6" name="组合 30">
            <a:extLst>
              <a:ext uri="{FF2B5EF4-FFF2-40B4-BE49-F238E27FC236}">
                <a16:creationId xmlns:a16="http://schemas.microsoft.com/office/drawing/2014/main" id="{6F7F7686-3027-099C-616B-D5AB4B456B4E}"/>
              </a:ext>
            </a:extLst>
          </p:cNvPr>
          <p:cNvGrpSpPr/>
          <p:nvPr/>
        </p:nvGrpSpPr>
        <p:grpSpPr>
          <a:xfrm>
            <a:off x="4925135" y="2595437"/>
            <a:ext cx="3386679" cy="1560236"/>
            <a:chOff x="4071934" y="4212419"/>
            <a:chExt cx="3386679" cy="1560236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5D4C6BB8-4308-24C5-2924-53CD9ED8BA3F}"/>
                </a:ext>
              </a:extLst>
            </p:cNvPr>
            <p:cNvSpPr/>
            <p:nvPr/>
          </p:nvSpPr>
          <p:spPr>
            <a:xfrm>
              <a:off x="4071934" y="4714884"/>
              <a:ext cx="1103490" cy="500066"/>
            </a:xfrm>
            <a:prstGeom prst="rect">
              <a:avLst/>
            </a:prstGeom>
            <a:solidFill>
              <a:srgbClr val="00B05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 anchorCtr="1"/>
            <a:lstStyle/>
            <a:p>
              <a:pPr algn="ctr">
                <a:defRPr/>
              </a:pPr>
              <a:r>
                <a:rPr lang="zh-CN" altLang="en-US" sz="1400" b="1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进程</a:t>
              </a:r>
              <a:r>
                <a:rPr lang="en-US" altLang="zh-CN" sz="1400" b="1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pa</a:t>
              </a:r>
              <a:r>
                <a:rPr lang="zh-CN" altLang="en-US" sz="1400" b="1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的可交换部分</a:t>
              </a:r>
              <a:endParaRPr lang="en-US" altLang="zh-CN" sz="14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grpSp>
          <p:nvGrpSpPr>
            <p:cNvPr id="38" name="组合 26">
              <a:extLst>
                <a:ext uri="{FF2B5EF4-FFF2-40B4-BE49-F238E27FC236}">
                  <a16:creationId xmlns:a16="http://schemas.microsoft.com/office/drawing/2014/main" id="{AF6A9044-088F-5BB6-5720-635A333EE468}"/>
                </a:ext>
              </a:extLst>
            </p:cNvPr>
            <p:cNvGrpSpPr/>
            <p:nvPr/>
          </p:nvGrpSpPr>
          <p:grpSpPr>
            <a:xfrm>
              <a:off x="6000760" y="4212419"/>
              <a:ext cx="1457853" cy="1560236"/>
              <a:chOff x="5263574" y="3265711"/>
              <a:chExt cx="1457853" cy="1560236"/>
            </a:xfrm>
          </p:grpSpPr>
          <p:sp>
            <p:nvSpPr>
              <p:cNvPr id="41" name="TextBox 62">
                <a:extLst>
                  <a:ext uri="{FF2B5EF4-FFF2-40B4-BE49-F238E27FC236}">
                    <a16:creationId xmlns:a16="http://schemas.microsoft.com/office/drawing/2014/main" id="{96054859-B303-5994-546C-E50D2685A9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69862" y="4471963"/>
                <a:ext cx="1451565" cy="353984"/>
              </a:xfrm>
              <a:prstGeom prst="rect">
                <a:avLst/>
              </a:prstGeom>
              <a:gradFill rotWithShape="1">
                <a:gsLst>
                  <a:gs pos="0">
                    <a:srgbClr val="63891F">
                      <a:tint val="50000"/>
                      <a:satMod val="300000"/>
                    </a:srgbClr>
                  </a:gs>
                  <a:gs pos="35000">
                    <a:srgbClr val="63891F">
                      <a:tint val="37000"/>
                      <a:satMod val="300000"/>
                    </a:srgbClr>
                  </a:gs>
                  <a:gs pos="100000">
                    <a:srgbClr val="63891F">
                      <a:tint val="15000"/>
                      <a:satMod val="350000"/>
                    </a:srgbClr>
                  </a:gs>
                </a:gsLst>
                <a:lin ang="16200000" scaled="1"/>
              </a:gradFill>
              <a:ln w="9525" cap="flat" cmpd="sng" algn="ctr">
                <a:solidFill>
                  <a:srgbClr val="63891F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anchor="ctr"/>
              <a:lstStyle>
                <a:defPPr>
                  <a:defRPr lang="zh-CN"/>
                </a:defPPr>
                <a:lvl1pPr algn="ctr" fontAlgn="auto">
                  <a:spcBef>
                    <a:spcPts val="0"/>
                  </a:spcBef>
                  <a:spcAft>
                    <a:spcPts val="0"/>
                  </a:spcAft>
                  <a:defRPr sz="240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>
                  <a:defRPr>
                    <a:solidFill>
                      <a:schemeClr val="dk1"/>
                    </a:solidFill>
                  </a:defRPr>
                </a:lvl2pPr>
                <a:lvl3pPr>
                  <a:defRPr>
                    <a:solidFill>
                      <a:schemeClr val="dk1"/>
                    </a:solidFill>
                  </a:defRPr>
                </a:lvl3pPr>
                <a:lvl4pPr>
                  <a:defRPr>
                    <a:solidFill>
                      <a:schemeClr val="dk1"/>
                    </a:solidFill>
                  </a:defRPr>
                </a:lvl4pPr>
                <a:lvl5pPr>
                  <a:defRPr>
                    <a:solidFill>
                      <a:schemeClr val="dk1"/>
                    </a:solidFill>
                  </a:defRPr>
                </a:lvl5pPr>
                <a:lvl6pPr>
                  <a:defRPr>
                    <a:solidFill>
                      <a:schemeClr val="dk1"/>
                    </a:solidFill>
                  </a:defRPr>
                </a:lvl6pPr>
                <a:lvl7pPr>
                  <a:defRPr>
                    <a:solidFill>
                      <a:schemeClr val="dk1"/>
                    </a:solidFill>
                  </a:defRPr>
                </a:lvl7pPr>
                <a:lvl8pPr>
                  <a:defRPr>
                    <a:solidFill>
                      <a:schemeClr val="dk1"/>
                    </a:solidFill>
                  </a:defRPr>
                </a:lvl8pPr>
                <a:lvl9pPr>
                  <a:defRPr>
                    <a:solidFill>
                      <a:schemeClr val="dk1"/>
                    </a:solidFill>
                  </a:defRPr>
                </a:lvl9pPr>
              </a:lstStyle>
              <a:p>
                <a:pPr>
                  <a:defRPr/>
                </a:pPr>
                <a:r>
                  <a:rPr lang="zh-CN" altLang="en-US" sz="2000" b="1" ker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用户栈</a:t>
                </a:r>
                <a:endParaRPr lang="en-US" altLang="zh-CN" sz="2000" b="1" ker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TextBox 62">
                <a:extLst>
                  <a:ext uri="{FF2B5EF4-FFF2-40B4-BE49-F238E27FC236}">
                    <a16:creationId xmlns:a16="http://schemas.microsoft.com/office/drawing/2014/main" id="{97BB05F5-F499-A75C-36E2-0CB8608EAE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63574" y="4032819"/>
                <a:ext cx="1451565" cy="429035"/>
              </a:xfrm>
              <a:prstGeom prst="rect">
                <a:avLst/>
              </a:prstGeom>
              <a:gradFill rotWithShape="1">
                <a:gsLst>
                  <a:gs pos="0">
                    <a:srgbClr val="63891F">
                      <a:tint val="50000"/>
                      <a:satMod val="300000"/>
                    </a:srgbClr>
                  </a:gs>
                  <a:gs pos="35000">
                    <a:srgbClr val="63891F">
                      <a:tint val="37000"/>
                      <a:satMod val="300000"/>
                    </a:srgbClr>
                  </a:gs>
                  <a:gs pos="100000">
                    <a:srgbClr val="63891F">
                      <a:tint val="15000"/>
                      <a:satMod val="350000"/>
                    </a:srgbClr>
                  </a:gs>
                </a:gsLst>
                <a:lin ang="16200000" scaled="1"/>
              </a:gradFill>
              <a:ln w="9525" cap="flat" cmpd="sng" algn="ctr">
                <a:solidFill>
                  <a:srgbClr val="63891F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anchor="ctr"/>
              <a:lstStyle>
                <a:defPPr>
                  <a:defRPr lang="zh-CN"/>
                </a:defPPr>
                <a:lvl1pPr algn="ctr" fontAlgn="auto">
                  <a:spcBef>
                    <a:spcPts val="0"/>
                  </a:spcBef>
                  <a:spcAft>
                    <a:spcPts val="0"/>
                  </a:spcAft>
                  <a:defRPr sz="240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>
                  <a:defRPr>
                    <a:solidFill>
                      <a:schemeClr val="dk1"/>
                    </a:solidFill>
                  </a:defRPr>
                </a:lvl2pPr>
                <a:lvl3pPr>
                  <a:defRPr>
                    <a:solidFill>
                      <a:schemeClr val="dk1"/>
                    </a:solidFill>
                  </a:defRPr>
                </a:lvl3pPr>
                <a:lvl4pPr>
                  <a:defRPr>
                    <a:solidFill>
                      <a:schemeClr val="dk1"/>
                    </a:solidFill>
                  </a:defRPr>
                </a:lvl4pPr>
                <a:lvl5pPr>
                  <a:defRPr>
                    <a:solidFill>
                      <a:schemeClr val="dk1"/>
                    </a:solidFill>
                  </a:defRPr>
                </a:lvl5pPr>
                <a:lvl6pPr>
                  <a:defRPr>
                    <a:solidFill>
                      <a:schemeClr val="dk1"/>
                    </a:solidFill>
                  </a:defRPr>
                </a:lvl6pPr>
                <a:lvl7pPr>
                  <a:defRPr>
                    <a:solidFill>
                      <a:schemeClr val="dk1"/>
                    </a:solidFill>
                  </a:defRPr>
                </a:lvl7pPr>
                <a:lvl8pPr>
                  <a:defRPr>
                    <a:solidFill>
                      <a:schemeClr val="dk1"/>
                    </a:solidFill>
                  </a:defRPr>
                </a:lvl8pPr>
                <a:lvl9pPr>
                  <a:defRPr>
                    <a:solidFill>
                      <a:schemeClr val="dk1"/>
                    </a:solidFill>
                  </a:defRPr>
                </a:lvl9pPr>
              </a:lstStyle>
              <a:p>
                <a:pPr>
                  <a:defRPr/>
                </a:pPr>
                <a:r>
                  <a:rPr lang="zh-CN" altLang="en-US" sz="2000" b="1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数据段</a:t>
                </a:r>
                <a:endParaRPr lang="en-US" altLang="zh-CN" sz="2000" b="1" kern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TextBox 62">
                <a:extLst>
                  <a:ext uri="{FF2B5EF4-FFF2-40B4-BE49-F238E27FC236}">
                    <a16:creationId xmlns:a16="http://schemas.microsoft.com/office/drawing/2014/main" id="{C5A905A4-2C6B-450C-6FC7-7A7102178B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63574" y="3631358"/>
                <a:ext cx="1451565" cy="386851"/>
              </a:xfrm>
              <a:prstGeom prst="rect">
                <a:avLst/>
              </a:prstGeom>
              <a:gradFill rotWithShape="1">
                <a:gsLst>
                  <a:gs pos="0">
                    <a:srgbClr val="63891F">
                      <a:tint val="50000"/>
                      <a:satMod val="300000"/>
                    </a:srgbClr>
                  </a:gs>
                  <a:gs pos="35000">
                    <a:srgbClr val="63891F">
                      <a:tint val="37000"/>
                      <a:satMod val="300000"/>
                    </a:srgbClr>
                  </a:gs>
                  <a:gs pos="100000">
                    <a:srgbClr val="63891F">
                      <a:tint val="15000"/>
                      <a:satMod val="350000"/>
                    </a:srgbClr>
                  </a:gs>
                </a:gsLst>
                <a:lin ang="16200000" scaled="1"/>
              </a:gradFill>
              <a:ln w="9525" cap="flat" cmpd="sng" algn="ctr">
                <a:solidFill>
                  <a:srgbClr val="63891F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anchor="ctr"/>
              <a:lstStyle>
                <a:defPPr>
                  <a:defRPr lang="zh-CN"/>
                </a:defPPr>
                <a:lvl1pPr algn="ctr" fontAlgn="auto">
                  <a:spcBef>
                    <a:spcPts val="0"/>
                  </a:spcBef>
                  <a:spcAft>
                    <a:spcPts val="0"/>
                  </a:spcAft>
                  <a:defRPr sz="240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>
                  <a:defRPr>
                    <a:solidFill>
                      <a:schemeClr val="dk1"/>
                    </a:solidFill>
                  </a:defRPr>
                </a:lvl2pPr>
                <a:lvl3pPr>
                  <a:defRPr>
                    <a:solidFill>
                      <a:schemeClr val="dk1"/>
                    </a:solidFill>
                  </a:defRPr>
                </a:lvl3pPr>
                <a:lvl4pPr>
                  <a:defRPr>
                    <a:solidFill>
                      <a:schemeClr val="dk1"/>
                    </a:solidFill>
                  </a:defRPr>
                </a:lvl4pPr>
                <a:lvl5pPr>
                  <a:defRPr>
                    <a:solidFill>
                      <a:schemeClr val="dk1"/>
                    </a:solidFill>
                  </a:defRPr>
                </a:lvl5pPr>
                <a:lvl6pPr>
                  <a:defRPr>
                    <a:solidFill>
                      <a:schemeClr val="dk1"/>
                    </a:solidFill>
                  </a:defRPr>
                </a:lvl6pPr>
                <a:lvl7pPr>
                  <a:defRPr>
                    <a:solidFill>
                      <a:schemeClr val="dk1"/>
                    </a:solidFill>
                  </a:defRPr>
                </a:lvl7pPr>
                <a:lvl8pPr>
                  <a:defRPr>
                    <a:solidFill>
                      <a:schemeClr val="dk1"/>
                    </a:solidFill>
                  </a:defRPr>
                </a:lvl8pPr>
                <a:lvl9pPr>
                  <a:defRPr>
                    <a:solidFill>
                      <a:schemeClr val="dk1"/>
                    </a:solidFill>
                  </a:defRPr>
                </a:lvl9pPr>
              </a:lstStyle>
              <a:p>
                <a:pPr>
                  <a:defRPr/>
                </a:pPr>
                <a:r>
                  <a:rPr lang="zh-CN" altLang="en-US" sz="2000" b="1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核心栈</a:t>
                </a:r>
                <a:endParaRPr lang="en-US" altLang="zh-CN" sz="2000" b="1" kern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矩形 36">
                <a:extLst>
                  <a:ext uri="{FF2B5EF4-FFF2-40B4-BE49-F238E27FC236}">
                    <a16:creationId xmlns:a16="http://schemas.microsoft.com/office/drawing/2014/main" id="{E954C25D-331F-8249-B58E-F85D0288A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63574" y="3265711"/>
                <a:ext cx="1451565" cy="358552"/>
              </a:xfrm>
              <a:prstGeom prst="rect">
                <a:avLst/>
              </a:prstGeom>
              <a:gradFill rotWithShape="1">
                <a:gsLst>
                  <a:gs pos="0">
                    <a:srgbClr val="63891F">
                      <a:tint val="50000"/>
                      <a:satMod val="300000"/>
                    </a:srgbClr>
                  </a:gs>
                  <a:gs pos="35000">
                    <a:srgbClr val="63891F">
                      <a:tint val="37000"/>
                      <a:satMod val="300000"/>
                    </a:srgbClr>
                  </a:gs>
                  <a:gs pos="100000">
                    <a:srgbClr val="63891F">
                      <a:tint val="15000"/>
                      <a:satMod val="350000"/>
                    </a:srgbClr>
                  </a:gs>
                </a:gsLst>
                <a:lin ang="16200000" scaled="1"/>
              </a:gradFill>
              <a:ln w="9525" cap="flat" cmpd="sng" algn="ctr">
                <a:solidFill>
                  <a:srgbClr val="63891F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r>
                  <a:rPr lang="en-US" altLang="zh-CN" sz="2000" b="1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user</a:t>
                </a:r>
                <a:r>
                  <a:rPr lang="zh-CN" altLang="en-US" sz="2000" b="1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对象</a:t>
                </a:r>
              </a:p>
            </p:txBody>
          </p:sp>
        </p:grp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CFA1D6D1-90CA-5507-ED84-7F8A50E08AEF}"/>
                </a:ext>
              </a:extLst>
            </p:cNvPr>
            <p:cNvCxnSpPr/>
            <p:nvPr/>
          </p:nvCxnSpPr>
          <p:spPr>
            <a:xfrm flipV="1">
              <a:off x="5175424" y="4212419"/>
              <a:ext cx="825336" cy="579961"/>
            </a:xfrm>
            <a:prstGeom prst="straightConnector1">
              <a:avLst/>
            </a:prstGeom>
            <a:noFill/>
            <a:ln w="38100" cap="flat" cmpd="sng" algn="ctr">
              <a:solidFill>
                <a:srgbClr val="63891F">
                  <a:lumMod val="75000"/>
                </a:srgbClr>
              </a:solidFill>
              <a:prstDash val="sysDot"/>
              <a:headEnd type="oval" w="med" len="med"/>
              <a:tailEnd type="triangle" w="med" len="lg"/>
            </a:ln>
            <a:effectLst/>
          </p:spPr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1DFEFB03-B2C0-65A5-6872-D0CC8F836EFB}"/>
                </a:ext>
              </a:extLst>
            </p:cNvPr>
            <p:cNvCxnSpPr>
              <a:stCxn id="37" idx="3"/>
            </p:cNvCxnSpPr>
            <p:nvPr/>
          </p:nvCxnSpPr>
          <p:spPr>
            <a:xfrm>
              <a:off x="5175424" y="4964917"/>
              <a:ext cx="825336" cy="807738"/>
            </a:xfrm>
            <a:prstGeom prst="straightConnector1">
              <a:avLst/>
            </a:prstGeom>
            <a:noFill/>
            <a:ln w="38100" cap="flat" cmpd="sng" algn="ctr">
              <a:solidFill>
                <a:srgbClr val="63891F">
                  <a:lumMod val="75000"/>
                </a:srgbClr>
              </a:solidFill>
              <a:prstDash val="sysDot"/>
              <a:headEnd type="oval" w="med" len="med"/>
              <a:tailEnd type="triangle" w="med" len="lg"/>
            </a:ln>
            <a:effectLst/>
          </p:spPr>
        </p:cxnSp>
      </p:grpSp>
      <p:sp>
        <p:nvSpPr>
          <p:cNvPr id="45" name="矩形 44">
            <a:extLst>
              <a:ext uri="{FF2B5EF4-FFF2-40B4-BE49-F238E27FC236}">
                <a16:creationId xmlns:a16="http://schemas.microsoft.com/office/drawing/2014/main" id="{ED8B4757-BF92-271C-0F00-725524FB101F}"/>
              </a:ext>
            </a:extLst>
          </p:cNvPr>
          <p:cNvSpPr/>
          <p:nvPr/>
        </p:nvSpPr>
        <p:spPr>
          <a:xfrm>
            <a:off x="1775519" y="1115918"/>
            <a:ext cx="1149351" cy="3551221"/>
          </a:xfrm>
          <a:prstGeom prst="rect">
            <a:avLst/>
          </a:prstGeom>
          <a:gradFill rotWithShape="1">
            <a:gsLst>
              <a:gs pos="0">
                <a:srgbClr val="63891F">
                  <a:tint val="50000"/>
                  <a:satMod val="300000"/>
                </a:srgbClr>
              </a:gs>
              <a:gs pos="35000">
                <a:srgbClr val="63891F">
                  <a:tint val="37000"/>
                  <a:satMod val="300000"/>
                </a:srgbClr>
              </a:gs>
              <a:gs pos="100000">
                <a:srgbClr val="63891F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63891F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CN" altLang="en-US" sz="2400" b="1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TextBox 62">
            <a:extLst>
              <a:ext uri="{FF2B5EF4-FFF2-40B4-BE49-F238E27FC236}">
                <a16:creationId xmlns:a16="http://schemas.microsoft.com/office/drawing/2014/main" id="{B7B6F025-3F03-3D44-B7D2-4A5E01259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8726" y="1004421"/>
            <a:ext cx="50006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4M</a:t>
            </a:r>
            <a:endParaRPr lang="zh-CN" altLang="en-US" sz="1400" b="1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Rectangle 72">
            <a:extLst>
              <a:ext uri="{FF2B5EF4-FFF2-40B4-BE49-F238E27FC236}">
                <a16:creationId xmlns:a16="http://schemas.microsoft.com/office/drawing/2014/main" id="{7C151F14-661F-93CB-3CC5-E644B5870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2578" y="1314478"/>
            <a:ext cx="1106286" cy="357760"/>
          </a:xfrm>
          <a:prstGeom prst="rect">
            <a:avLst/>
          </a:prstGeom>
          <a:solidFill>
            <a:srgbClr val="00B0F0">
              <a:alpha val="54902"/>
            </a:srgbClr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zh-CN" sz="16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proc</a:t>
            </a:r>
            <a:r>
              <a:rPr lang="zh-CN" altLang="en-US" sz="16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</a:p>
        </p:txBody>
      </p:sp>
      <p:sp>
        <p:nvSpPr>
          <p:cNvPr id="48" name="矩形 32">
            <a:extLst>
              <a:ext uri="{FF2B5EF4-FFF2-40B4-BE49-F238E27FC236}">
                <a16:creationId xmlns:a16="http://schemas.microsoft.com/office/drawing/2014/main" id="{35D6BFE9-724B-236D-0B13-1036A487D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8264" y="1700081"/>
            <a:ext cx="9545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proc[</a:t>
            </a:r>
            <a:r>
              <a:rPr lang="en-US" altLang="zh-CN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zh-CN" altLang="en-US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81">
            <a:extLst>
              <a:ext uri="{FF2B5EF4-FFF2-40B4-BE49-F238E27FC236}">
                <a16:creationId xmlns:a16="http://schemas.microsoft.com/office/drawing/2014/main" id="{555A6E09-514E-2FF1-8AA1-2642EF165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8396" y="1643589"/>
            <a:ext cx="8603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p_addr</a:t>
            </a:r>
            <a:endParaRPr lang="en-US" altLang="zh-CN" sz="1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p_textp</a:t>
            </a:r>
            <a:endParaRPr lang="zh-CN" altLang="en-US" sz="1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0" name="直接箭头连接符 46">
            <a:extLst>
              <a:ext uri="{FF2B5EF4-FFF2-40B4-BE49-F238E27FC236}">
                <a16:creationId xmlns:a16="http://schemas.microsoft.com/office/drawing/2014/main" id="{A8C37E64-6125-B3F6-6696-667D8CE221A2}"/>
              </a:ext>
            </a:extLst>
          </p:cNvPr>
          <p:cNvCxnSpPr/>
          <p:nvPr/>
        </p:nvCxnSpPr>
        <p:spPr>
          <a:xfrm>
            <a:off x="2710557" y="1809619"/>
            <a:ext cx="4071966" cy="785818"/>
          </a:xfrm>
          <a:prstGeom prst="bentConnector3">
            <a:avLst>
              <a:gd name="adj1" fmla="val 40409"/>
            </a:avLst>
          </a:prstGeom>
          <a:noFill/>
          <a:ln w="19050" cap="flat" cmpd="sng" algn="ctr">
            <a:solidFill>
              <a:srgbClr val="FF6600"/>
            </a:solidFill>
            <a:prstDash val="solid"/>
            <a:headEnd type="oval" w="med" len="med"/>
            <a:tailEnd type="triangle" w="med" len="lg"/>
          </a:ln>
          <a:effectLst/>
        </p:spPr>
      </p:cxnSp>
      <p:sp>
        <p:nvSpPr>
          <p:cNvPr id="51" name="矩形 80">
            <a:extLst>
              <a:ext uri="{FF2B5EF4-FFF2-40B4-BE49-F238E27FC236}">
                <a16:creationId xmlns:a16="http://schemas.microsoft.com/office/drawing/2014/main" id="{ADE39CBD-E0A7-8EF8-4E16-442C3F0F0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5520" y="3356992"/>
            <a:ext cx="1334020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x_daddr</a:t>
            </a:r>
            <a:endParaRPr lang="en-US" altLang="zh-CN" sz="1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x_caddr</a:t>
            </a:r>
            <a:endParaRPr lang="en-US" altLang="zh-CN" sz="1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r>
              <a:rPr lang="en-US" altLang="zh-CN" sz="14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x_count</a:t>
            </a:r>
            <a:r>
              <a:rPr lang="en-US" altLang="zh-CN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1</a:t>
            </a:r>
          </a:p>
          <a:p>
            <a:r>
              <a:rPr lang="en-US" altLang="zh-CN" sz="14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x_ccount</a:t>
            </a:r>
            <a:r>
              <a:rPr lang="en-US" altLang="zh-CN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1</a:t>
            </a:r>
            <a:endParaRPr lang="zh-CN" altLang="en-US" sz="1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2" name="直接箭头连接符 46">
            <a:extLst>
              <a:ext uri="{FF2B5EF4-FFF2-40B4-BE49-F238E27FC236}">
                <a16:creationId xmlns:a16="http://schemas.microsoft.com/office/drawing/2014/main" id="{458F338E-F8A0-5C92-387F-6B3AFBBC942E}"/>
              </a:ext>
            </a:extLst>
          </p:cNvPr>
          <p:cNvCxnSpPr>
            <a:stCxn id="49" idx="2"/>
            <a:endCxn id="57" idx="0"/>
          </p:cNvCxnSpPr>
          <p:nvPr/>
        </p:nvCxnSpPr>
        <p:spPr>
          <a:xfrm rot="5400000">
            <a:off x="1114215" y="2434924"/>
            <a:ext cx="1502478" cy="966249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FF6600"/>
            </a:solidFill>
            <a:prstDash val="solid"/>
            <a:headEnd type="oval" w="med" len="med"/>
            <a:tailEnd type="triangle" w="med" len="lg"/>
          </a:ln>
          <a:effectLst/>
        </p:spPr>
      </p:cxnSp>
      <p:cxnSp>
        <p:nvCxnSpPr>
          <p:cNvPr id="55" name="直接箭头连接符 46">
            <a:extLst>
              <a:ext uri="{FF2B5EF4-FFF2-40B4-BE49-F238E27FC236}">
                <a16:creationId xmlns:a16="http://schemas.microsoft.com/office/drawing/2014/main" id="{F309C4A7-5789-8191-2517-B94DD5B4D8C4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2710557" y="1691024"/>
            <a:ext cx="2214578" cy="2026008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FF6600"/>
            </a:solidFill>
            <a:prstDash val="solid"/>
            <a:headEnd type="oval" w="med" len="med"/>
            <a:tailEnd type="triangle" w="med" len="lg"/>
          </a:ln>
          <a:effectLst/>
        </p:spPr>
      </p:cxnSp>
      <p:sp>
        <p:nvSpPr>
          <p:cNvPr id="56" name="Rectangle 72">
            <a:extLst>
              <a:ext uri="{FF2B5EF4-FFF2-40B4-BE49-F238E27FC236}">
                <a16:creationId xmlns:a16="http://schemas.microsoft.com/office/drawing/2014/main" id="{9E834693-7D1F-F880-7B1F-703E3DF4D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261" y="3043120"/>
            <a:ext cx="1106286" cy="357760"/>
          </a:xfrm>
          <a:prstGeom prst="rect">
            <a:avLst/>
          </a:prstGeom>
          <a:solidFill>
            <a:srgbClr val="00B0F0">
              <a:alpha val="54902"/>
            </a:srgbClr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zh-CN" sz="16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</a:t>
            </a:r>
            <a:r>
              <a:rPr lang="zh-CN" altLang="en-US" sz="16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5DF62632-59A5-020A-228D-8FD45AC18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607" y="3669287"/>
            <a:ext cx="9154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text[j]</a:t>
            </a:r>
            <a:endParaRPr lang="zh-CN" altLang="en-US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00C20FC0-495B-63D9-C594-FD503CC9E478}"/>
              </a:ext>
            </a:extLst>
          </p:cNvPr>
          <p:cNvSpPr/>
          <p:nvPr/>
        </p:nvSpPr>
        <p:spPr>
          <a:xfrm>
            <a:off x="1781863" y="4686189"/>
            <a:ext cx="1143008" cy="989012"/>
          </a:xfrm>
          <a:prstGeom prst="rect">
            <a:avLst/>
          </a:prstGeom>
          <a:gradFill rotWithShape="1">
            <a:gsLst>
              <a:gs pos="0">
                <a:srgbClr val="63891F">
                  <a:tint val="50000"/>
                  <a:satMod val="300000"/>
                </a:srgbClr>
              </a:gs>
              <a:gs pos="35000">
                <a:srgbClr val="63891F">
                  <a:tint val="37000"/>
                  <a:satMod val="300000"/>
                </a:srgbClr>
              </a:gs>
              <a:gs pos="100000">
                <a:srgbClr val="63891F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63891F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zh-CN" altLang="en-US" sz="20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页表区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E2C2B341-3298-8BD6-C663-31B281E743CA}"/>
              </a:ext>
            </a:extLst>
          </p:cNvPr>
          <p:cNvSpPr/>
          <p:nvPr/>
        </p:nvSpPr>
        <p:spPr>
          <a:xfrm>
            <a:off x="1781863" y="1133340"/>
            <a:ext cx="1143008" cy="4533932"/>
          </a:xfrm>
          <a:prstGeom prst="rect">
            <a:avLst/>
          </a:prstGeom>
          <a:noFill/>
          <a:ln w="19050" cap="flat" cmpd="sng" algn="ctr">
            <a:solidFill>
              <a:srgbClr val="008000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b="1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AAF32006-31B8-2582-25A4-78B4BF871956}"/>
              </a:ext>
            </a:extLst>
          </p:cNvPr>
          <p:cNvGrpSpPr/>
          <p:nvPr/>
        </p:nvGrpSpPr>
        <p:grpSpPr>
          <a:xfrm>
            <a:off x="6425333" y="2738313"/>
            <a:ext cx="2714644" cy="3286148"/>
            <a:chOff x="5715008" y="2714620"/>
            <a:chExt cx="2714644" cy="3286148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7293AB55-94D3-E69B-5485-376F390D26D1}"/>
                </a:ext>
              </a:extLst>
            </p:cNvPr>
            <p:cNvGrpSpPr/>
            <p:nvPr/>
          </p:nvGrpSpPr>
          <p:grpSpPr>
            <a:xfrm>
              <a:off x="5715008" y="4286256"/>
              <a:ext cx="2619151" cy="1714512"/>
              <a:chOff x="6361020" y="4875272"/>
              <a:chExt cx="2619151" cy="1714512"/>
            </a:xfrm>
          </p:grpSpPr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FE48B085-7C2E-86F6-E53E-EF1329969B1A}"/>
                  </a:ext>
                </a:extLst>
              </p:cNvPr>
              <p:cNvSpPr/>
              <p:nvPr/>
            </p:nvSpPr>
            <p:spPr>
              <a:xfrm>
                <a:off x="6361020" y="5156751"/>
                <a:ext cx="2619151" cy="1433033"/>
              </a:xfrm>
              <a:prstGeom prst="rect">
                <a:avLst/>
              </a:prstGeom>
              <a:noFill/>
              <a:ln w="12700">
                <a:solidFill>
                  <a:srgbClr val="7030A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m_UserPageTableArray</a:t>
                </a:r>
                <a:r>
                  <a:rPr kumimoji="0" lang="en-US" altLang="zh-CN" sz="1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;</a:t>
                </a: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m_TextStartAddress</a:t>
                </a:r>
                <a:r>
                  <a:rPr kumimoji="0" lang="en-US" altLang="zh-CN" sz="1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;    </a:t>
                </a:r>
                <a:endPara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8A3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m_TextSize</a:t>
                </a:r>
                <a:r>
                  <a:rPr kumimoji="0" lang="en-US" altLang="zh-CN" sz="1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; </a:t>
                </a: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m_DataStartAddress</a:t>
                </a:r>
                <a:r>
                  <a:rPr kumimoji="0" lang="en-US" altLang="zh-CN" sz="1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;    </a:t>
                </a: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m_DataSize</a:t>
                </a:r>
                <a:r>
                  <a:rPr kumimoji="0" lang="en-US" altLang="zh-CN" sz="1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; </a:t>
                </a: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m_StackSize</a:t>
                </a:r>
                <a:r>
                  <a:rPr kumimoji="0" lang="en-US" altLang="zh-CN" sz="1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;</a:t>
                </a: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B3AA043B-02E9-8F14-13A2-FFB61E0A209B}"/>
                  </a:ext>
                </a:extLst>
              </p:cNvPr>
              <p:cNvSpPr/>
              <p:nvPr/>
            </p:nvSpPr>
            <p:spPr>
              <a:xfrm>
                <a:off x="6408404" y="4875272"/>
                <a:ext cx="2094997" cy="307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u_MemoryDescriptor</a:t>
                </a:r>
                <a:endPara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2" name="右弧形箭头 85">
              <a:extLst>
                <a:ext uri="{FF2B5EF4-FFF2-40B4-BE49-F238E27FC236}">
                  <a16:creationId xmlns:a16="http://schemas.microsoft.com/office/drawing/2014/main" id="{386A9F6D-17D2-CB85-6160-B7479B27ED98}"/>
                </a:ext>
              </a:extLst>
            </p:cNvPr>
            <p:cNvSpPr/>
            <p:nvPr/>
          </p:nvSpPr>
          <p:spPr>
            <a:xfrm>
              <a:off x="7858148" y="2714620"/>
              <a:ext cx="571504" cy="2714644"/>
            </a:xfrm>
            <a:prstGeom prst="curvedLeftArrow">
              <a:avLst/>
            </a:prstGeom>
            <a:gradFill rotWithShape="1">
              <a:gsLst>
                <a:gs pos="0">
                  <a:sysClr val="windowText" lastClr="000000">
                    <a:tint val="37000"/>
                    <a:hueMod val="100000"/>
                    <a:satMod val="200000"/>
                    <a:lumMod val="88000"/>
                  </a:sysClr>
                </a:gs>
                <a:gs pos="100000">
                  <a:sysClr val="windowText" lastClr="000000">
                    <a:tint val="53000"/>
                    <a:shade val="100000"/>
                    <a:hueMod val="100000"/>
                    <a:satMod val="350000"/>
                    <a:lumMod val="79000"/>
                  </a:sysClr>
                </a:gs>
              </a:gsLst>
              <a:lin ang="5400000" scaled="1"/>
            </a:gradFill>
            <a:ln w="15875" cap="flat" cmpd="sng" algn="ctr">
              <a:solidFill>
                <a:sysClr val="windowText" lastClr="000000"/>
              </a:solidFill>
              <a:prstDash val="solid"/>
            </a:ln>
            <a:effectLst>
              <a:outerShdw blurRad="50800" dist="12700" dir="5280000" rotWithShape="0">
                <a:srgbClr val="000000">
                  <a:alpha val="4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6" name="组合 60">
            <a:extLst>
              <a:ext uri="{FF2B5EF4-FFF2-40B4-BE49-F238E27FC236}">
                <a16:creationId xmlns:a16="http://schemas.microsoft.com/office/drawing/2014/main" id="{414163B0-1756-B73B-8B08-5A2EEA84CDE3}"/>
              </a:ext>
            </a:extLst>
          </p:cNvPr>
          <p:cNvGrpSpPr/>
          <p:nvPr/>
        </p:nvGrpSpPr>
        <p:grpSpPr>
          <a:xfrm>
            <a:off x="2135560" y="4881453"/>
            <a:ext cx="1067169" cy="754594"/>
            <a:chOff x="6947621" y="5984875"/>
            <a:chExt cx="1067169" cy="754594"/>
          </a:xfrm>
          <a:solidFill>
            <a:sysClr val="window" lastClr="FFFFFF">
              <a:lumMod val="65000"/>
            </a:sysClr>
          </a:solidFill>
        </p:grpSpPr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261A8021-86B3-9E57-1876-36F7E47F6CC2}"/>
                </a:ext>
              </a:extLst>
            </p:cNvPr>
            <p:cNvSpPr/>
            <p:nvPr/>
          </p:nvSpPr>
          <p:spPr>
            <a:xfrm>
              <a:off x="6947621" y="5984875"/>
              <a:ext cx="1062855" cy="29316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5875" cap="flat" cmpd="sng" algn="ctr">
              <a:solidFill>
                <a:sysClr val="windowText" lastClr="000000"/>
              </a:solidFill>
              <a:prstDash val="solid"/>
            </a:ln>
            <a:effectLst>
              <a:outerShdw blurRad="50800" dist="12700" dir="5280000" rotWithShape="0">
                <a:srgbClr val="000000">
                  <a:alpha val="4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页目录</a:t>
              </a: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4E67EA54-D901-EE02-13AB-6338E1E66E06}"/>
                </a:ext>
              </a:extLst>
            </p:cNvPr>
            <p:cNvSpPr/>
            <p:nvPr/>
          </p:nvSpPr>
          <p:spPr>
            <a:xfrm>
              <a:off x="6951935" y="6429562"/>
              <a:ext cx="1062855" cy="30990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5875" cap="flat" cmpd="sng" algn="ctr">
              <a:solidFill>
                <a:sysClr val="windowText" lastClr="000000"/>
              </a:solidFill>
              <a:prstDash val="solid"/>
            </a:ln>
            <a:effectLst>
              <a:outerShdw blurRad="50800" dist="12700" dir="5280000" rotWithShape="0">
                <a:srgbClr val="000000">
                  <a:alpha val="40000"/>
                </a:srgbClr>
              </a:outerShdw>
            </a:effectLst>
          </p:spPr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 b="1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1#</a:t>
              </a:r>
              <a:r>
                <a:rPr lang="zh-CN" altLang="en-US" sz="1200" b="1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页表</a:t>
              </a:r>
            </a:p>
          </p:txBody>
        </p:sp>
      </p:grpSp>
      <p:sp>
        <p:nvSpPr>
          <p:cNvPr id="74" name="矩形 72">
            <a:extLst>
              <a:ext uri="{FF2B5EF4-FFF2-40B4-BE49-F238E27FC236}">
                <a16:creationId xmlns:a16="http://schemas.microsoft.com/office/drawing/2014/main" id="{B67F22FA-714F-0A50-5537-DB5912619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9030" y="1427036"/>
            <a:ext cx="1979613" cy="358775"/>
          </a:xfrm>
          <a:prstGeom prst="rect">
            <a:avLst/>
          </a:prstGeom>
          <a:gradFill rotWithShape="1">
            <a:gsLst>
              <a:gs pos="0">
                <a:srgbClr val="8B4F00"/>
              </a:gs>
              <a:gs pos="50000">
                <a:srgbClr val="C97500"/>
              </a:gs>
              <a:gs pos="100000">
                <a:srgbClr val="EF8C00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r" latinLnBrk="1">
              <a:defRPr/>
            </a:pPr>
            <a:r>
              <a:rPr kumimoji="1" lang="en-US" altLang="zh-CN" sz="16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Table 768#</a:t>
            </a:r>
            <a:endParaRPr kumimoji="1" lang="zh-CN" altLang="en-US" sz="1600" b="1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矩形 81">
            <a:extLst>
              <a:ext uri="{FF2B5EF4-FFF2-40B4-BE49-F238E27FC236}">
                <a16:creationId xmlns:a16="http://schemas.microsoft.com/office/drawing/2014/main" id="{DE9A9D8E-7D0F-5B24-AE97-EE85CD338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1818" y="1376236"/>
            <a:ext cx="1344612" cy="43497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altLang="zh-CN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0x200</a:t>
            </a: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号页框</a:t>
            </a:r>
            <a:endParaRPr lang="en-US" altLang="zh-CN" sz="14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20" name="矩形 86">
            <a:extLst>
              <a:ext uri="{FF2B5EF4-FFF2-40B4-BE49-F238E27FC236}">
                <a16:creationId xmlns:a16="http://schemas.microsoft.com/office/drawing/2014/main" id="{65198123-AFFE-ED4D-ED96-F2BDD37F4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9030" y="1801686"/>
            <a:ext cx="1979613" cy="361950"/>
          </a:xfrm>
          <a:prstGeom prst="rect">
            <a:avLst/>
          </a:prstGeom>
          <a:gradFill rotWithShape="1">
            <a:gsLst>
              <a:gs pos="0">
                <a:srgbClr val="8B4F00"/>
              </a:gs>
              <a:gs pos="50000">
                <a:srgbClr val="C97500"/>
              </a:gs>
              <a:gs pos="100000">
                <a:srgbClr val="EF8C00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r" latinLnBrk="1">
              <a:defRPr/>
            </a:pPr>
            <a:r>
              <a:rPr kumimoji="1" lang="en-US" altLang="zh-CN" sz="16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Table 0#</a:t>
            </a:r>
            <a:endParaRPr kumimoji="1" lang="zh-CN" altLang="en-US" sz="1600" b="1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矩形 87">
            <a:extLst>
              <a:ext uri="{FF2B5EF4-FFF2-40B4-BE49-F238E27FC236}">
                <a16:creationId xmlns:a16="http://schemas.microsoft.com/office/drawing/2014/main" id="{2FE79808-D791-36F9-12B6-50A74D17A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7054" y="1758824"/>
            <a:ext cx="1349375" cy="43497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altLang="zh-CN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0x201</a:t>
            </a: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号页框</a:t>
            </a:r>
            <a:endParaRPr lang="en-US" altLang="zh-CN" sz="14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BED8AF91-FDA5-D098-608A-525C975E7B4B}"/>
              </a:ext>
            </a:extLst>
          </p:cNvPr>
          <p:cNvSpPr txBox="1"/>
          <p:nvPr/>
        </p:nvSpPr>
        <p:spPr>
          <a:xfrm>
            <a:off x="1503680" y="2123987"/>
            <a:ext cx="17356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 err="1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p_PageDirectory</a:t>
            </a:r>
            <a:endParaRPr lang="en-US" altLang="zh-CN" sz="1400" b="1" dirty="0">
              <a:solidFill>
                <a:srgbClr val="C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箭头连接符 46">
            <a:extLst>
              <a:ext uri="{FF2B5EF4-FFF2-40B4-BE49-F238E27FC236}">
                <a16:creationId xmlns:a16="http://schemas.microsoft.com/office/drawing/2014/main" id="{39A1960B-B7F5-611B-0061-2CB2A918829E}"/>
              </a:ext>
            </a:extLst>
          </p:cNvPr>
          <p:cNvCxnSpPr>
            <a:cxnSpLocks/>
            <a:stCxn id="125" idx="3"/>
            <a:endCxn id="69" idx="3"/>
          </p:cNvCxnSpPr>
          <p:nvPr/>
        </p:nvCxnSpPr>
        <p:spPr>
          <a:xfrm flipH="1">
            <a:off x="3198415" y="2277876"/>
            <a:ext cx="40924" cy="2750158"/>
          </a:xfrm>
          <a:prstGeom prst="bentConnector3">
            <a:avLst>
              <a:gd name="adj1" fmla="val -558596"/>
            </a:avLst>
          </a:prstGeom>
          <a:noFill/>
          <a:ln w="19050" cap="flat" cmpd="sng" algn="ctr">
            <a:solidFill>
              <a:srgbClr val="FF6600"/>
            </a:solidFill>
            <a:prstDash val="solid"/>
            <a:headEnd type="oval" w="med" len="med"/>
            <a:tailEnd type="triangle" w="med" len="lg"/>
          </a:ln>
          <a:effectLst/>
        </p:spPr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4EAAA03-B30F-6F30-14B1-A75891FA973E}"/>
              </a:ext>
            </a:extLst>
          </p:cNvPr>
          <p:cNvSpPr txBox="1"/>
          <p:nvPr/>
        </p:nvSpPr>
        <p:spPr>
          <a:xfrm>
            <a:off x="3156924" y="4288122"/>
            <a:ext cx="12579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400" b="1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登记页目录的起始虚地址</a:t>
            </a:r>
            <a:endParaRPr lang="zh-CN" altLang="en-US" sz="1400" b="1" dirty="0">
              <a:solidFill>
                <a:srgbClr val="C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E4E31E1-495A-6750-A584-477B9595C901}"/>
              </a:ext>
            </a:extLst>
          </p:cNvPr>
          <p:cNvSpPr/>
          <p:nvPr/>
        </p:nvSpPr>
        <p:spPr>
          <a:xfrm>
            <a:off x="9883427" y="4126690"/>
            <a:ext cx="1904192" cy="799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）进程图像的需要修改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3EFBE85-600D-90E2-BCA8-2D3D4A35457B}"/>
              </a:ext>
            </a:extLst>
          </p:cNvPr>
          <p:cNvCxnSpPr>
            <a:cxnSpLocks/>
          </p:cNvCxnSpPr>
          <p:nvPr/>
        </p:nvCxnSpPr>
        <p:spPr>
          <a:xfrm>
            <a:off x="1559496" y="4365104"/>
            <a:ext cx="155004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2A5847E-5702-1615-5C7B-0269EA7E0DEB}"/>
              </a:ext>
            </a:extLst>
          </p:cNvPr>
          <p:cNvCxnSpPr>
            <a:cxnSpLocks/>
          </p:cNvCxnSpPr>
          <p:nvPr/>
        </p:nvCxnSpPr>
        <p:spPr>
          <a:xfrm>
            <a:off x="1565983" y="3501008"/>
            <a:ext cx="155004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46">
            <a:extLst>
              <a:ext uri="{FF2B5EF4-FFF2-40B4-BE49-F238E27FC236}">
                <a16:creationId xmlns:a16="http://schemas.microsoft.com/office/drawing/2014/main" id="{20790613-AFB8-05ED-0FAA-5E2B322D36B5}"/>
              </a:ext>
            </a:extLst>
          </p:cNvPr>
          <p:cNvCxnSpPr>
            <a:cxnSpLocks/>
            <a:endCxn id="70" idx="3"/>
          </p:cNvCxnSpPr>
          <p:nvPr/>
        </p:nvCxnSpPr>
        <p:spPr>
          <a:xfrm rot="10800000" flipV="1">
            <a:off x="3202730" y="4773324"/>
            <a:ext cx="3228951" cy="707770"/>
          </a:xfrm>
          <a:prstGeom prst="bentConnector3">
            <a:avLst>
              <a:gd name="adj1" fmla="val 59735"/>
            </a:avLst>
          </a:prstGeom>
          <a:noFill/>
          <a:ln w="19050" cap="flat" cmpd="sng" algn="ctr">
            <a:solidFill>
              <a:srgbClr val="FF6600"/>
            </a:solidFill>
            <a:prstDash val="solid"/>
            <a:headEnd type="oval" w="med" len="med"/>
            <a:tailEnd type="triangle" w="med" len="lg"/>
          </a:ln>
          <a:effectLst/>
        </p:spPr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D1CE5DAF-88F0-DD12-1BAD-FB14806479B5}"/>
              </a:ext>
            </a:extLst>
          </p:cNvPr>
          <p:cNvSpPr txBox="1"/>
          <p:nvPr/>
        </p:nvSpPr>
        <p:spPr>
          <a:xfrm>
            <a:off x="3524334" y="5182694"/>
            <a:ext cx="12579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400" b="1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登记</a:t>
            </a:r>
            <a:r>
              <a:rPr lang="en-US" altLang="zh-CN" sz="1400" b="1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1#</a:t>
            </a:r>
            <a:r>
              <a:rPr lang="zh-CN" altLang="en-US" sz="1400" b="1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页表</a:t>
            </a:r>
            <a:r>
              <a:rPr lang="zh-CN" altLang="zh-CN" sz="1400" b="1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的起始虚地址</a:t>
            </a:r>
            <a:endParaRPr lang="zh-CN" altLang="en-US" sz="1400" b="1" dirty="0">
              <a:solidFill>
                <a:srgbClr val="C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830492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C4DE104-5DA1-4B88-B642-58DE3423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页表系统</a:t>
            </a:r>
          </a:p>
        </p:txBody>
      </p:sp>
      <p:sp>
        <p:nvSpPr>
          <p:cNvPr id="168" name="Rectangle 4">
            <a:extLst>
              <a:ext uri="{FF2B5EF4-FFF2-40B4-BE49-F238E27FC236}">
                <a16:creationId xmlns:a16="http://schemas.microsoft.com/office/drawing/2014/main" id="{60CA974C-1E35-3437-1DCE-51D492D1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29" y="2715812"/>
            <a:ext cx="244012" cy="142637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wrap="square" tIns="0" bIns="0" anchor="ctr" anchorCtr="1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页表的构成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4B2798-A0E3-D675-2F14-6F9914D9E5BA}"/>
              </a:ext>
            </a:extLst>
          </p:cNvPr>
          <p:cNvSpPr/>
          <p:nvPr/>
        </p:nvSpPr>
        <p:spPr>
          <a:xfrm>
            <a:off x="1055440" y="908720"/>
            <a:ext cx="4608512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）对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Process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类的修改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1C39958-77ED-BBD0-02A3-D9E3048C710D}"/>
              </a:ext>
            </a:extLst>
          </p:cNvPr>
          <p:cNvGrpSpPr/>
          <p:nvPr/>
        </p:nvGrpSpPr>
        <p:grpSpPr>
          <a:xfrm>
            <a:off x="1234439" y="3836608"/>
            <a:ext cx="10106523" cy="1633161"/>
            <a:chOff x="1206086" y="2422507"/>
            <a:chExt cx="10106523" cy="1633161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DD3A42C-29C8-F967-67FD-2DD2D4180D92}"/>
                </a:ext>
              </a:extLst>
            </p:cNvPr>
            <p:cNvSpPr txBox="1"/>
            <p:nvPr/>
          </p:nvSpPr>
          <p:spPr>
            <a:xfrm>
              <a:off x="1206086" y="2422507"/>
              <a:ext cx="10106523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unsigned</a:t>
              </a:r>
              <a:r>
                <a:rPr lang="en-US" altLang="zh-CN" sz="16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6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long</a:t>
              </a:r>
              <a:r>
                <a:rPr lang="en-US" altLang="zh-CN" sz="16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6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Process</a:t>
              </a:r>
              <a:r>
                <a:rPr lang="en-US" altLang="zh-CN" sz="16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::</a:t>
              </a:r>
              <a:r>
                <a:rPr lang="en-US" altLang="zh-CN" sz="16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GetPageDirectoryPhyAddr</a:t>
              </a:r>
              <a:r>
                <a:rPr lang="en-US" altLang="zh-CN" sz="16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()</a:t>
              </a:r>
            </a:p>
            <a:p>
              <a:r>
                <a:rPr lang="en-US" altLang="zh-CN" sz="16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{</a:t>
              </a:r>
            </a:p>
            <a:p>
              <a:r>
                <a:rPr lang="en-US" altLang="zh-CN" sz="16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6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zh-CN" sz="16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altLang="zh-CN" sz="16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unsigned</a:t>
              </a:r>
              <a:r>
                <a:rPr lang="en-US" altLang="zh-CN" sz="16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6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long</a:t>
              </a:r>
              <a:r>
                <a:rPr lang="en-US" altLang="zh-CN" sz="16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)(</a:t>
              </a:r>
              <a:r>
                <a:rPr lang="en-US" altLang="zh-CN" sz="16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this</a:t>
              </a:r>
              <a:r>
                <a:rPr lang="en-US" altLang="zh-CN" sz="16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-&gt;</a:t>
              </a:r>
              <a:r>
                <a:rPr lang="en-US" altLang="zh-CN" sz="16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p_PageDirectory</a:t>
              </a:r>
              <a:r>
                <a:rPr lang="en-US" altLang="zh-CN" sz="16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) </a:t>
              </a:r>
              <a:r>
                <a:rPr lang="en-US" altLang="zh-CN" sz="16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altLang="zh-CN" sz="16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6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Machine</a:t>
              </a:r>
              <a:r>
                <a:rPr lang="en-US" altLang="zh-CN" sz="16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::</a:t>
              </a:r>
              <a:r>
                <a:rPr lang="en-US" altLang="zh-CN" sz="16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KERNEL_SPACE_START_ADDRESS</a:t>
              </a:r>
              <a:r>
                <a:rPr lang="en-US" altLang="zh-CN" sz="16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r>
                <a:rPr lang="en-US" altLang="zh-CN" sz="16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4874F712-64DF-EFCB-64A4-B6491B852145}"/>
                </a:ext>
              </a:extLst>
            </p:cNvPr>
            <p:cNvSpPr/>
            <p:nvPr/>
          </p:nvSpPr>
          <p:spPr>
            <a:xfrm>
              <a:off x="4230422" y="2978450"/>
              <a:ext cx="2520280" cy="251028"/>
            </a:xfrm>
            <a:prstGeom prst="roundRect">
              <a:avLst>
                <a:gd name="adj" fmla="val 7401"/>
              </a:avLst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7320A7E-B443-F265-3532-66982E40566E}"/>
                </a:ext>
              </a:extLst>
            </p:cNvPr>
            <p:cNvSpPr/>
            <p:nvPr/>
          </p:nvSpPr>
          <p:spPr>
            <a:xfrm>
              <a:off x="3942390" y="3686336"/>
              <a:ext cx="532859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指向进程页目录的逻辑地址              </a:t>
              </a:r>
              <a:r>
                <a:rPr lang="en-US" altLang="zh-CN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–             3G</a:t>
              </a:r>
              <a:endPara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F9FCE9CE-EAF1-D1CB-9D55-BD04A410DB5C}"/>
                </a:ext>
              </a:extLst>
            </p:cNvPr>
            <p:cNvSpPr/>
            <p:nvPr/>
          </p:nvSpPr>
          <p:spPr>
            <a:xfrm>
              <a:off x="7038734" y="2978450"/>
              <a:ext cx="4104456" cy="251028"/>
            </a:xfrm>
            <a:prstGeom prst="roundRect">
              <a:avLst>
                <a:gd name="adj" fmla="val 7401"/>
              </a:avLst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7184B0DE-E744-BA4A-E159-E74AB6367FF9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>
              <a:off x="5490562" y="3229478"/>
              <a:ext cx="0" cy="369332"/>
            </a:xfrm>
            <a:prstGeom prst="straightConnector1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headEnd type="none" w="med" len="med"/>
              <a:tailEnd type="triangle" w="med" len="lg"/>
            </a:ln>
            <a:effectLst/>
          </p:spPr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B70BD40C-7F71-3A42-012A-E935EB237126}"/>
                </a:ext>
              </a:extLst>
            </p:cNvPr>
            <p:cNvCxnSpPr>
              <a:cxnSpLocks/>
            </p:cNvCxnSpPr>
            <p:nvPr/>
          </p:nvCxnSpPr>
          <p:spPr>
            <a:xfrm>
              <a:off x="8910942" y="3229478"/>
              <a:ext cx="0" cy="298616"/>
            </a:xfrm>
            <a:prstGeom prst="straightConnector1">
              <a:avLst/>
            </a:prstGeom>
            <a:noFill/>
            <a:ln w="22225" cap="flat" cmpd="sng" algn="ctr">
              <a:solidFill>
                <a:srgbClr val="C00000"/>
              </a:solidFill>
              <a:prstDash val="solid"/>
              <a:headEnd type="none" w="med" len="med"/>
              <a:tailEnd type="triangle" w="med" len="lg"/>
            </a:ln>
            <a:effectLst/>
          </p:spPr>
        </p:cxn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86872340-36B0-5071-EEC0-DE065E06441A}"/>
              </a:ext>
            </a:extLst>
          </p:cNvPr>
          <p:cNvSpPr txBox="1"/>
          <p:nvPr/>
        </p:nvSpPr>
        <p:spPr>
          <a:xfrm>
            <a:off x="1224261" y="2180736"/>
            <a:ext cx="102473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altLang="zh-C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PageDirectory</a:t>
            </a:r>
            <a:r>
              <a:rPr lang="en-US" altLang="zh-C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p_PageDirectory</a:t>
            </a:r>
            <a:r>
              <a:rPr lang="en-US" altLang="zh-C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/* 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指向每个进程页目录的起始逻辑地址 *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zh-C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zh-C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GetPageDirectoryPhyAddr</a:t>
            </a:r>
            <a:r>
              <a:rPr lang="en-US" altLang="zh-C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934D40-616A-FAAE-CBB7-2038F4EE0C2C}"/>
              </a:ext>
            </a:extLst>
          </p:cNvPr>
          <p:cNvSpPr/>
          <p:nvPr/>
        </p:nvSpPr>
        <p:spPr>
          <a:xfrm>
            <a:off x="1199456" y="1442832"/>
            <a:ext cx="35283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Process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类中增加：</a:t>
            </a:r>
          </a:p>
        </p:txBody>
      </p:sp>
    </p:spTree>
    <p:extLst>
      <p:ext uri="{BB962C8B-B14F-4D97-AF65-F5344CB8AC3E}">
        <p14:creationId xmlns:p14="http://schemas.microsoft.com/office/powerpoint/2010/main" val="454875689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82E4A4-4B4D-41BF-9F68-1575C742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353A2E-92EE-4F23-A078-2A07C43737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C4DE104-5DA1-4B88-B642-58DE3423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页表系统</a:t>
            </a:r>
          </a:p>
        </p:txBody>
      </p:sp>
      <p:sp>
        <p:nvSpPr>
          <p:cNvPr id="168" name="Rectangle 4">
            <a:extLst>
              <a:ext uri="{FF2B5EF4-FFF2-40B4-BE49-F238E27FC236}">
                <a16:creationId xmlns:a16="http://schemas.microsoft.com/office/drawing/2014/main" id="{60CA974C-1E35-3437-1DCE-51D492D1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29" y="2715812"/>
            <a:ext cx="244012" cy="142637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wrap="square" tIns="0" bIns="0" anchor="ctr" anchorCtr="1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页表的构成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4B2798-A0E3-D675-2F14-6F9914D9E5BA}"/>
              </a:ext>
            </a:extLst>
          </p:cNvPr>
          <p:cNvSpPr/>
          <p:nvPr/>
        </p:nvSpPr>
        <p:spPr>
          <a:xfrm>
            <a:off x="1055440" y="908720"/>
            <a:ext cx="4608512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）对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MemoryDescriptor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的修改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00CB326-8A7A-A1BC-9C11-99B9678A4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230"/>
              </p:ext>
            </p:extLst>
          </p:nvPr>
        </p:nvGraphicFramePr>
        <p:xfrm>
          <a:off x="1343472" y="1518696"/>
          <a:ext cx="4824536" cy="40789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24536">
                  <a:extLst>
                    <a:ext uri="{9D8B030D-6E8A-4147-A177-3AD203B41FA5}">
                      <a16:colId xmlns:a16="http://schemas.microsoft.com/office/drawing/2014/main" val="3811497806"/>
                    </a:ext>
                  </a:extLst>
                </a:gridCol>
              </a:tblGrid>
              <a:tr h="250722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MemoryDescriptor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184675"/>
                  </a:ext>
                </a:extLst>
              </a:tr>
              <a:tr h="3819822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 /* </a:t>
                      </a:r>
                      <a:r>
                        <a:rPr lang="zh-CN" alt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申请并初始化</a:t>
                      </a:r>
                      <a:r>
                        <a:rPr lang="en-US" altLang="zh-CN" sz="11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PageDirectory</a:t>
                      </a:r>
                      <a:r>
                        <a:rPr lang="zh-CN" alt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，在做</a:t>
                      </a: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Map</a:t>
                      </a:r>
                      <a:r>
                        <a:rPr lang="zh-CN" alt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操作前使用 *</a:t>
                      </a: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</a:t>
                      </a:r>
                      <a:endParaRPr lang="zh-CN" altLang="en-US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Initialize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 /* </a:t>
                      </a:r>
                      <a:r>
                        <a:rPr lang="zh-CN" alt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在释放进程时，需要调用该操作释放被占用的页表 *</a:t>
                      </a: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</a:t>
                      </a:r>
                      <a:endParaRPr lang="zh-CN" altLang="en-US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Release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ClearUserPageTable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endParaRPr lang="en-US" altLang="zh-CN" sz="11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PageTable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GetUserPageTableArray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GetTextStartAddress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GetTextSize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GetDataStartAddress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GetDataSize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GetStackSize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b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MapTextEntrys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MapDataEntrys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MapStackEntrys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MapEntry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bool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EstablishUserPageTable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endParaRPr lang="en-US" altLang="zh-CN" sz="1100" b="0" dirty="0">
                        <a:solidFill>
                          <a:srgbClr val="008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altLang="zh-CN" sz="1100" b="0" dirty="0">
                        <a:solidFill>
                          <a:srgbClr val="008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 //</a:t>
                      </a:r>
                      <a:r>
                        <a:rPr lang="zh-CN" altLang="en-US" sz="1100" b="0" kern="120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修改</a:t>
                      </a:r>
                      <a:r>
                        <a:rPr lang="en-US" altLang="zh-CN" sz="1100" b="0" kern="120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MapToPageTable</a:t>
                      </a:r>
                      <a:r>
                        <a:rPr lang="en-US" altLang="zh-CN" sz="1100" b="0" kern="120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()</a:t>
                      </a:r>
                      <a:r>
                        <a:rPr lang="zh-CN" alt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函数将</a:t>
                      </a: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1#</a:t>
                      </a:r>
                      <a:r>
                        <a:rPr lang="zh-CN" alt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用户页表页框号写到私有的页目录</a:t>
                      </a:r>
                      <a:endParaRPr lang="zh-CN" altLang="en-US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MapToPageTable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();</a:t>
                      </a:r>
                      <a:r>
                        <a:rPr lang="zh-CN" altLang="en-US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   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308309"/>
                  </a:ext>
                </a:extLst>
              </a:tr>
            </a:tbl>
          </a:graphicData>
        </a:graphic>
      </p:graphicFrame>
      <p:sp>
        <p:nvSpPr>
          <p:cNvPr id="9" name="矩形: 圆角 8">
            <a:extLst>
              <a:ext uri="{FF2B5EF4-FFF2-40B4-BE49-F238E27FC236}">
                <a16:creationId xmlns:a16="http://schemas.microsoft.com/office/drawing/2014/main" id="{0E0F6B83-498F-4C55-8718-B7B1A5B9E357}"/>
              </a:ext>
            </a:extLst>
          </p:cNvPr>
          <p:cNvSpPr/>
          <p:nvPr/>
        </p:nvSpPr>
        <p:spPr>
          <a:xfrm>
            <a:off x="1127448" y="1772816"/>
            <a:ext cx="5328592" cy="942996"/>
          </a:xfrm>
          <a:prstGeom prst="roundRect">
            <a:avLst>
              <a:gd name="adj" fmla="val 735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8DB6075-12C7-7E93-C478-BB5708BCD8E7}"/>
              </a:ext>
            </a:extLst>
          </p:cNvPr>
          <p:cNvSpPr/>
          <p:nvPr/>
        </p:nvSpPr>
        <p:spPr>
          <a:xfrm>
            <a:off x="6657050" y="1339094"/>
            <a:ext cx="35283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需要修改的接口函数：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5A5A8A5-8908-6423-BF04-5C6E73C0F0BA}"/>
              </a:ext>
            </a:extLst>
          </p:cNvPr>
          <p:cNvSpPr txBox="1"/>
          <p:nvPr/>
        </p:nvSpPr>
        <p:spPr>
          <a:xfrm>
            <a:off x="6672064" y="1907250"/>
            <a:ext cx="453650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因为</a:t>
            </a:r>
            <a:r>
              <a:rPr kumimoji="0" lang="en-US" altLang="zh-CN" sz="14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m_UserPageTableArray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只是指向一个页的用户页表，所以</a:t>
            </a:r>
            <a:r>
              <a:rPr lang="zh-CN" altLang="en-US" sz="1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初始化时只分配一个页，回收时只回收一个页，清除时也只需要清除一个页</a:t>
            </a:r>
            <a:endParaRPr lang="zh-CN" altLang="en-US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90BFC28-FC87-E4E1-B93F-C39BAB5BA1A1}"/>
              </a:ext>
            </a:extLst>
          </p:cNvPr>
          <p:cNvSpPr/>
          <p:nvPr/>
        </p:nvSpPr>
        <p:spPr>
          <a:xfrm>
            <a:off x="1127448" y="3995686"/>
            <a:ext cx="5328592" cy="1008112"/>
          </a:xfrm>
          <a:prstGeom prst="roundRect">
            <a:avLst>
              <a:gd name="adj" fmla="val 7401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D0E9686-5613-3EFA-476F-471208B589CE}"/>
              </a:ext>
            </a:extLst>
          </p:cNvPr>
          <p:cNvSpPr txBox="1"/>
          <p:nvPr/>
        </p:nvSpPr>
        <p:spPr>
          <a:xfrm>
            <a:off x="6600056" y="4298451"/>
            <a:ext cx="45365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这些与相对表设置物理页表相关的接口函数都不再需要</a:t>
            </a:r>
            <a:endParaRPr lang="zh-CN" altLang="en-US" dirty="0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3DA3230-6000-287A-05CF-42FA4A58D764}"/>
              </a:ext>
            </a:extLst>
          </p:cNvPr>
          <p:cNvSpPr/>
          <p:nvPr/>
        </p:nvSpPr>
        <p:spPr>
          <a:xfrm>
            <a:off x="1122246" y="5123280"/>
            <a:ext cx="5328592" cy="432048"/>
          </a:xfrm>
          <a:prstGeom prst="roundRect">
            <a:avLst>
              <a:gd name="adj" fmla="val 10551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F47CECE-987F-158A-7D41-97C6B6BACEE4}"/>
              </a:ext>
            </a:extLst>
          </p:cNvPr>
          <p:cNvSpPr txBox="1"/>
          <p:nvPr/>
        </p:nvSpPr>
        <p:spPr>
          <a:xfrm>
            <a:off x="6533249" y="5003798"/>
            <a:ext cx="4536505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需要新增的接口函数：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</a:t>
            </a:r>
            <a:r>
              <a:rPr lang="en-US" altLang="zh-CN" sz="1400" b="1" kern="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FlushPageDirectory</a:t>
            </a:r>
            <a:r>
              <a:rPr lang="zh-CN" altLang="en-US" sz="1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函数将页目录的物理页框号写入</a:t>
            </a:r>
            <a:r>
              <a:rPr lang="en-US" altLang="zh-CN" sz="1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CR3</a:t>
            </a:r>
            <a:r>
              <a:rPr lang="zh-CN" altLang="en-US" sz="1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  <a:endParaRPr lang="en-US" altLang="zh-CN" sz="1400" b="1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6543919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82E4A4-4B4D-41BF-9F68-1575C742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353A2E-92EE-4F23-A078-2A07C43737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C4DE104-5DA1-4B88-B642-58DE3423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页表系统</a:t>
            </a:r>
          </a:p>
        </p:txBody>
      </p:sp>
      <p:sp>
        <p:nvSpPr>
          <p:cNvPr id="168" name="Rectangle 4">
            <a:extLst>
              <a:ext uri="{FF2B5EF4-FFF2-40B4-BE49-F238E27FC236}">
                <a16:creationId xmlns:a16="http://schemas.microsoft.com/office/drawing/2014/main" id="{60CA974C-1E35-3437-1DCE-51D492D1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29" y="2715812"/>
            <a:ext cx="244012" cy="142637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wrap="square" tIns="0" bIns="0" anchor="ctr" anchorCtr="1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页表的构成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4B2798-A0E3-D675-2F14-6F9914D9E5BA}"/>
              </a:ext>
            </a:extLst>
          </p:cNvPr>
          <p:cNvSpPr/>
          <p:nvPr/>
        </p:nvSpPr>
        <p:spPr>
          <a:xfrm>
            <a:off x="1055440" y="908720"/>
            <a:ext cx="7200800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）修改进程生命周期中所有与分页机制相关的操作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8FA512-15F4-B75D-6CC8-3321FF194864}"/>
              </a:ext>
            </a:extLst>
          </p:cNvPr>
          <p:cNvSpPr/>
          <p:nvPr/>
        </p:nvSpPr>
        <p:spPr>
          <a:xfrm>
            <a:off x="1199456" y="1442832"/>
            <a:ext cx="35283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创建进程时：</a:t>
            </a:r>
          </a:p>
        </p:txBody>
      </p:sp>
      <p:sp>
        <p:nvSpPr>
          <p:cNvPr id="5" name="Line 5">
            <a:extLst>
              <a:ext uri="{FF2B5EF4-FFF2-40B4-BE49-F238E27FC236}">
                <a16:creationId xmlns:a16="http://schemas.microsoft.com/office/drawing/2014/main" id="{55A5B052-920F-3FD2-D009-47BC3A7E0E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16280" y="1313079"/>
            <a:ext cx="936844" cy="1870848"/>
          </a:xfrm>
          <a:prstGeom prst="line">
            <a:avLst/>
          </a:prstGeom>
          <a:noFill/>
          <a:ln w="12700">
            <a:solidFill>
              <a:srgbClr val="7030A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kumimoji="1" lang="zh-CN" altLang="en-US" ker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Line 11">
            <a:extLst>
              <a:ext uri="{FF2B5EF4-FFF2-40B4-BE49-F238E27FC236}">
                <a16:creationId xmlns:a16="http://schemas.microsoft.com/office/drawing/2014/main" id="{D7B37287-953A-939B-B601-733E946829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57683" y="1392730"/>
            <a:ext cx="0" cy="1791197"/>
          </a:xfrm>
          <a:prstGeom prst="line">
            <a:avLst/>
          </a:prstGeom>
          <a:noFill/>
          <a:ln w="12700">
            <a:solidFill>
              <a:srgbClr val="7030A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kumimoji="1" lang="zh-CN" altLang="en-US" ker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12">
            <a:extLst>
              <a:ext uri="{FF2B5EF4-FFF2-40B4-BE49-F238E27FC236}">
                <a16:creationId xmlns:a16="http://schemas.microsoft.com/office/drawing/2014/main" id="{FD1D201A-311C-2A85-5187-F358A720D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1323" y="3183927"/>
            <a:ext cx="13410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1800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b="1" kern="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Newproc</a:t>
            </a:r>
            <a:r>
              <a:rPr lang="en-US" altLang="zh-CN" sz="20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7B51D8F-9385-8A7A-5415-6FA72C98C2E6}"/>
              </a:ext>
            </a:extLst>
          </p:cNvPr>
          <p:cNvSpPr/>
          <p:nvPr/>
        </p:nvSpPr>
        <p:spPr>
          <a:xfrm>
            <a:off x="8986977" y="975182"/>
            <a:ext cx="1341904" cy="342043"/>
          </a:xfrm>
          <a:prstGeom prst="rect">
            <a:avLst/>
          </a:prstGeom>
          <a:solidFill>
            <a:schemeClr val="bg1"/>
          </a:solidFill>
          <a:ln w="15875" cap="flat" cmpd="sng" algn="ctr">
            <a:noFill/>
            <a:prstDash val="solid"/>
          </a:ln>
          <a:effectLst/>
        </p:spPr>
        <p:txBody>
          <a:bodyPr wrap="square" anchor="ctr" anchorCtr="1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NewProc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（）</a:t>
            </a:r>
          </a:p>
        </p:txBody>
      </p:sp>
      <p:sp useBgFill="1">
        <p:nvSpPr>
          <p:cNvPr id="12" name="Text Box 3">
            <a:extLst>
              <a:ext uri="{FF2B5EF4-FFF2-40B4-BE49-F238E27FC236}">
                <a16:creationId xmlns:a16="http://schemas.microsoft.com/office/drawing/2014/main" id="{C13D69DF-2DBA-D119-F1D7-CBD7A93EF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3910" y="1934866"/>
            <a:ext cx="2387548" cy="338554"/>
          </a:xfrm>
          <a:prstGeom prst="rect">
            <a:avLst/>
          </a:prstGeom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rIns="18000">
            <a:spAutoFit/>
          </a:bodyPr>
          <a:lstStyle>
            <a:defPPr>
              <a:defRPr lang="zh-CN"/>
            </a:defPPr>
            <a:lvl1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kumimoji="1" sz="1600" b="1" kern="0">
                <a:latin typeface="+mj-ea"/>
                <a:ea typeface="+mj-ea"/>
              </a:defRPr>
            </a:lvl1pPr>
            <a:lvl2pPr marL="742950" indent="-285750" eaLnBrk="0" hangingPunct="0">
              <a:defRPr kumimoji="1" sz="2400">
                <a:latin typeface="Times New Roman" pitchFamily="18" charset="0"/>
              </a:defRPr>
            </a:lvl2pPr>
            <a:lvl3pPr marL="1143000" indent="-228600" eaLnBrk="0" hangingPunct="0">
              <a:defRPr kumimoji="1" sz="2400">
                <a:latin typeface="Times New Roman" pitchFamily="18" charset="0"/>
              </a:defRPr>
            </a:lvl3pPr>
            <a:lvl4pPr marL="1600200" indent="-228600" eaLnBrk="0" hangingPunct="0">
              <a:defRPr kumimoji="1" sz="2400">
                <a:latin typeface="Times New Roman" pitchFamily="18" charset="0"/>
              </a:defRPr>
            </a:lvl4pPr>
            <a:lvl5pPr marL="2057400" indent="-228600" eaLnBrk="0" hangingPunct="0">
              <a:defRPr kumimoji="1" sz="2400"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itchFamily="18" charset="0"/>
              </a:defRPr>
            </a:lvl9pPr>
          </a:lstStyle>
          <a:p>
            <a:r>
              <a:rPr lang="en-US" altLang="zh-CN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esp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-&gt; </a:t>
            </a:r>
            <a:r>
              <a:rPr lang="en-US" altLang="zh-CN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u.u_rsav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29FDA9B4-156A-A491-2366-10A23491B33B}"/>
              </a:ext>
            </a:extLst>
          </p:cNvPr>
          <p:cNvSpPr/>
          <p:nvPr/>
        </p:nvSpPr>
        <p:spPr>
          <a:xfrm>
            <a:off x="9714794" y="1398612"/>
            <a:ext cx="309600" cy="311199"/>
          </a:xfrm>
          <a:prstGeom prst="ellipse">
            <a:avLst/>
          </a:prstGeom>
          <a:solidFill>
            <a:srgbClr val="C00000"/>
          </a:solidFill>
          <a:ln w="22225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9D5845C-5A29-F678-7CFE-5413A8929F93}"/>
              </a:ext>
            </a:extLst>
          </p:cNvPr>
          <p:cNvSpPr/>
          <p:nvPr/>
        </p:nvSpPr>
        <p:spPr>
          <a:xfrm>
            <a:off x="10105892" y="1398997"/>
            <a:ext cx="309600" cy="311199"/>
          </a:xfrm>
          <a:prstGeom prst="ellipse">
            <a:avLst/>
          </a:prstGeom>
          <a:solidFill>
            <a:srgbClr val="C00000"/>
          </a:solidFill>
          <a:ln w="22225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 useBgFill="1">
        <p:nvSpPr>
          <p:cNvPr id="15" name="Text Box 3">
            <a:extLst>
              <a:ext uri="{FF2B5EF4-FFF2-40B4-BE49-F238E27FC236}">
                <a16:creationId xmlns:a16="http://schemas.microsoft.com/office/drawing/2014/main" id="{A760D3E8-0B2D-B35B-A096-56B79111F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0894" y="2568153"/>
            <a:ext cx="1341015" cy="584775"/>
          </a:xfrm>
          <a:prstGeom prst="rect">
            <a:avLst/>
          </a:prstGeom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rIns="18000">
            <a:spAutoFit/>
          </a:bodyPr>
          <a:lstStyle>
            <a:defPPr>
              <a:defRPr lang="zh-CN"/>
            </a:defPPr>
            <a:lvl1pPr eaLnBrk="1" fontAlgn="auto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defRPr kumimoji="1" sz="1600" b="1" kern="0">
                <a:latin typeface="+mj-ea"/>
                <a:ea typeface="+mj-ea"/>
              </a:defRPr>
            </a:lvl1pPr>
            <a:lvl2pPr marL="742950" indent="-285750" eaLnBrk="0" hangingPunct="0">
              <a:defRPr kumimoji="1" sz="2400">
                <a:latin typeface="Times New Roman" pitchFamily="18" charset="0"/>
              </a:defRPr>
            </a:lvl2pPr>
            <a:lvl3pPr marL="1143000" indent="-228600" eaLnBrk="0" hangingPunct="0">
              <a:defRPr kumimoji="1" sz="2400">
                <a:latin typeface="Times New Roman" pitchFamily="18" charset="0"/>
              </a:defRPr>
            </a:lvl3pPr>
            <a:lvl4pPr marL="1600200" indent="-228600" eaLnBrk="0" hangingPunct="0">
              <a:defRPr kumimoji="1" sz="2400">
                <a:latin typeface="Times New Roman" pitchFamily="18" charset="0"/>
              </a:defRPr>
            </a:lvl4pPr>
            <a:lvl5pPr marL="2057400" indent="-228600" eaLnBrk="0" hangingPunct="0">
              <a:defRPr kumimoji="1" sz="2400"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itchFamily="18" charset="0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为子进程申请复制虚页表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 useBgFill="1">
        <p:nvSpPr>
          <p:cNvPr id="16" name="Text Box 3">
            <a:extLst>
              <a:ext uri="{FF2B5EF4-FFF2-40B4-BE49-F238E27FC236}">
                <a16:creationId xmlns:a16="http://schemas.microsoft.com/office/drawing/2014/main" id="{BC33ACCA-3E8C-9CFF-1EA0-199BC3B39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8246" y="4293781"/>
            <a:ext cx="1206311" cy="1077218"/>
          </a:xfrm>
          <a:prstGeom prst="rect">
            <a:avLst/>
          </a:prstGeom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rIns="18000">
            <a:spAutoFit/>
          </a:bodyPr>
          <a:lstStyle>
            <a:defPPr>
              <a:defRPr lang="zh-CN"/>
            </a:defPPr>
            <a:lvl1pPr eaLnBrk="1" fontAlgn="auto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defRPr kumimoji="1" sz="1600" b="1" kern="0">
                <a:latin typeface="+mj-ea"/>
                <a:ea typeface="+mj-ea"/>
              </a:defRPr>
            </a:lvl1pPr>
            <a:lvl2pPr marL="742950" indent="-285750" eaLnBrk="0" hangingPunct="0">
              <a:defRPr kumimoji="1" sz="2400">
                <a:latin typeface="Times New Roman" pitchFamily="18" charset="0"/>
              </a:defRPr>
            </a:lvl2pPr>
            <a:lvl3pPr marL="1143000" indent="-228600" eaLnBrk="0" hangingPunct="0">
              <a:defRPr kumimoji="1" sz="2400">
                <a:latin typeface="Times New Roman" pitchFamily="18" charset="0"/>
              </a:defRPr>
            </a:lvl3pPr>
            <a:lvl4pPr marL="1600200" indent="-228600" eaLnBrk="0" hangingPunct="0">
              <a:defRPr kumimoji="1" sz="2400">
                <a:latin typeface="Times New Roman" pitchFamily="18" charset="0"/>
              </a:defRPr>
            </a:lvl4pPr>
            <a:lvl5pPr marL="2057400" indent="-228600" eaLnBrk="0" hangingPunct="0">
              <a:defRPr kumimoji="1" sz="2400"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子进程复制父进程图象</a:t>
            </a:r>
            <a:endParaRPr kumimoji="1" lang="en-US" altLang="zh-CN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p_addr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指向该内存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9F942EB-0CDA-1A6B-A294-CF71C86E7FC3}"/>
              </a:ext>
            </a:extLst>
          </p:cNvPr>
          <p:cNvGrpSpPr/>
          <p:nvPr/>
        </p:nvGrpSpPr>
        <p:grpSpPr>
          <a:xfrm>
            <a:off x="8616280" y="3501008"/>
            <a:ext cx="2070243" cy="534948"/>
            <a:chOff x="1689217" y="3664900"/>
            <a:chExt cx="2070243" cy="534948"/>
          </a:xfrm>
        </p:grpSpPr>
        <p:sp>
          <p:nvSpPr>
            <p:cNvPr id="20" name="AutoShape 13">
              <a:extLst>
                <a:ext uri="{FF2B5EF4-FFF2-40B4-BE49-F238E27FC236}">
                  <a16:creationId xmlns:a16="http://schemas.microsoft.com/office/drawing/2014/main" id="{E1612943-4FE8-7AEE-EC8A-9999FD49C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9217" y="3664900"/>
              <a:ext cx="2070243" cy="534948"/>
            </a:xfrm>
            <a:prstGeom prst="flowChartDecision">
              <a:avLst/>
            </a:prstGeom>
            <a:noFill/>
            <a:ln w="12700">
              <a:solidFill>
                <a:sysClr val="windowText" lastClr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Rectangle 14">
              <a:extLst>
                <a:ext uri="{FF2B5EF4-FFF2-40B4-BE49-F238E27FC236}">
                  <a16:creationId xmlns:a16="http://schemas.microsoft.com/office/drawing/2014/main" id="{BEC32407-65EC-53FB-1A8B-58EA9AA2D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8299" y="3770760"/>
              <a:ext cx="149769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内存分配成功？</a:t>
              </a:r>
            </a:p>
          </p:txBody>
        </p:sp>
      </p:grpSp>
      <p:sp>
        <p:nvSpPr>
          <p:cNvPr id="22" name="AutoShape 20">
            <a:extLst>
              <a:ext uri="{FF2B5EF4-FFF2-40B4-BE49-F238E27FC236}">
                <a16:creationId xmlns:a16="http://schemas.microsoft.com/office/drawing/2014/main" id="{A31E58E6-6A6B-1F83-C152-F72A28B17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0549" y="5607974"/>
            <a:ext cx="1219200" cy="338554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 w="158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wrap="square" anchor="ctr" anchorCtr="1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return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3" name="连接符: 肘形 110">
            <a:extLst>
              <a:ext uri="{FF2B5EF4-FFF2-40B4-BE49-F238E27FC236}">
                <a16:creationId xmlns:a16="http://schemas.microsoft.com/office/drawing/2014/main" id="{3B03A6C9-E7F2-8898-A16E-96CEA915CF9C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9653009" y="1317225"/>
            <a:ext cx="4920" cy="680347"/>
          </a:xfrm>
          <a:prstGeom prst="straightConnector1">
            <a:avLst/>
          </a:prstGeom>
          <a:noFill/>
          <a:ln w="12700" cap="flat" cmpd="sng" algn="ctr">
            <a:solidFill>
              <a:srgbClr val="7030A0"/>
            </a:solidFill>
            <a:prstDash val="solid"/>
            <a:tailEnd type="triangle" w="med" len="lg"/>
          </a:ln>
          <a:effectLst/>
        </p:spPr>
      </p:cxnSp>
      <p:cxnSp>
        <p:nvCxnSpPr>
          <p:cNvPr id="29" name="连接符: 肘形 110">
            <a:extLst>
              <a:ext uri="{FF2B5EF4-FFF2-40B4-BE49-F238E27FC236}">
                <a16:creationId xmlns:a16="http://schemas.microsoft.com/office/drawing/2014/main" id="{27FB7A7D-805B-0288-8945-3B5E3917DE40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9651402" y="2273420"/>
            <a:ext cx="918" cy="294733"/>
          </a:xfrm>
          <a:prstGeom prst="straightConnector1">
            <a:avLst/>
          </a:prstGeom>
          <a:noFill/>
          <a:ln w="12700" cap="flat" cmpd="sng" algn="ctr">
            <a:solidFill>
              <a:srgbClr val="7030A0"/>
            </a:solidFill>
            <a:prstDash val="solid"/>
            <a:tailEnd type="triangle" w="med" len="lg"/>
          </a:ln>
          <a:effectLst/>
        </p:spPr>
      </p:cxnSp>
      <p:cxnSp>
        <p:nvCxnSpPr>
          <p:cNvPr id="30" name="连接符: 肘形 110">
            <a:extLst>
              <a:ext uri="{FF2B5EF4-FFF2-40B4-BE49-F238E27FC236}">
                <a16:creationId xmlns:a16="http://schemas.microsoft.com/office/drawing/2014/main" id="{1351C65F-86C4-27F2-E558-64AD683D51E3}"/>
              </a:ext>
            </a:extLst>
          </p:cNvPr>
          <p:cNvCxnSpPr>
            <a:cxnSpLocks/>
            <a:stCxn id="15" idx="2"/>
            <a:endCxn id="20" idx="0"/>
          </p:cNvCxnSpPr>
          <p:nvPr/>
        </p:nvCxnSpPr>
        <p:spPr>
          <a:xfrm>
            <a:off x="9651402" y="3152928"/>
            <a:ext cx="0" cy="348080"/>
          </a:xfrm>
          <a:prstGeom prst="straightConnector1">
            <a:avLst/>
          </a:prstGeom>
          <a:noFill/>
          <a:ln w="12700" cap="flat" cmpd="sng" algn="ctr">
            <a:solidFill>
              <a:srgbClr val="7030A0"/>
            </a:solidFill>
            <a:prstDash val="solid"/>
            <a:tailEnd type="triangle" w="med" len="lg"/>
          </a:ln>
          <a:effectLst/>
        </p:spPr>
      </p:cxnSp>
      <p:cxnSp>
        <p:nvCxnSpPr>
          <p:cNvPr id="31" name="连接符: 肘形 110">
            <a:extLst>
              <a:ext uri="{FF2B5EF4-FFF2-40B4-BE49-F238E27FC236}">
                <a16:creationId xmlns:a16="http://schemas.microsoft.com/office/drawing/2014/main" id="{10D6CA19-0AA9-F902-DD0E-CD287DA95E76}"/>
              </a:ext>
            </a:extLst>
          </p:cNvPr>
          <p:cNvCxnSpPr>
            <a:cxnSpLocks/>
            <a:stCxn id="20" idx="2"/>
            <a:endCxn id="16" idx="0"/>
          </p:cNvCxnSpPr>
          <p:nvPr/>
        </p:nvCxnSpPr>
        <p:spPr>
          <a:xfrm>
            <a:off x="9651402" y="4035956"/>
            <a:ext cx="0" cy="257825"/>
          </a:xfrm>
          <a:prstGeom prst="straightConnector1">
            <a:avLst/>
          </a:prstGeom>
          <a:noFill/>
          <a:ln w="12700" cap="flat" cmpd="sng" algn="ctr">
            <a:solidFill>
              <a:srgbClr val="7030A0"/>
            </a:solidFill>
            <a:prstDash val="solid"/>
            <a:tailEnd type="triangle" w="med" len="lg"/>
          </a:ln>
          <a:effectLst/>
        </p:spPr>
      </p:cxnSp>
      <p:cxnSp>
        <p:nvCxnSpPr>
          <p:cNvPr id="33" name="连接符: 肘形 110">
            <a:extLst>
              <a:ext uri="{FF2B5EF4-FFF2-40B4-BE49-F238E27FC236}">
                <a16:creationId xmlns:a16="http://schemas.microsoft.com/office/drawing/2014/main" id="{F844FAA6-A5D2-AB95-A5B0-BF37EADA131F}"/>
              </a:ext>
            </a:extLst>
          </p:cNvPr>
          <p:cNvCxnSpPr>
            <a:cxnSpLocks/>
            <a:stCxn id="16" idx="2"/>
            <a:endCxn id="22" idx="0"/>
          </p:cNvCxnSpPr>
          <p:nvPr/>
        </p:nvCxnSpPr>
        <p:spPr>
          <a:xfrm flipH="1">
            <a:off x="9650149" y="5370999"/>
            <a:ext cx="1253" cy="236975"/>
          </a:xfrm>
          <a:prstGeom prst="straightConnector1">
            <a:avLst/>
          </a:prstGeom>
          <a:noFill/>
          <a:ln w="12700" cap="flat" cmpd="sng" algn="ctr">
            <a:solidFill>
              <a:srgbClr val="7030A0"/>
            </a:solidFill>
            <a:prstDash val="solid"/>
            <a:tailEnd type="triangle" w="med" len="lg"/>
          </a:ln>
          <a:effectLst/>
        </p:spPr>
      </p:cxnSp>
      <p:sp>
        <p:nvSpPr>
          <p:cNvPr id="34" name="Line 11">
            <a:extLst>
              <a:ext uri="{FF2B5EF4-FFF2-40B4-BE49-F238E27FC236}">
                <a16:creationId xmlns:a16="http://schemas.microsoft.com/office/drawing/2014/main" id="{62237775-173C-49F3-A44F-0C6A57E9AD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47596" y="3720166"/>
            <a:ext cx="0" cy="1791197"/>
          </a:xfrm>
          <a:prstGeom prst="line">
            <a:avLst/>
          </a:prstGeom>
          <a:noFill/>
          <a:ln w="12700">
            <a:solidFill>
              <a:srgbClr val="7030A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kumimoji="1" lang="zh-CN" altLang="en-US" ker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Line 5">
            <a:extLst>
              <a:ext uri="{FF2B5EF4-FFF2-40B4-BE49-F238E27FC236}">
                <a16:creationId xmlns:a16="http://schemas.microsoft.com/office/drawing/2014/main" id="{31F2F4C8-C842-66B5-708E-88AC9E59D5B8}"/>
              </a:ext>
            </a:extLst>
          </p:cNvPr>
          <p:cNvSpPr>
            <a:spLocks noChangeShapeType="1"/>
          </p:cNvSpPr>
          <p:nvPr/>
        </p:nvSpPr>
        <p:spPr bwMode="auto">
          <a:xfrm>
            <a:off x="8569366" y="3801568"/>
            <a:ext cx="1010889" cy="2398575"/>
          </a:xfrm>
          <a:prstGeom prst="line">
            <a:avLst/>
          </a:prstGeom>
          <a:noFill/>
          <a:ln w="12700">
            <a:solidFill>
              <a:srgbClr val="7030A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kumimoji="1" lang="zh-CN" altLang="en-US" ker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连接符: 肘形 110">
            <a:extLst>
              <a:ext uri="{FF2B5EF4-FFF2-40B4-BE49-F238E27FC236}">
                <a16:creationId xmlns:a16="http://schemas.microsoft.com/office/drawing/2014/main" id="{9E1A6B64-3A17-C644-E885-254E3E04ADA9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9650149" y="5946528"/>
            <a:ext cx="7780" cy="272229"/>
          </a:xfrm>
          <a:prstGeom prst="straightConnector1">
            <a:avLst/>
          </a:prstGeom>
          <a:noFill/>
          <a:ln w="12700" cap="flat" cmpd="sng" algn="ctr">
            <a:solidFill>
              <a:srgbClr val="7030A0"/>
            </a:solidFill>
            <a:prstDash val="solid"/>
            <a:tailEnd type="triangle" w="med" len="lg"/>
          </a:ln>
          <a:effectLst/>
        </p:spPr>
      </p:cxnSp>
      <p:sp>
        <p:nvSpPr>
          <p:cNvPr id="37" name="Text Box 2">
            <a:extLst>
              <a:ext uri="{FF2B5EF4-FFF2-40B4-BE49-F238E27FC236}">
                <a16:creationId xmlns:a16="http://schemas.microsoft.com/office/drawing/2014/main" id="{33A948CF-E256-E767-C58F-76ED42C1F8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4213" y="5469322"/>
            <a:ext cx="9017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1800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0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返回(</a:t>
            </a:r>
            <a:r>
              <a:rPr lang="zh-CN" altLang="en-US" sz="2000" b="1" kern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456C41B4-53DF-6611-9937-911E6C9D44A7}"/>
              </a:ext>
            </a:extLst>
          </p:cNvPr>
          <p:cNvGrpSpPr/>
          <p:nvPr/>
        </p:nvGrpSpPr>
        <p:grpSpPr>
          <a:xfrm>
            <a:off x="8678182" y="2421081"/>
            <a:ext cx="3170592" cy="844233"/>
            <a:chOff x="8678182" y="2421081"/>
            <a:chExt cx="3170592" cy="844233"/>
          </a:xfrm>
        </p:grpSpPr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0E564CD3-C561-3166-AA6F-7D0EE5AD45DC}"/>
                </a:ext>
              </a:extLst>
            </p:cNvPr>
            <p:cNvSpPr/>
            <p:nvPr/>
          </p:nvSpPr>
          <p:spPr>
            <a:xfrm>
              <a:off x="8678182" y="2421081"/>
              <a:ext cx="1959494" cy="844233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37069C60-84D4-5E16-4543-368514DB8DBA}"/>
                </a:ext>
              </a:extLst>
            </p:cNvPr>
            <p:cNvSpPr/>
            <p:nvPr/>
          </p:nvSpPr>
          <p:spPr>
            <a:xfrm>
              <a:off x="10560496" y="2690097"/>
              <a:ext cx="12882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需要修改</a:t>
              </a:r>
            </a:p>
          </p:txBody>
        </p:sp>
      </p:grpSp>
      <p:sp>
        <p:nvSpPr>
          <p:cNvPr id="46" name="矩形 45">
            <a:extLst>
              <a:ext uri="{FF2B5EF4-FFF2-40B4-BE49-F238E27FC236}">
                <a16:creationId xmlns:a16="http://schemas.microsoft.com/office/drawing/2014/main" id="{D4B1DB2F-4984-755F-7D94-EC1764FA971B}"/>
              </a:ext>
            </a:extLst>
          </p:cNvPr>
          <p:cNvSpPr/>
          <p:nvPr/>
        </p:nvSpPr>
        <p:spPr>
          <a:xfrm>
            <a:off x="1895483" y="4739245"/>
            <a:ext cx="55207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不需要考虑内存不够的情况！！！</a:t>
            </a:r>
          </a:p>
        </p:txBody>
      </p:sp>
    </p:spTree>
    <p:extLst>
      <p:ext uri="{BB962C8B-B14F-4D97-AF65-F5344CB8AC3E}">
        <p14:creationId xmlns:p14="http://schemas.microsoft.com/office/powerpoint/2010/main" val="391919643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82E4A4-4B4D-41BF-9F68-1575C742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353A2E-92EE-4F23-A078-2A07C43737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C4DE104-5DA1-4B88-B642-58DE3423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页表系统</a:t>
            </a:r>
          </a:p>
        </p:txBody>
      </p:sp>
      <p:sp>
        <p:nvSpPr>
          <p:cNvPr id="168" name="Rectangle 4">
            <a:extLst>
              <a:ext uri="{FF2B5EF4-FFF2-40B4-BE49-F238E27FC236}">
                <a16:creationId xmlns:a16="http://schemas.microsoft.com/office/drawing/2014/main" id="{60CA974C-1E35-3437-1DCE-51D492D1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29" y="2715812"/>
            <a:ext cx="244012" cy="142637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wrap="square" tIns="0" bIns="0" anchor="ctr" anchorCtr="1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页表的构成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4B2798-A0E3-D675-2F14-6F9914D9E5BA}"/>
              </a:ext>
            </a:extLst>
          </p:cNvPr>
          <p:cNvSpPr/>
          <p:nvPr/>
        </p:nvSpPr>
        <p:spPr>
          <a:xfrm>
            <a:off x="1055440" y="908720"/>
            <a:ext cx="7200800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）修改进程生命周期中所有与分页机制相关的操作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8FA512-15F4-B75D-6CC8-3321FF194864}"/>
              </a:ext>
            </a:extLst>
          </p:cNvPr>
          <p:cNvSpPr/>
          <p:nvPr/>
        </p:nvSpPr>
        <p:spPr>
          <a:xfrm>
            <a:off x="1199456" y="1442832"/>
            <a:ext cx="35283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创建进程时：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9487EF2-98C5-4A3E-4DC6-7A89EA41C268}"/>
              </a:ext>
            </a:extLst>
          </p:cNvPr>
          <p:cNvSpPr txBox="1"/>
          <p:nvPr/>
        </p:nvSpPr>
        <p:spPr>
          <a:xfrm>
            <a:off x="1199456" y="1944083"/>
            <a:ext cx="95770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PageDirectory</a:t>
            </a:r>
            <a:r>
              <a:rPr lang="en-US" altLang="zh-C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AllocPageDirectory</a:t>
            </a:r>
            <a:r>
              <a:rPr lang="en-US" altLang="zh-C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endParaRPr lang="en-US" altLang="zh-CN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en-US" altLang="zh-C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en-US" altLang="zh-CN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en-US" altLang="zh-C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en-US" altLang="zh-CN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en-US" altLang="zh-C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en-US" altLang="zh-CN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InitProcPageDirectory</a:t>
            </a:r>
            <a:r>
              <a:rPr lang="en-US" altLang="zh-C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Process</a:t>
            </a:r>
            <a:r>
              <a:rPr lang="en-US" altLang="zh-C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proc</a:t>
            </a:r>
            <a:r>
              <a:rPr lang="en-US" altLang="zh-C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PageTable</a:t>
            </a:r>
            <a:r>
              <a:rPr lang="en-US" altLang="zh-C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privateUsrPageTable</a:t>
            </a:r>
            <a:r>
              <a:rPr lang="en-US" altLang="zh-C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DB0228F2-5421-547D-459E-977EF8BCC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650184"/>
              </p:ext>
            </p:extLst>
          </p:nvPr>
        </p:nvGraphicFramePr>
        <p:xfrm>
          <a:off x="6400175" y="2036277"/>
          <a:ext cx="3312368" cy="1742440"/>
        </p:xfrm>
        <a:graphic>
          <a:graphicData uri="http://schemas.openxmlformats.org/drawingml/2006/table">
            <a:tbl>
              <a:tblPr firstRow="1" bandRow="1"/>
              <a:tblGrid>
                <a:gridCol w="1746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72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68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Page Base Address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45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45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s/u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45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r/w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45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45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65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8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……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……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492874"/>
                  </a:ext>
                </a:extLst>
              </a:tr>
            </a:tbl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E5F39EDA-9D53-9213-6B63-EACA242F7A7B}"/>
              </a:ext>
            </a:extLst>
          </p:cNvPr>
          <p:cNvSpPr txBox="1"/>
          <p:nvPr/>
        </p:nvSpPr>
        <p:spPr>
          <a:xfrm>
            <a:off x="3999724" y="2421059"/>
            <a:ext cx="20162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p_PageDirectory</a:t>
            </a:r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39898B4-CD0F-2F7D-BEC2-D9E6C1D19CD2}"/>
              </a:ext>
            </a:extLst>
          </p:cNvPr>
          <p:cNvCxnSpPr>
            <a:cxnSpLocks/>
          </p:cNvCxnSpPr>
          <p:nvPr/>
        </p:nvCxnSpPr>
        <p:spPr>
          <a:xfrm>
            <a:off x="4431772" y="2398651"/>
            <a:ext cx="1944216" cy="0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 w="med" len="med"/>
            <a:tailEnd type="triangle" w="med" len="lg"/>
          </a:ln>
          <a:effectLst/>
        </p:spPr>
      </p:cxnSp>
      <p:sp>
        <p:nvSpPr>
          <p:cNvPr id="24" name="矩形 97">
            <a:extLst>
              <a:ext uri="{FF2B5EF4-FFF2-40B4-BE49-F238E27FC236}">
                <a16:creationId xmlns:a16="http://schemas.microsoft.com/office/drawing/2014/main" id="{062A9FB2-F8FC-598A-979B-EE5BA0934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9966" y="2687789"/>
            <a:ext cx="2396022" cy="457259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为进程分配一张页目录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2CB897B3-7F03-DF7E-A1D8-D8822BBEF5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43170"/>
              </p:ext>
            </p:extLst>
          </p:nvPr>
        </p:nvGraphicFramePr>
        <p:xfrm>
          <a:off x="6373111" y="4519137"/>
          <a:ext cx="3312368" cy="1742440"/>
        </p:xfrm>
        <a:graphic>
          <a:graphicData uri="http://schemas.openxmlformats.org/drawingml/2006/table">
            <a:tbl>
              <a:tblPr firstRow="1" bandRow="1"/>
              <a:tblGrid>
                <a:gridCol w="1746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72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68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Page Base Address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45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45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s/u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45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r/w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45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45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65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0x201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8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???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……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0x200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……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C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492874"/>
                  </a:ext>
                </a:extLst>
              </a:tr>
            </a:tbl>
          </a:graphicData>
        </a:graphic>
      </p:graphicFrame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8828DEAB-9C88-EAAE-7969-AA43C06B5644}"/>
              </a:ext>
            </a:extLst>
          </p:cNvPr>
          <p:cNvSpPr/>
          <p:nvPr/>
        </p:nvSpPr>
        <p:spPr>
          <a:xfrm>
            <a:off x="7153272" y="3957636"/>
            <a:ext cx="2520280" cy="251028"/>
          </a:xfrm>
          <a:prstGeom prst="roundRect">
            <a:avLst>
              <a:gd name="adj" fmla="val 7401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FBE9C41-BA69-AD85-98FB-B35B40A9A632}"/>
              </a:ext>
            </a:extLst>
          </p:cNvPr>
          <p:cNvSpPr/>
          <p:nvPr/>
        </p:nvSpPr>
        <p:spPr>
          <a:xfrm>
            <a:off x="7320136" y="4202560"/>
            <a:ext cx="21711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1#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页表的逻辑地址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F438CC8D-0E3D-FF5F-F6D4-E4A4F488977A}"/>
              </a:ext>
            </a:extLst>
          </p:cNvPr>
          <p:cNvCxnSpPr>
            <a:cxnSpLocks/>
            <a:stCxn id="27" idx="1"/>
            <a:endCxn id="25" idx="1"/>
          </p:cNvCxnSpPr>
          <p:nvPr/>
        </p:nvCxnSpPr>
        <p:spPr>
          <a:xfrm rot="10800000" flipV="1">
            <a:off x="6373112" y="4356449"/>
            <a:ext cx="947025" cy="1033908"/>
          </a:xfrm>
          <a:prstGeom prst="bentConnector3">
            <a:avLst>
              <a:gd name="adj1" fmla="val 275201"/>
            </a:avLst>
          </a:prstGeom>
          <a:noFill/>
          <a:ln w="12700" cap="flat" cmpd="sng" algn="ctr">
            <a:solidFill>
              <a:srgbClr val="000000"/>
            </a:solidFill>
            <a:prstDash val="solid"/>
            <a:headEnd type="none" w="med" len="med"/>
            <a:tailEnd type="triangle" w="med" len="lg"/>
          </a:ln>
          <a:effectLst/>
        </p:spPr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D7A3E164-32CB-CB65-1118-1B4EF0F23B0E}"/>
              </a:ext>
            </a:extLst>
          </p:cNvPr>
          <p:cNvSpPr txBox="1"/>
          <p:nvPr/>
        </p:nvSpPr>
        <p:spPr>
          <a:xfrm>
            <a:off x="4098856" y="4611793"/>
            <a:ext cx="12579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转成物理地址</a:t>
            </a:r>
          </a:p>
        </p:txBody>
      </p:sp>
    </p:spTree>
    <p:extLst>
      <p:ext uri="{BB962C8B-B14F-4D97-AF65-F5344CB8AC3E}">
        <p14:creationId xmlns:p14="http://schemas.microsoft.com/office/powerpoint/2010/main" val="80686174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82E4A4-4B4D-41BF-9F68-1575C742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353A2E-92EE-4F23-A078-2A07C43737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C4DE104-5DA1-4B88-B642-58DE3423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页表系统</a:t>
            </a:r>
          </a:p>
        </p:txBody>
      </p:sp>
      <p:sp>
        <p:nvSpPr>
          <p:cNvPr id="168" name="Rectangle 4">
            <a:extLst>
              <a:ext uri="{FF2B5EF4-FFF2-40B4-BE49-F238E27FC236}">
                <a16:creationId xmlns:a16="http://schemas.microsoft.com/office/drawing/2014/main" id="{60CA974C-1E35-3437-1DCE-51D492D1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29" y="2715812"/>
            <a:ext cx="244012" cy="142637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wrap="square" tIns="0" bIns="0" anchor="ctr" anchorCtr="1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页表的构成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4B2798-A0E3-D675-2F14-6F9914D9E5BA}"/>
              </a:ext>
            </a:extLst>
          </p:cNvPr>
          <p:cNvSpPr/>
          <p:nvPr/>
        </p:nvSpPr>
        <p:spPr>
          <a:xfrm>
            <a:off x="1055440" y="908720"/>
            <a:ext cx="7200800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）修改进程生命周期中所有与分页机制相关的操作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8FA512-15F4-B75D-6CC8-3321FF194864}"/>
              </a:ext>
            </a:extLst>
          </p:cNvPr>
          <p:cNvSpPr/>
          <p:nvPr/>
        </p:nvSpPr>
        <p:spPr>
          <a:xfrm>
            <a:off x="1199456" y="1442832"/>
            <a:ext cx="35283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进程切换时：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42DDD28-FE17-520A-1D5B-63B310AFC687}"/>
              </a:ext>
            </a:extLst>
          </p:cNvPr>
          <p:cNvSpPr txBox="1"/>
          <p:nvPr/>
        </p:nvSpPr>
        <p:spPr>
          <a:xfrm>
            <a:off x="1163452" y="2060848"/>
            <a:ext cx="98650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SwtchUStruct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</a:t>
            </a:r>
            <a:endParaRPr lang="en-US" altLang="zh-C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Machine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zh-C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Instance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zh-C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GetKernelPageTable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m_Entrys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Kernel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zh-C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USER_PAGE_INDEX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m_PageBaseAddress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</a:t>
            </a:r>
            <a:endParaRPr lang="en-US" altLang="zh-C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(p)-&gt;</a:t>
            </a:r>
            <a:r>
              <a:rPr lang="en-US" altLang="zh-C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p_addr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PageManager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zh-C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PAGE_SIZE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</a:t>
            </a:r>
            <a:endParaRPr lang="en-US" altLang="zh-C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FlushPageDirectory</a:t>
            </a:r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altLang="zh-C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9322A0BC-1BB3-9A3A-C5F3-3D9DF0998E4F}"/>
              </a:ext>
            </a:extLst>
          </p:cNvPr>
          <p:cNvGrpSpPr/>
          <p:nvPr/>
        </p:nvGrpSpPr>
        <p:grpSpPr>
          <a:xfrm>
            <a:off x="1163452" y="4035709"/>
            <a:ext cx="10153128" cy="1084447"/>
            <a:chOff x="1163452" y="3375229"/>
            <a:chExt cx="10153128" cy="1084447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3085372-CB94-E9EB-1C57-8C85FE37593E}"/>
                </a:ext>
              </a:extLst>
            </p:cNvPr>
            <p:cNvSpPr txBox="1"/>
            <p:nvPr/>
          </p:nvSpPr>
          <p:spPr>
            <a:xfrm>
              <a:off x="1163452" y="3375229"/>
              <a:ext cx="10153128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#define </a:t>
              </a:r>
              <a:r>
                <a:rPr lang="en-US" altLang="zh-CN" sz="1400" b="0" dirty="0" err="1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SwtchUStruct</a:t>
              </a:r>
              <a:r>
                <a:rPr lang="en-US" altLang="zh-CN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p</a:t>
              </a:r>
              <a:r>
                <a:rPr lang="en-US" altLang="zh-CN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)                                                                           </a:t>
              </a:r>
              <a:r>
                <a:rPr lang="en-US" altLang="zh-CN" sz="1400" b="0" dirty="0">
                  <a:solidFill>
                    <a:srgbClr val="EE0000"/>
                  </a:solidFill>
                  <a:effectLst/>
                  <a:latin typeface="Consolas" panose="020B0609020204030204" pitchFamily="49" charset="0"/>
                </a:rPr>
                <a:t>\</a:t>
              </a:r>
              <a:endParaRPr lang="en-US" altLang="zh-C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altLang="zh-CN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Machine</a:t>
              </a:r>
              <a:r>
                <a:rPr lang="en-US" altLang="zh-CN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::</a:t>
              </a:r>
              <a:r>
                <a:rPr lang="en-US" altLang="zh-CN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Instance</a:t>
              </a:r>
              <a:r>
                <a:rPr lang="en-US" altLang="zh-CN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().</a:t>
              </a:r>
              <a:r>
                <a:rPr lang="en-US" altLang="zh-CN" sz="14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GetKernelPageTable</a:t>
              </a:r>
              <a:r>
                <a:rPr lang="en-US" altLang="zh-CN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().</a:t>
              </a:r>
              <a:r>
                <a:rPr lang="en-US" altLang="zh-CN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m_Entrys</a:t>
              </a:r>
              <a:r>
                <a:rPr lang="en-US" altLang="zh-CN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en-US" altLang="zh-CN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Kernel</a:t>
              </a:r>
              <a:r>
                <a:rPr lang="en-US" altLang="zh-CN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::</a:t>
              </a:r>
              <a:r>
                <a:rPr lang="en-US" altLang="zh-CN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USER_PAGE_INDEX</a:t>
              </a:r>
              <a:r>
                <a:rPr lang="en-US" altLang="zh-CN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].</a:t>
              </a:r>
              <a:r>
                <a:rPr lang="en-US" altLang="zh-CN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m_PageBaseAddress</a:t>
              </a:r>
              <a:r>
                <a:rPr lang="en-US" altLang="zh-CN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 (p)-&gt;</a:t>
              </a:r>
              <a:r>
                <a:rPr lang="en-US" altLang="zh-CN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p_addr</a:t>
              </a:r>
              <a:r>
                <a:rPr lang="en-US" altLang="zh-CN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&gt;&gt;</a:t>
              </a:r>
              <a:r>
                <a:rPr lang="en-US" altLang="zh-CN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12</a:t>
              </a:r>
              <a:r>
                <a:rPr lang="en-US" altLang="zh-CN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; </a:t>
              </a:r>
              <a:r>
                <a:rPr lang="en-US" altLang="zh-CN" sz="1400" b="0" dirty="0">
                  <a:solidFill>
                    <a:srgbClr val="EE0000"/>
                  </a:solidFill>
                  <a:effectLst/>
                  <a:latin typeface="Consolas" panose="020B0609020204030204" pitchFamily="49" charset="0"/>
                </a:rPr>
                <a:t>\</a:t>
              </a:r>
              <a:endParaRPr lang="en-US" altLang="zh-C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altLang="zh-CN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400" b="0" dirty="0" err="1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FlushPageDirectory</a:t>
              </a:r>
              <a:r>
                <a:rPr lang="en-US" altLang="zh-CN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((p)-&gt;</a:t>
              </a:r>
              <a:r>
                <a:rPr lang="en-US" altLang="zh-CN" sz="14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GetPageDirectoryPhyAddr</a:t>
              </a:r>
              <a:r>
                <a:rPr lang="en-US" altLang="zh-CN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());</a:t>
              </a:r>
              <a:endParaRPr lang="en-US" altLang="zh-C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8A707023-0B1E-6AC9-20D6-AA33E6FEB0FE}"/>
                </a:ext>
              </a:extLst>
            </p:cNvPr>
            <p:cNvSpPr/>
            <p:nvPr/>
          </p:nvSpPr>
          <p:spPr>
            <a:xfrm>
              <a:off x="3431704" y="3902786"/>
              <a:ext cx="432048" cy="55689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箭头: 下 13">
            <a:extLst>
              <a:ext uri="{FF2B5EF4-FFF2-40B4-BE49-F238E27FC236}">
                <a16:creationId xmlns:a16="http://schemas.microsoft.com/office/drawing/2014/main" id="{422639E9-9358-9FB4-D73C-035879D1A426}"/>
              </a:ext>
            </a:extLst>
          </p:cNvPr>
          <p:cNvSpPr/>
          <p:nvPr/>
        </p:nvSpPr>
        <p:spPr>
          <a:xfrm>
            <a:off x="5940167" y="3209828"/>
            <a:ext cx="360040" cy="488393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282426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82E4A4-4B4D-41BF-9F68-1575C742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353A2E-92EE-4F23-A078-2A07C43737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C4DE104-5DA1-4B88-B642-58DE3423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页表系统</a:t>
            </a:r>
          </a:p>
        </p:txBody>
      </p:sp>
      <p:sp>
        <p:nvSpPr>
          <p:cNvPr id="168" name="Rectangle 4">
            <a:extLst>
              <a:ext uri="{FF2B5EF4-FFF2-40B4-BE49-F238E27FC236}">
                <a16:creationId xmlns:a16="http://schemas.microsoft.com/office/drawing/2014/main" id="{60CA974C-1E35-3437-1DCE-51D492D1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29" y="2715812"/>
            <a:ext cx="244012" cy="142637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wrap="square" tIns="0" bIns="0" anchor="ctr" anchorCtr="1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页表的构成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4B2798-A0E3-D675-2F14-6F9914D9E5BA}"/>
              </a:ext>
            </a:extLst>
          </p:cNvPr>
          <p:cNvSpPr/>
          <p:nvPr/>
        </p:nvSpPr>
        <p:spPr>
          <a:xfrm>
            <a:off x="1055440" y="908720"/>
            <a:ext cx="7200800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）修改进程生命周期中所有与分页机制相关的操作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7A1F9A9-2B2F-D0F4-8D53-678350C2EF70}"/>
              </a:ext>
            </a:extLst>
          </p:cNvPr>
          <p:cNvSpPr txBox="1"/>
          <p:nvPr/>
        </p:nvSpPr>
        <p:spPr>
          <a:xfrm>
            <a:off x="1343472" y="1628800"/>
            <a:ext cx="65527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ProcessManager</a:t>
            </a:r>
            <a:r>
              <a:rPr lang="en-US" altLang="zh-C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zh-C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SetupProcessZero</a:t>
            </a:r>
            <a:r>
              <a:rPr lang="en-US" altLang="zh-C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zh-C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zh-CN" alt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需要在最后添加：将</a:t>
            </a:r>
            <a:r>
              <a:rPr lang="en-US" altLang="zh-CN" sz="1400" dirty="0">
                <a:solidFill>
                  <a:srgbClr val="3B3B3B"/>
                </a:solidFill>
                <a:latin typeface="Consolas" panose="020B0609020204030204" pitchFamily="49" charset="0"/>
              </a:rPr>
              <a:t>0#</a:t>
            </a:r>
            <a:r>
              <a:rPr lang="zh-CN" altLang="en-US" sz="1400" dirty="0">
                <a:solidFill>
                  <a:srgbClr val="3B3B3B"/>
                </a:solidFill>
                <a:latin typeface="Consolas" panose="020B0609020204030204" pitchFamily="49" charset="0"/>
              </a:rPr>
              <a:t>进程的页目录设置在</a:t>
            </a:r>
            <a:r>
              <a:rPr lang="en-US" altLang="zh-CN" sz="1400" dirty="0">
                <a:solidFill>
                  <a:srgbClr val="3B3B3B"/>
                </a:solidFill>
                <a:latin typeface="Consolas" panose="020B0609020204030204" pitchFamily="49" charset="0"/>
              </a:rPr>
              <a:t>4M</a:t>
            </a:r>
            <a:r>
              <a:rPr lang="zh-CN" altLang="en-US" sz="1400" dirty="0">
                <a:solidFill>
                  <a:srgbClr val="3B3B3B"/>
                </a:solidFill>
                <a:latin typeface="Consolas" panose="020B0609020204030204" pitchFamily="49" charset="0"/>
              </a:rPr>
              <a:t>开始的第一个物理页框</a:t>
            </a:r>
            <a:endParaRPr lang="en-US" altLang="zh-C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49388244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82E4A4-4B4D-41BF-9F68-1575C742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353A2E-92EE-4F23-A078-2A07C43737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C4DE104-5DA1-4B88-B642-58DE3423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需要完成的设计内容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39E414-46C6-82FA-90D6-990D035D542D}"/>
              </a:ext>
            </a:extLst>
          </p:cNvPr>
          <p:cNvSpPr txBox="1"/>
          <p:nvPr/>
        </p:nvSpPr>
        <p:spPr>
          <a:xfrm>
            <a:off x="2567608" y="2924944"/>
            <a:ext cx="77768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将内存分配方式改为位示图</a:t>
            </a:r>
          </a:p>
        </p:txBody>
      </p:sp>
    </p:spTree>
    <p:extLst>
      <p:ext uri="{BB962C8B-B14F-4D97-AF65-F5344CB8AC3E}">
        <p14:creationId xmlns:p14="http://schemas.microsoft.com/office/powerpoint/2010/main" val="564697477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82E4A4-4B4D-41BF-9F68-1575C742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353A2E-92EE-4F23-A078-2A07C43737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C4DE104-5DA1-4B88-B642-58DE3423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存储空间管理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52BE9DD-DEA9-325C-1D0F-ED9651C26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29" y="2715812"/>
            <a:ext cx="244012" cy="142637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wrap="square" tIns="0" bIns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用分区表管理内存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68D6D223-A88C-AB14-D879-FCE6F99BFDB2}"/>
              </a:ext>
            </a:extLst>
          </p:cNvPr>
          <p:cNvGrpSpPr/>
          <p:nvPr/>
        </p:nvGrpSpPr>
        <p:grpSpPr>
          <a:xfrm>
            <a:off x="1031918" y="1853952"/>
            <a:ext cx="4176464" cy="1681844"/>
            <a:chOff x="423529" y="1747156"/>
            <a:chExt cx="4176464" cy="1681844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6CE7DAC0-8E54-2BBD-EF67-9966D9775754}"/>
                </a:ext>
              </a:extLst>
            </p:cNvPr>
            <p:cNvSpPr/>
            <p:nvPr/>
          </p:nvSpPr>
          <p:spPr>
            <a:xfrm>
              <a:off x="423529" y="2105561"/>
              <a:ext cx="417646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dirty="0">
                  <a:solidFill>
                    <a:srgbClr val="7F0055"/>
                  </a:solidFill>
                  <a:latin typeface="Consolas"/>
                  <a:ea typeface="宋体" charset="-122"/>
                </a:rPr>
                <a:t>struct</a:t>
              </a:r>
              <a:r>
                <a:rPr lang="en-US" altLang="zh-CN" sz="1600" b="1" dirty="0">
                  <a:solidFill>
                    <a:srgbClr val="000000"/>
                  </a:solidFill>
                  <a:latin typeface="Consolas"/>
                  <a:ea typeface="宋体" charset="-122"/>
                </a:rPr>
                <a:t> </a:t>
              </a:r>
              <a:r>
                <a:rPr lang="en-US" altLang="zh-CN" sz="1600" b="1" dirty="0">
                  <a:solidFill>
                    <a:srgbClr val="005032"/>
                  </a:solidFill>
                  <a:latin typeface="Consolas"/>
                  <a:ea typeface="宋体" charset="-122"/>
                </a:rPr>
                <a:t>MapNode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rgbClr val="000000"/>
                  </a:solidFill>
                  <a:latin typeface="Consolas"/>
                  <a:ea typeface="宋体" charset="-122"/>
                </a:rPr>
                <a:t>{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dirty="0">
                  <a:solidFill>
                    <a:srgbClr val="7F0055"/>
                  </a:solidFill>
                  <a:latin typeface="Consolas"/>
                  <a:ea typeface="宋体" charset="-122"/>
                </a:rPr>
                <a:t>    unsigned</a:t>
              </a:r>
              <a:r>
                <a:rPr lang="en-US" altLang="zh-CN" sz="1600" b="1" dirty="0">
                  <a:solidFill>
                    <a:srgbClr val="000000"/>
                  </a:solidFill>
                  <a:latin typeface="Consolas"/>
                  <a:ea typeface="宋体" charset="-122"/>
                </a:rPr>
                <a:t> </a:t>
              </a:r>
              <a:r>
                <a:rPr lang="en-US" altLang="zh-CN" sz="1600" b="1" dirty="0">
                  <a:solidFill>
                    <a:srgbClr val="7F0055"/>
                  </a:solidFill>
                  <a:latin typeface="Consolas"/>
                  <a:ea typeface="宋体" charset="-122"/>
                </a:rPr>
                <a:t>long</a:t>
              </a:r>
              <a:r>
                <a:rPr lang="en-US" altLang="zh-CN" sz="1600" b="1" dirty="0">
                  <a:solidFill>
                    <a:srgbClr val="000000"/>
                  </a:solidFill>
                  <a:latin typeface="Consolas"/>
                  <a:ea typeface="宋体" charset="-122"/>
                </a:rPr>
                <a:t> </a:t>
              </a:r>
              <a:r>
                <a:rPr lang="en-US" altLang="zh-CN" sz="1600" b="1" dirty="0" err="1">
                  <a:solidFill>
                    <a:srgbClr val="0000C0"/>
                  </a:solidFill>
                  <a:latin typeface="Consolas"/>
                  <a:ea typeface="宋体" charset="-122"/>
                </a:rPr>
                <a:t>m_Size</a:t>
              </a:r>
              <a:r>
                <a:rPr lang="en-US" altLang="zh-CN" sz="1600" b="1" dirty="0">
                  <a:solidFill>
                    <a:srgbClr val="000000"/>
                  </a:solidFill>
                  <a:latin typeface="Consolas"/>
                  <a:ea typeface="宋体" charset="-122"/>
                </a:rPr>
                <a:t>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dirty="0">
                  <a:solidFill>
                    <a:srgbClr val="7F0055"/>
                  </a:solidFill>
                  <a:latin typeface="Consolas"/>
                  <a:ea typeface="宋体" charset="-122"/>
                </a:rPr>
                <a:t>    unsigned</a:t>
              </a:r>
              <a:r>
                <a:rPr lang="en-US" altLang="zh-CN" sz="1600" b="1" dirty="0">
                  <a:solidFill>
                    <a:srgbClr val="000000"/>
                  </a:solidFill>
                  <a:latin typeface="Consolas"/>
                  <a:ea typeface="宋体" charset="-122"/>
                </a:rPr>
                <a:t> </a:t>
              </a:r>
              <a:r>
                <a:rPr lang="en-US" altLang="zh-CN" sz="1600" b="1" dirty="0">
                  <a:solidFill>
                    <a:srgbClr val="7F0055"/>
                  </a:solidFill>
                  <a:latin typeface="Consolas"/>
                  <a:ea typeface="宋体" charset="-122"/>
                </a:rPr>
                <a:t>long</a:t>
              </a:r>
              <a:r>
                <a:rPr lang="en-US" altLang="zh-CN" sz="1600" b="1" dirty="0">
                  <a:solidFill>
                    <a:srgbClr val="000000"/>
                  </a:solidFill>
                  <a:latin typeface="Consolas"/>
                  <a:ea typeface="宋体" charset="-122"/>
                </a:rPr>
                <a:t> </a:t>
              </a:r>
              <a:r>
                <a:rPr lang="en-US" altLang="zh-CN" sz="1600" b="1" dirty="0" err="1">
                  <a:solidFill>
                    <a:srgbClr val="0000C0"/>
                  </a:solidFill>
                  <a:latin typeface="Consolas"/>
                  <a:ea typeface="宋体" charset="-122"/>
                </a:rPr>
                <a:t>m_AddressIdx</a:t>
              </a:r>
              <a:r>
                <a:rPr lang="en-US" altLang="zh-CN" sz="1600" b="1" dirty="0">
                  <a:solidFill>
                    <a:srgbClr val="000000"/>
                  </a:solidFill>
                  <a:latin typeface="Consolas"/>
                  <a:ea typeface="宋体" charset="-122"/>
                </a:rPr>
                <a:t>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rgbClr val="000000"/>
                  </a:solidFill>
                  <a:latin typeface="Consolas"/>
                  <a:ea typeface="宋体" charset="-122"/>
                </a:rPr>
                <a:t>};</a:t>
              </a:r>
              <a:endParaRPr lang="zh-CN" altLang="en-US" sz="1600" dirty="0">
                <a:solidFill>
                  <a:prstClr val="black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66F76BB6-026E-D32F-327C-9506EC6C1451}"/>
                </a:ext>
              </a:extLst>
            </p:cNvPr>
            <p:cNvSpPr/>
            <p:nvPr/>
          </p:nvSpPr>
          <p:spPr>
            <a:xfrm>
              <a:off x="423529" y="1747156"/>
              <a:ext cx="291358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dirty="0" err="1">
                  <a:solidFill>
                    <a:srgbClr val="7F0055"/>
                  </a:solidFill>
                  <a:latin typeface="Consolas"/>
                  <a:ea typeface="宋体" charset="-122"/>
                </a:rPr>
                <a:t>public</a:t>
              </a:r>
              <a:r>
                <a:rPr lang="en-US" altLang="zh-CN" sz="1600" b="1" dirty="0" err="1">
                  <a:solidFill>
                    <a:srgbClr val="000000"/>
                  </a:solidFill>
                  <a:latin typeface="Consolas"/>
                  <a:ea typeface="宋体" charset="-122"/>
                </a:rPr>
                <a:t>:</a:t>
              </a:r>
              <a:r>
                <a:rPr lang="en-US" altLang="zh-CN" sz="1600" b="1" dirty="0" err="1">
                  <a:solidFill>
                    <a:srgbClr val="005032"/>
                  </a:solidFill>
                  <a:latin typeface="Consolas"/>
                  <a:ea typeface="宋体" charset="-122"/>
                </a:rPr>
                <a:t>MapNode</a:t>
              </a:r>
              <a:r>
                <a:rPr lang="en-US" altLang="zh-CN" sz="1600" b="1" dirty="0">
                  <a:solidFill>
                    <a:srgbClr val="000000"/>
                  </a:solidFill>
                  <a:latin typeface="Consolas"/>
                  <a:ea typeface="宋体" charset="-122"/>
                </a:rPr>
                <a:t> </a:t>
              </a:r>
              <a:r>
                <a:rPr lang="en-US" altLang="zh-CN" sz="1600" b="1" dirty="0">
                  <a:solidFill>
                    <a:srgbClr val="0000C0"/>
                  </a:solidFill>
                  <a:latin typeface="Consolas"/>
                  <a:ea typeface="宋体" charset="-122"/>
                </a:rPr>
                <a:t>map</a:t>
              </a:r>
              <a:r>
                <a:rPr lang="en-US" altLang="zh-CN" sz="1600" b="1" dirty="0">
                  <a:solidFill>
                    <a:srgbClr val="000000"/>
                  </a:solidFill>
                  <a:latin typeface="Consolas"/>
                  <a:ea typeface="宋体" charset="-122"/>
                </a:rPr>
                <a:t>[</a:t>
              </a:r>
              <a:r>
                <a:rPr lang="en-US" altLang="zh-CN" sz="1600" b="1" dirty="0">
                  <a:solidFill>
                    <a:srgbClr val="005032"/>
                  </a:solidFill>
                  <a:latin typeface="Consolas"/>
                  <a:ea typeface="宋体" charset="-122"/>
                </a:rPr>
                <a:t>512</a:t>
              </a:r>
              <a:r>
                <a:rPr lang="en-US" altLang="zh-CN" sz="1600" b="1" dirty="0">
                  <a:solidFill>
                    <a:srgbClr val="000000"/>
                  </a:solidFill>
                  <a:latin typeface="Consolas"/>
                  <a:ea typeface="宋体" charset="-122"/>
                </a:rPr>
                <a:t>];</a:t>
              </a: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E7ADFF81-5F46-FAD3-D834-78AB68F584C0}"/>
              </a:ext>
            </a:extLst>
          </p:cNvPr>
          <p:cNvSpPr/>
          <p:nvPr/>
        </p:nvSpPr>
        <p:spPr>
          <a:xfrm>
            <a:off x="3893462" y="1847381"/>
            <a:ext cx="325110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8A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最多包含</a:t>
            </a:r>
            <a:r>
              <a:rPr lang="en-US" altLang="zh-CN" sz="1600" b="1" dirty="0">
                <a:solidFill>
                  <a:srgbClr val="008A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512</a:t>
            </a:r>
            <a:r>
              <a:rPr lang="zh-CN" altLang="en-US" sz="1600" b="1" dirty="0">
                <a:solidFill>
                  <a:srgbClr val="008A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个表项的空闲分区表</a:t>
            </a:r>
            <a:endParaRPr lang="en-US" altLang="zh-CN" sz="1600" b="1" dirty="0">
              <a:solidFill>
                <a:srgbClr val="008A3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883C363-58A4-ECCE-E8E8-601B1969F8E4}"/>
              </a:ext>
            </a:extLst>
          </p:cNvPr>
          <p:cNvSpPr/>
          <p:nvPr/>
        </p:nvSpPr>
        <p:spPr>
          <a:xfrm>
            <a:off x="4498616" y="2668801"/>
            <a:ext cx="26537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8A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其中每一个表项包含空闲分区的大小和分区的起始地址</a:t>
            </a:r>
            <a:endParaRPr lang="en-US" altLang="zh-CN" sz="1600" b="1" dirty="0">
              <a:solidFill>
                <a:srgbClr val="008A3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968A6D0-3170-DB5F-F87B-0466544C89D5}"/>
              </a:ext>
            </a:extLst>
          </p:cNvPr>
          <p:cNvGraphicFramePr>
            <a:graphicFrameLocks noGrp="1"/>
          </p:cNvGraphicFramePr>
          <p:nvPr/>
        </p:nvGraphicFramePr>
        <p:xfrm>
          <a:off x="1526191" y="891473"/>
          <a:ext cx="2923109" cy="975360"/>
        </p:xfrm>
        <a:graphic>
          <a:graphicData uri="http://schemas.openxmlformats.org/drawingml/2006/table">
            <a:tbl>
              <a:tblPr firstRow="1" bandRow="1"/>
              <a:tblGrid>
                <a:gridCol w="522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5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5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04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起始地址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/KB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大小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/KB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4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4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4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570830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82E4A4-4B4D-41BF-9F68-1575C742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353A2E-92EE-4F23-A078-2A07C43737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C4DE104-5DA1-4B88-B642-58DE3423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存储空间管理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52BE9DD-DEA9-325C-1D0F-ED9651C26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29" y="2715812"/>
            <a:ext cx="244012" cy="142637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wrap="square" tIns="0" bIns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用分区表管理内存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9C62D89-3A19-0E1A-AA8A-7033A5A1BF05}"/>
              </a:ext>
            </a:extLst>
          </p:cNvPr>
          <p:cNvGrpSpPr/>
          <p:nvPr/>
        </p:nvGrpSpPr>
        <p:grpSpPr>
          <a:xfrm>
            <a:off x="9797278" y="757446"/>
            <a:ext cx="2340275" cy="5407858"/>
            <a:chOff x="6552205" y="692696"/>
            <a:chExt cx="2340275" cy="5407858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1DB893D-CC11-0D43-B47B-52BD4AC5E3CD}"/>
                </a:ext>
              </a:extLst>
            </p:cNvPr>
            <p:cNvSpPr/>
            <p:nvPr/>
          </p:nvSpPr>
          <p:spPr>
            <a:xfrm>
              <a:off x="6552205" y="850692"/>
              <a:ext cx="1511300" cy="530225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b="1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保留区域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5AF17B51-2381-3FDD-4CE0-BD147E5D1CA7}"/>
                </a:ext>
              </a:extLst>
            </p:cNvPr>
            <p:cNvSpPr/>
            <p:nvPr/>
          </p:nvSpPr>
          <p:spPr>
            <a:xfrm>
              <a:off x="6552205" y="1403265"/>
              <a:ext cx="1511300" cy="331787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b="1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内核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96E866E-8B0C-E4F8-ED15-933A0D4059DA}"/>
                </a:ext>
              </a:extLst>
            </p:cNvPr>
            <p:cNvSpPr/>
            <p:nvPr/>
          </p:nvSpPr>
          <p:spPr>
            <a:xfrm>
              <a:off x="6552205" y="1753122"/>
              <a:ext cx="1511300" cy="331788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b="1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内核堆对象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711E493-C074-4628-B806-FFBF5B8DBB9D}"/>
                </a:ext>
              </a:extLst>
            </p:cNvPr>
            <p:cNvSpPr/>
            <p:nvPr/>
          </p:nvSpPr>
          <p:spPr>
            <a:xfrm>
              <a:off x="6552205" y="2106400"/>
              <a:ext cx="1511300" cy="989012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b="1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页表区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94CA77B9-2015-5A7B-125D-1458FC86E6CC}"/>
                </a:ext>
              </a:extLst>
            </p:cNvPr>
            <p:cNvSpPr/>
            <p:nvPr/>
          </p:nvSpPr>
          <p:spPr>
            <a:xfrm>
              <a:off x="6556967" y="3111292"/>
              <a:ext cx="1508124" cy="2989262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b="1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用户区</a:t>
              </a:r>
            </a:p>
          </p:txBody>
        </p:sp>
        <p:sp>
          <p:nvSpPr>
            <p:cNvPr id="16" name="矩形 47">
              <a:extLst>
                <a:ext uri="{FF2B5EF4-FFF2-40B4-BE49-F238E27FC236}">
                  <a16:creationId xmlns:a16="http://schemas.microsoft.com/office/drawing/2014/main" id="{B748B253-BC3F-23F5-DDC2-144DDFC74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56810" y="692696"/>
              <a:ext cx="690562" cy="338361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r>
                <a:rPr lang="en-US" altLang="zh-CN" sz="16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095ECB5-EF8D-C91F-A141-555EA392D542}"/>
                </a:ext>
              </a:extLst>
            </p:cNvPr>
            <p:cNvSpPr/>
            <p:nvPr/>
          </p:nvSpPr>
          <p:spPr>
            <a:xfrm>
              <a:off x="6552205" y="852279"/>
              <a:ext cx="1511300" cy="5248275"/>
            </a:xfrm>
            <a:prstGeom prst="rect">
              <a:avLst/>
            </a:prstGeom>
            <a:noFill/>
            <a:ln w="19050" cap="flat" cmpd="sng" algn="ctr">
              <a:solidFill>
                <a:srgbClr val="008000"/>
              </a:solidFill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矩形 49">
              <a:extLst>
                <a:ext uri="{FF2B5EF4-FFF2-40B4-BE49-F238E27FC236}">
                  <a16:creationId xmlns:a16="http://schemas.microsoft.com/office/drawing/2014/main" id="{E2AAFB96-6BB4-BA55-E274-0D05394DD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5737" y="1217908"/>
              <a:ext cx="690562" cy="4349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6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1M</a:t>
              </a:r>
            </a:p>
          </p:txBody>
        </p:sp>
        <p:sp>
          <p:nvSpPr>
            <p:cNvPr id="19" name="矩形 39">
              <a:extLst>
                <a:ext uri="{FF2B5EF4-FFF2-40B4-BE49-F238E27FC236}">
                  <a16:creationId xmlns:a16="http://schemas.microsoft.com/office/drawing/2014/main" id="{D63E22DE-B26C-411A-3720-2A839E0F0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13111" y="1602929"/>
              <a:ext cx="865187" cy="3206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6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1.5M</a:t>
              </a:r>
            </a:p>
          </p:txBody>
        </p:sp>
        <p:sp>
          <p:nvSpPr>
            <p:cNvPr id="20" name="矩形 41">
              <a:extLst>
                <a:ext uri="{FF2B5EF4-FFF2-40B4-BE49-F238E27FC236}">
                  <a16:creationId xmlns:a16="http://schemas.microsoft.com/office/drawing/2014/main" id="{0AB9F178-015E-5873-BD7F-0DB878664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17595" y="1909040"/>
              <a:ext cx="865187" cy="4349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6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2M</a:t>
              </a:r>
            </a:p>
          </p:txBody>
        </p:sp>
        <p:sp>
          <p:nvSpPr>
            <p:cNvPr id="21" name="矩形 43">
              <a:extLst>
                <a:ext uri="{FF2B5EF4-FFF2-40B4-BE49-F238E27FC236}">
                  <a16:creationId xmlns:a16="http://schemas.microsoft.com/office/drawing/2014/main" id="{B54E8769-CC32-4FBD-92DC-07F6F283C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7293" y="2896439"/>
              <a:ext cx="865187" cy="4349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6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4M</a:t>
              </a:r>
            </a:p>
          </p:txBody>
        </p: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A0CF45E6-2723-D33C-ED60-91DA4B40EC1B}"/>
              </a:ext>
            </a:extLst>
          </p:cNvPr>
          <p:cNvSpPr/>
          <p:nvPr/>
        </p:nvSpPr>
        <p:spPr>
          <a:xfrm>
            <a:off x="992743" y="1013191"/>
            <a:ext cx="83577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内核对象区、页表区、用户区均采用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可变分区方式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进行分配，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分别由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三张空闲分区表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管理：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68D6D223-A88C-AB14-D879-FCE6F99BFDB2}"/>
              </a:ext>
            </a:extLst>
          </p:cNvPr>
          <p:cNvGrpSpPr/>
          <p:nvPr/>
        </p:nvGrpSpPr>
        <p:grpSpPr>
          <a:xfrm>
            <a:off x="1031918" y="1853952"/>
            <a:ext cx="4176464" cy="1681844"/>
            <a:chOff x="423529" y="1747156"/>
            <a:chExt cx="4176464" cy="1681844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6CE7DAC0-8E54-2BBD-EF67-9966D9775754}"/>
                </a:ext>
              </a:extLst>
            </p:cNvPr>
            <p:cNvSpPr/>
            <p:nvPr/>
          </p:nvSpPr>
          <p:spPr>
            <a:xfrm>
              <a:off x="423529" y="2105561"/>
              <a:ext cx="417646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dirty="0">
                  <a:solidFill>
                    <a:srgbClr val="7F0055"/>
                  </a:solidFill>
                  <a:latin typeface="Consolas"/>
                  <a:ea typeface="宋体" charset="-122"/>
                </a:rPr>
                <a:t>struct</a:t>
              </a:r>
              <a:r>
                <a:rPr lang="en-US" altLang="zh-CN" sz="1600" b="1" dirty="0">
                  <a:solidFill>
                    <a:srgbClr val="000000"/>
                  </a:solidFill>
                  <a:latin typeface="Consolas"/>
                  <a:ea typeface="宋体" charset="-122"/>
                </a:rPr>
                <a:t> </a:t>
              </a:r>
              <a:r>
                <a:rPr lang="en-US" altLang="zh-CN" sz="1600" b="1" dirty="0">
                  <a:solidFill>
                    <a:srgbClr val="005032"/>
                  </a:solidFill>
                  <a:latin typeface="Consolas"/>
                  <a:ea typeface="宋体" charset="-122"/>
                </a:rPr>
                <a:t>MapNode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rgbClr val="000000"/>
                  </a:solidFill>
                  <a:latin typeface="Consolas"/>
                  <a:ea typeface="宋体" charset="-122"/>
                </a:rPr>
                <a:t>{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dirty="0">
                  <a:solidFill>
                    <a:srgbClr val="7F0055"/>
                  </a:solidFill>
                  <a:latin typeface="Consolas"/>
                  <a:ea typeface="宋体" charset="-122"/>
                </a:rPr>
                <a:t>    unsigned</a:t>
              </a:r>
              <a:r>
                <a:rPr lang="en-US" altLang="zh-CN" sz="1600" b="1" dirty="0">
                  <a:solidFill>
                    <a:srgbClr val="000000"/>
                  </a:solidFill>
                  <a:latin typeface="Consolas"/>
                  <a:ea typeface="宋体" charset="-122"/>
                </a:rPr>
                <a:t> </a:t>
              </a:r>
              <a:r>
                <a:rPr lang="en-US" altLang="zh-CN" sz="1600" b="1" dirty="0">
                  <a:solidFill>
                    <a:srgbClr val="7F0055"/>
                  </a:solidFill>
                  <a:latin typeface="Consolas"/>
                  <a:ea typeface="宋体" charset="-122"/>
                </a:rPr>
                <a:t>long</a:t>
              </a:r>
              <a:r>
                <a:rPr lang="en-US" altLang="zh-CN" sz="1600" b="1" dirty="0">
                  <a:solidFill>
                    <a:srgbClr val="000000"/>
                  </a:solidFill>
                  <a:latin typeface="Consolas"/>
                  <a:ea typeface="宋体" charset="-122"/>
                </a:rPr>
                <a:t> </a:t>
              </a:r>
              <a:r>
                <a:rPr lang="en-US" altLang="zh-CN" sz="1600" b="1" dirty="0" err="1">
                  <a:solidFill>
                    <a:srgbClr val="0000C0"/>
                  </a:solidFill>
                  <a:latin typeface="Consolas"/>
                  <a:ea typeface="宋体" charset="-122"/>
                </a:rPr>
                <a:t>m_Size</a:t>
              </a:r>
              <a:r>
                <a:rPr lang="en-US" altLang="zh-CN" sz="1600" b="1" dirty="0">
                  <a:solidFill>
                    <a:srgbClr val="000000"/>
                  </a:solidFill>
                  <a:latin typeface="Consolas"/>
                  <a:ea typeface="宋体" charset="-122"/>
                </a:rPr>
                <a:t>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dirty="0">
                  <a:solidFill>
                    <a:srgbClr val="7F0055"/>
                  </a:solidFill>
                  <a:latin typeface="Consolas"/>
                  <a:ea typeface="宋体" charset="-122"/>
                </a:rPr>
                <a:t>    unsigned</a:t>
              </a:r>
              <a:r>
                <a:rPr lang="en-US" altLang="zh-CN" sz="1600" b="1" dirty="0">
                  <a:solidFill>
                    <a:srgbClr val="000000"/>
                  </a:solidFill>
                  <a:latin typeface="Consolas"/>
                  <a:ea typeface="宋体" charset="-122"/>
                </a:rPr>
                <a:t> </a:t>
              </a:r>
              <a:r>
                <a:rPr lang="en-US" altLang="zh-CN" sz="1600" b="1" dirty="0">
                  <a:solidFill>
                    <a:srgbClr val="7F0055"/>
                  </a:solidFill>
                  <a:latin typeface="Consolas"/>
                  <a:ea typeface="宋体" charset="-122"/>
                </a:rPr>
                <a:t>long</a:t>
              </a:r>
              <a:r>
                <a:rPr lang="en-US" altLang="zh-CN" sz="1600" b="1" dirty="0">
                  <a:solidFill>
                    <a:srgbClr val="000000"/>
                  </a:solidFill>
                  <a:latin typeface="Consolas"/>
                  <a:ea typeface="宋体" charset="-122"/>
                </a:rPr>
                <a:t> </a:t>
              </a:r>
              <a:r>
                <a:rPr lang="en-US" altLang="zh-CN" sz="1600" b="1" dirty="0" err="1">
                  <a:solidFill>
                    <a:srgbClr val="0000C0"/>
                  </a:solidFill>
                  <a:latin typeface="Consolas"/>
                  <a:ea typeface="宋体" charset="-122"/>
                </a:rPr>
                <a:t>m_AddressIdx</a:t>
              </a:r>
              <a:r>
                <a:rPr lang="en-US" altLang="zh-CN" sz="1600" b="1" dirty="0">
                  <a:solidFill>
                    <a:srgbClr val="000000"/>
                  </a:solidFill>
                  <a:latin typeface="Consolas"/>
                  <a:ea typeface="宋体" charset="-122"/>
                </a:rPr>
                <a:t>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rgbClr val="000000"/>
                  </a:solidFill>
                  <a:latin typeface="Consolas"/>
                  <a:ea typeface="宋体" charset="-122"/>
                </a:rPr>
                <a:t>};</a:t>
              </a:r>
              <a:endParaRPr lang="zh-CN" altLang="en-US" sz="1600" dirty="0">
                <a:solidFill>
                  <a:prstClr val="black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66F76BB6-026E-D32F-327C-9506EC6C1451}"/>
                </a:ext>
              </a:extLst>
            </p:cNvPr>
            <p:cNvSpPr/>
            <p:nvPr/>
          </p:nvSpPr>
          <p:spPr>
            <a:xfrm>
              <a:off x="423529" y="1747156"/>
              <a:ext cx="291358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dirty="0" err="1">
                  <a:solidFill>
                    <a:srgbClr val="7F0055"/>
                  </a:solidFill>
                  <a:latin typeface="Consolas"/>
                  <a:ea typeface="宋体" charset="-122"/>
                </a:rPr>
                <a:t>public</a:t>
              </a:r>
              <a:r>
                <a:rPr lang="en-US" altLang="zh-CN" sz="1600" b="1" dirty="0" err="1">
                  <a:solidFill>
                    <a:srgbClr val="000000"/>
                  </a:solidFill>
                  <a:latin typeface="Consolas"/>
                  <a:ea typeface="宋体" charset="-122"/>
                </a:rPr>
                <a:t>:</a:t>
              </a:r>
              <a:r>
                <a:rPr lang="en-US" altLang="zh-CN" sz="1600" b="1" dirty="0" err="1">
                  <a:solidFill>
                    <a:srgbClr val="005032"/>
                  </a:solidFill>
                  <a:latin typeface="Consolas"/>
                  <a:ea typeface="宋体" charset="-122"/>
                </a:rPr>
                <a:t>MapNode</a:t>
              </a:r>
              <a:r>
                <a:rPr lang="en-US" altLang="zh-CN" sz="1600" b="1" dirty="0">
                  <a:solidFill>
                    <a:srgbClr val="000000"/>
                  </a:solidFill>
                  <a:latin typeface="Consolas"/>
                  <a:ea typeface="宋体" charset="-122"/>
                </a:rPr>
                <a:t> </a:t>
              </a:r>
              <a:r>
                <a:rPr lang="en-US" altLang="zh-CN" sz="1600" b="1" dirty="0">
                  <a:solidFill>
                    <a:srgbClr val="0000C0"/>
                  </a:solidFill>
                  <a:latin typeface="Consolas"/>
                  <a:ea typeface="宋体" charset="-122"/>
                </a:rPr>
                <a:t>map</a:t>
              </a:r>
              <a:r>
                <a:rPr lang="en-US" altLang="zh-CN" sz="1600" b="1" dirty="0">
                  <a:solidFill>
                    <a:srgbClr val="000000"/>
                  </a:solidFill>
                  <a:latin typeface="Consolas"/>
                  <a:ea typeface="宋体" charset="-122"/>
                </a:rPr>
                <a:t>[</a:t>
              </a:r>
              <a:r>
                <a:rPr lang="en-US" altLang="zh-CN" sz="1600" b="1" dirty="0">
                  <a:solidFill>
                    <a:srgbClr val="005032"/>
                  </a:solidFill>
                  <a:latin typeface="Consolas"/>
                  <a:ea typeface="宋体" charset="-122"/>
                </a:rPr>
                <a:t>512</a:t>
              </a:r>
              <a:r>
                <a:rPr lang="en-US" altLang="zh-CN" sz="1600" b="1" dirty="0">
                  <a:solidFill>
                    <a:srgbClr val="000000"/>
                  </a:solidFill>
                  <a:latin typeface="Consolas"/>
                  <a:ea typeface="宋体" charset="-122"/>
                </a:rPr>
                <a:t>];</a:t>
              </a: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E7ADFF81-5F46-FAD3-D834-78AB68F584C0}"/>
              </a:ext>
            </a:extLst>
          </p:cNvPr>
          <p:cNvSpPr/>
          <p:nvPr/>
        </p:nvSpPr>
        <p:spPr>
          <a:xfrm>
            <a:off x="3893462" y="1847381"/>
            <a:ext cx="325110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8A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最多包含</a:t>
            </a:r>
            <a:r>
              <a:rPr lang="en-US" altLang="zh-CN" sz="1600" b="1" dirty="0">
                <a:solidFill>
                  <a:srgbClr val="008A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512</a:t>
            </a:r>
            <a:r>
              <a:rPr lang="zh-CN" altLang="en-US" sz="1600" b="1" dirty="0">
                <a:solidFill>
                  <a:srgbClr val="008A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个表项的空闲分区表</a:t>
            </a:r>
            <a:endParaRPr lang="en-US" altLang="zh-CN" sz="1600" b="1" dirty="0">
              <a:solidFill>
                <a:srgbClr val="008A3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883C363-58A4-ECCE-E8E8-601B1969F8E4}"/>
              </a:ext>
            </a:extLst>
          </p:cNvPr>
          <p:cNvSpPr/>
          <p:nvPr/>
        </p:nvSpPr>
        <p:spPr>
          <a:xfrm>
            <a:off x="4498616" y="2668801"/>
            <a:ext cx="26537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8A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其中每一个表项包含空闲分区的大小和分区的起始地址</a:t>
            </a:r>
            <a:endParaRPr lang="en-US" altLang="zh-CN" sz="1600" b="1" dirty="0">
              <a:solidFill>
                <a:srgbClr val="008A3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83FC0F8-98A5-4C62-2CF2-5A37CFBCB63A}"/>
              </a:ext>
            </a:extLst>
          </p:cNvPr>
          <p:cNvSpPr/>
          <p:nvPr/>
        </p:nvSpPr>
        <p:spPr>
          <a:xfrm>
            <a:off x="1031918" y="3800984"/>
            <a:ext cx="617341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内核堆对象区，其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初始化为：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rgbClr val="0000C0"/>
                </a:solidFill>
                <a:latin typeface="Consolas"/>
                <a:ea typeface="宋体" charset="-122"/>
              </a:rPr>
              <a:t>map[0]. </a:t>
            </a:r>
            <a:r>
              <a:rPr lang="en-US" altLang="zh-CN" sz="1600" b="1" dirty="0" err="1">
                <a:solidFill>
                  <a:srgbClr val="0000C0"/>
                </a:solidFill>
                <a:latin typeface="Consolas"/>
                <a:ea typeface="宋体" charset="-122"/>
              </a:rPr>
              <a:t>m_AddressIdx</a:t>
            </a:r>
            <a:r>
              <a:rPr lang="en-US" altLang="zh-CN" sz="1600" b="1" dirty="0">
                <a:solidFill>
                  <a:srgbClr val="0000C0"/>
                </a:solidFill>
                <a:latin typeface="Consolas"/>
                <a:ea typeface="宋体" charset="-122"/>
              </a:rPr>
              <a:t> = 1.5M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b="1" dirty="0">
                <a:solidFill>
                  <a:srgbClr val="0000C0"/>
                </a:solidFill>
                <a:latin typeface="Consolas"/>
                <a:ea typeface="宋体" charset="-122"/>
              </a:rPr>
              <a:t>map[0]. </a:t>
            </a:r>
            <a:r>
              <a:rPr lang="en-US" altLang="zh-CN" sz="1600" b="1" dirty="0" err="1">
                <a:solidFill>
                  <a:srgbClr val="0000C0"/>
                </a:solidFill>
                <a:latin typeface="Consolas"/>
                <a:ea typeface="宋体" charset="-122"/>
              </a:rPr>
              <a:t>m_Size</a:t>
            </a:r>
            <a:r>
              <a:rPr lang="en-US" altLang="zh-CN" sz="1600" b="1" dirty="0">
                <a:solidFill>
                  <a:srgbClr val="0000C0"/>
                </a:solidFill>
                <a:latin typeface="Consolas"/>
                <a:ea typeface="宋体" charset="-122"/>
              </a:rPr>
              <a:t> = 0.5M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负责管理页表区，其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初始化为：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rgbClr val="0000C0"/>
                </a:solidFill>
                <a:latin typeface="Consolas"/>
                <a:ea typeface="宋体" charset="-122"/>
              </a:rPr>
              <a:t>map[0]. </a:t>
            </a:r>
            <a:r>
              <a:rPr lang="en-US" altLang="zh-CN" sz="1600" b="1" dirty="0" err="1">
                <a:solidFill>
                  <a:srgbClr val="0000C0"/>
                </a:solidFill>
                <a:latin typeface="Consolas"/>
                <a:ea typeface="宋体" charset="-122"/>
              </a:rPr>
              <a:t>m_AddressIdx</a:t>
            </a:r>
            <a:r>
              <a:rPr lang="en-US" altLang="zh-CN" sz="1600" b="1" dirty="0">
                <a:solidFill>
                  <a:srgbClr val="0000C0"/>
                </a:solidFill>
                <a:latin typeface="Consolas"/>
                <a:ea typeface="宋体" charset="-122"/>
              </a:rPr>
              <a:t> = 2M+16K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，即：从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204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号页框开始。</a:t>
            </a:r>
            <a:r>
              <a:rPr lang="en-US" altLang="zh-CN" sz="1600" b="1" dirty="0">
                <a:solidFill>
                  <a:srgbClr val="0000C0"/>
                </a:solidFill>
                <a:latin typeface="Consolas"/>
                <a:ea typeface="宋体" charset="-122"/>
              </a:rPr>
              <a:t> map[0]. </a:t>
            </a:r>
            <a:r>
              <a:rPr lang="en-US" altLang="zh-CN" sz="1600" b="1" dirty="0" err="1">
                <a:solidFill>
                  <a:srgbClr val="0000C0"/>
                </a:solidFill>
                <a:latin typeface="Consolas"/>
                <a:ea typeface="宋体" charset="-122"/>
              </a:rPr>
              <a:t>m_Size</a:t>
            </a:r>
            <a:r>
              <a:rPr lang="en-US" altLang="zh-CN" sz="1600" b="1" dirty="0">
                <a:solidFill>
                  <a:srgbClr val="0000C0"/>
                </a:solidFill>
                <a:latin typeface="Consolas"/>
                <a:ea typeface="宋体" charset="-122"/>
              </a:rPr>
              <a:t> = 2M-16K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，即：剩余的页表区。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用户区，其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初始化为：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宋体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rgbClr val="0000C0"/>
                </a:solidFill>
                <a:latin typeface="Consolas"/>
                <a:ea typeface="宋体" charset="-122"/>
              </a:rPr>
              <a:t>map[0]. </a:t>
            </a:r>
            <a:r>
              <a:rPr lang="en-US" altLang="zh-CN" sz="1600" b="1" dirty="0" err="1">
                <a:solidFill>
                  <a:srgbClr val="0000C0"/>
                </a:solidFill>
                <a:latin typeface="Consolas"/>
                <a:ea typeface="宋体" charset="-122"/>
              </a:rPr>
              <a:t>m_AddressIdx</a:t>
            </a:r>
            <a:r>
              <a:rPr lang="en-US" altLang="zh-CN" sz="1600" b="1" dirty="0">
                <a:solidFill>
                  <a:srgbClr val="0000C0"/>
                </a:solidFill>
                <a:latin typeface="Consolas"/>
                <a:ea typeface="宋体" charset="-122"/>
              </a:rPr>
              <a:t> = 4M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，大小至整个物理内存。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7" name="表格 36">
            <a:extLst>
              <a:ext uri="{FF2B5EF4-FFF2-40B4-BE49-F238E27FC236}">
                <a16:creationId xmlns:a16="http://schemas.microsoft.com/office/drawing/2014/main" id="{59C1044D-9DBC-BDB1-91B3-893A291E7B9B}"/>
              </a:ext>
            </a:extLst>
          </p:cNvPr>
          <p:cNvGraphicFramePr>
            <a:graphicFrameLocks noGrp="1"/>
          </p:cNvGraphicFramePr>
          <p:nvPr/>
        </p:nvGraphicFramePr>
        <p:xfrm>
          <a:off x="7786871" y="1872377"/>
          <a:ext cx="1865846" cy="609600"/>
        </p:xfrm>
        <a:graphic>
          <a:graphicData uri="http://schemas.openxmlformats.org/drawingml/2006/table">
            <a:tbl>
              <a:tblPr firstRow="1" bandRow="1"/>
              <a:tblGrid>
                <a:gridCol w="763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22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835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大小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起始地址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5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0.5M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1.5M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表格 37">
            <a:extLst>
              <a:ext uri="{FF2B5EF4-FFF2-40B4-BE49-F238E27FC236}">
                <a16:creationId xmlns:a16="http://schemas.microsoft.com/office/drawing/2014/main" id="{E917F85D-E028-1939-B6D2-126F512A2601}"/>
              </a:ext>
            </a:extLst>
          </p:cNvPr>
          <p:cNvGraphicFramePr>
            <a:graphicFrameLocks noGrp="1"/>
          </p:cNvGraphicFramePr>
          <p:nvPr/>
        </p:nvGraphicFramePr>
        <p:xfrm>
          <a:off x="7483332" y="2687123"/>
          <a:ext cx="2169385" cy="609600"/>
        </p:xfrm>
        <a:graphic>
          <a:graphicData uri="http://schemas.openxmlformats.org/drawingml/2006/table">
            <a:tbl>
              <a:tblPr firstRow="1" bandRow="1"/>
              <a:tblGrid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2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大小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起始地址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5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2M-16K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2M+16K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502D0FFB-64A4-3FF8-979E-9E8884808517}"/>
              </a:ext>
            </a:extLst>
          </p:cNvPr>
          <p:cNvGraphicFramePr>
            <a:graphicFrameLocks noGrp="1"/>
          </p:cNvGraphicFramePr>
          <p:nvPr/>
        </p:nvGraphicFramePr>
        <p:xfrm>
          <a:off x="7248128" y="4262213"/>
          <a:ext cx="2448272" cy="609600"/>
        </p:xfrm>
        <a:graphic>
          <a:graphicData uri="http://schemas.openxmlformats.org/drawingml/2006/table">
            <a:tbl>
              <a:tblPr firstRow="1" bandRow="1"/>
              <a:tblGrid>
                <a:gridCol w="1546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1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835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大小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起始地址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5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至整个物理内存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4M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8890556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31705F67-CF8B-8337-4047-2558438357FB}"/>
              </a:ext>
            </a:extLst>
          </p:cNvPr>
          <p:cNvSpPr/>
          <p:nvPr/>
        </p:nvSpPr>
        <p:spPr>
          <a:xfrm>
            <a:off x="1116084" y="2850947"/>
            <a:ext cx="6492084" cy="3424740"/>
          </a:xfrm>
          <a:prstGeom prst="roundRect">
            <a:avLst>
              <a:gd name="adj" fmla="val 2526"/>
            </a:avLst>
          </a:prstGeom>
          <a:solidFill>
            <a:srgbClr val="F1F8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82E4A4-4B4D-41BF-9F68-1575C742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353A2E-92EE-4F23-A078-2A07C43737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C4DE104-5DA1-4B88-B642-58DE3423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存储空间管理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52BE9DD-DEA9-325C-1D0F-ED9651C26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29" y="2715812"/>
            <a:ext cx="244012" cy="142637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wrap="square" tIns="0" bIns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位示图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管理内存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22CA6DC-47E8-0D85-F6C4-3B3D3DDC0D62}"/>
              </a:ext>
            </a:extLst>
          </p:cNvPr>
          <p:cNvSpPr/>
          <p:nvPr/>
        </p:nvSpPr>
        <p:spPr>
          <a:xfrm>
            <a:off x="1175042" y="2850947"/>
            <a:ext cx="11782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000" b="1" dirty="0" err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Allocator.h</a:t>
            </a:r>
            <a:r>
              <a:rPr lang="en-US" altLang="zh-CN" sz="1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zh-CN" altLang="en-US" sz="10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7AC616D-870D-8F0F-0225-D861E89F8454}"/>
              </a:ext>
            </a:extLst>
          </p:cNvPr>
          <p:cNvSpPr/>
          <p:nvPr/>
        </p:nvSpPr>
        <p:spPr>
          <a:xfrm>
            <a:off x="1138886" y="3077973"/>
            <a:ext cx="13868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&lt;Allocator.cpp&gt;</a:t>
            </a:r>
            <a:endParaRPr lang="zh-CN" altLang="en-US" sz="10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2CFDA86-03AD-42EA-59B7-2BB5117313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085582"/>
              </p:ext>
            </p:extLst>
          </p:nvPr>
        </p:nvGraphicFramePr>
        <p:xfrm>
          <a:off x="8328248" y="934455"/>
          <a:ext cx="2923109" cy="975360"/>
        </p:xfrm>
        <a:graphic>
          <a:graphicData uri="http://schemas.openxmlformats.org/drawingml/2006/table">
            <a:tbl>
              <a:tblPr firstRow="1" bandRow="1"/>
              <a:tblGrid>
                <a:gridCol w="522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5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5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04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起始地址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/KB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大小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/KB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4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4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4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696664CA-3587-D39C-0F3D-951A4A1492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246510"/>
              </p:ext>
            </p:extLst>
          </p:nvPr>
        </p:nvGraphicFramePr>
        <p:xfrm>
          <a:off x="1229642" y="3341171"/>
          <a:ext cx="6264696" cy="11289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4696">
                  <a:extLst>
                    <a:ext uri="{9D8B030D-6E8A-4147-A177-3AD203B41FA5}">
                      <a16:colId xmlns:a16="http://schemas.microsoft.com/office/drawing/2014/main" val="3811497806"/>
                    </a:ext>
                  </a:extLst>
                </a:gridCol>
              </a:tblGrid>
              <a:tr h="246119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184675"/>
                  </a:ext>
                </a:extLst>
              </a:tr>
              <a:tr h="246119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static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m_Instance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308309"/>
                  </a:ext>
                </a:extLst>
              </a:tr>
              <a:tr h="610766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Alloc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MapNode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[],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size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Free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MapNode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[],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size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addrIdx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 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static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GetInstance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();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5538370"/>
                  </a:ext>
                </a:extLst>
              </a:tr>
            </a:tbl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0FDEB16D-E685-ECF9-E114-12DEA83D882B}"/>
              </a:ext>
            </a:extLst>
          </p:cNvPr>
          <p:cNvSpPr/>
          <p:nvPr/>
        </p:nvSpPr>
        <p:spPr>
          <a:xfrm>
            <a:off x="2522278" y="3910735"/>
            <a:ext cx="1485490" cy="15377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84A565-9FEE-7C16-0445-271AD3C8CB08}"/>
              </a:ext>
            </a:extLst>
          </p:cNvPr>
          <p:cNvSpPr/>
          <p:nvPr/>
        </p:nvSpPr>
        <p:spPr>
          <a:xfrm>
            <a:off x="2522278" y="4104344"/>
            <a:ext cx="1485902" cy="15377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8C65F79-1DBE-F2BD-BDDE-F240DF04A695}"/>
              </a:ext>
            </a:extLst>
          </p:cNvPr>
          <p:cNvGrpSpPr/>
          <p:nvPr/>
        </p:nvGrpSpPr>
        <p:grpSpPr>
          <a:xfrm>
            <a:off x="1127448" y="924044"/>
            <a:ext cx="7344816" cy="1312520"/>
            <a:chOff x="1703511" y="2103762"/>
            <a:chExt cx="5714079" cy="1049472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A37483EF-FA12-F586-6833-27F10EA55E02}"/>
                </a:ext>
              </a:extLst>
            </p:cNvPr>
            <p:cNvSpPr/>
            <p:nvPr/>
          </p:nvSpPr>
          <p:spPr>
            <a:xfrm>
              <a:off x="1703511" y="2103762"/>
              <a:ext cx="5714079" cy="1049472"/>
            </a:xfrm>
            <a:prstGeom prst="roundRect">
              <a:avLst>
                <a:gd name="adj" fmla="val 6035"/>
              </a:avLst>
            </a:prstGeom>
            <a:solidFill>
              <a:srgbClr val="F1F8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55E33319-716E-667C-00F6-87482F71FDDA}"/>
                </a:ext>
              </a:extLst>
            </p:cNvPr>
            <p:cNvSpPr/>
            <p:nvPr/>
          </p:nvSpPr>
          <p:spPr>
            <a:xfrm>
              <a:off x="1740538" y="2907012"/>
              <a:ext cx="117829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&lt;MapNode.h&gt;</a:t>
              </a:r>
              <a:endParaRPr lang="zh-CN" altLang="en-US" sz="1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8B443E72-C867-B691-4BD3-3871D099A5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025090"/>
              </p:ext>
            </p:extLst>
          </p:nvPr>
        </p:nvGraphicFramePr>
        <p:xfrm>
          <a:off x="1224904" y="1015801"/>
          <a:ext cx="2376264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6264">
                  <a:extLst>
                    <a:ext uri="{9D8B030D-6E8A-4147-A177-3AD203B41FA5}">
                      <a16:colId xmlns:a16="http://schemas.microsoft.com/office/drawing/2014/main" val="3811497806"/>
                    </a:ext>
                  </a:extLst>
                </a:gridCol>
              </a:tblGrid>
              <a:tr h="226824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struct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MapNode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184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m_Size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m_AddressIdx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308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362441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31705F67-CF8B-8337-4047-2558438357FB}"/>
              </a:ext>
            </a:extLst>
          </p:cNvPr>
          <p:cNvSpPr/>
          <p:nvPr/>
        </p:nvSpPr>
        <p:spPr>
          <a:xfrm>
            <a:off x="1116084" y="2850947"/>
            <a:ext cx="6484979" cy="3386366"/>
          </a:xfrm>
          <a:prstGeom prst="roundRect">
            <a:avLst>
              <a:gd name="adj" fmla="val 2526"/>
            </a:avLst>
          </a:prstGeom>
          <a:solidFill>
            <a:srgbClr val="F1F8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5AF3CE7-E567-E6AC-BA5A-63ED771EEC47}"/>
              </a:ext>
            </a:extLst>
          </p:cNvPr>
          <p:cNvGrpSpPr/>
          <p:nvPr/>
        </p:nvGrpSpPr>
        <p:grpSpPr>
          <a:xfrm>
            <a:off x="1127448" y="924044"/>
            <a:ext cx="7344816" cy="1312520"/>
            <a:chOff x="1703511" y="2103762"/>
            <a:chExt cx="5714079" cy="1049472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1014630F-5CC8-7E24-97A7-CF8DA7BC6597}"/>
                </a:ext>
              </a:extLst>
            </p:cNvPr>
            <p:cNvSpPr/>
            <p:nvPr/>
          </p:nvSpPr>
          <p:spPr>
            <a:xfrm>
              <a:off x="1703511" y="2103762"/>
              <a:ext cx="5714079" cy="1049472"/>
            </a:xfrm>
            <a:prstGeom prst="roundRect">
              <a:avLst>
                <a:gd name="adj" fmla="val 6035"/>
              </a:avLst>
            </a:prstGeom>
            <a:solidFill>
              <a:srgbClr val="F1F8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3916ABE-2778-2DB1-0042-2DF91244886F}"/>
                </a:ext>
              </a:extLst>
            </p:cNvPr>
            <p:cNvSpPr/>
            <p:nvPr/>
          </p:nvSpPr>
          <p:spPr>
            <a:xfrm>
              <a:off x="1740538" y="2907012"/>
              <a:ext cx="117829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&lt;MapNode.h&gt;</a:t>
              </a:r>
              <a:endParaRPr lang="zh-CN" altLang="en-US" sz="1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82E4A4-4B4D-41BF-9F68-1575C742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353A2E-92EE-4F23-A078-2A07C43737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C4DE104-5DA1-4B88-B642-58DE3423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存储空间管理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52BE9DD-DEA9-325C-1D0F-ED9651C26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29" y="2715812"/>
            <a:ext cx="244012" cy="142637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wrap="square" tIns="0" bIns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位示图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管理内存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3D8890F-DAFA-3DB9-881B-E35B7CAE76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767353"/>
              </p:ext>
            </p:extLst>
          </p:nvPr>
        </p:nvGraphicFramePr>
        <p:xfrm>
          <a:off x="1224904" y="1015801"/>
          <a:ext cx="2376264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6264">
                  <a:extLst>
                    <a:ext uri="{9D8B030D-6E8A-4147-A177-3AD203B41FA5}">
                      <a16:colId xmlns:a16="http://schemas.microsoft.com/office/drawing/2014/main" val="3811497806"/>
                    </a:ext>
                  </a:extLst>
                </a:gridCol>
              </a:tblGrid>
              <a:tr h="226824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struct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MapNode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184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m_Size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m_AddressIdx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308309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6FC5231-F849-46AF-07A3-92689D200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7278"/>
              </p:ext>
            </p:extLst>
          </p:nvPr>
        </p:nvGraphicFramePr>
        <p:xfrm>
          <a:off x="3698625" y="1015801"/>
          <a:ext cx="4629623" cy="1117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29623">
                  <a:extLst>
                    <a:ext uri="{9D8B030D-6E8A-4147-A177-3AD203B41FA5}">
                      <a16:colId xmlns:a16="http://schemas.microsoft.com/office/drawing/2014/main" val="3811497806"/>
                    </a:ext>
                  </a:extLst>
                </a:gridCol>
              </a:tblGrid>
              <a:tr h="239328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184675"/>
                  </a:ext>
                </a:extLst>
              </a:tr>
              <a:tr h="549047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m_AddressIdx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</a:p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rows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CN" sz="11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256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];</a:t>
                      </a: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308309"/>
                  </a:ext>
                </a:extLst>
              </a:tr>
              <a:tr h="263615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set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startAddr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page_num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70993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2CFDA86-03AD-42EA-59B7-2BB5117313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963453"/>
              </p:ext>
            </p:extLst>
          </p:nvPr>
        </p:nvGraphicFramePr>
        <p:xfrm>
          <a:off x="8697978" y="940960"/>
          <a:ext cx="2923109" cy="975360"/>
        </p:xfrm>
        <a:graphic>
          <a:graphicData uri="http://schemas.openxmlformats.org/drawingml/2006/table">
            <a:tbl>
              <a:tblPr firstRow="1" bandRow="1"/>
              <a:tblGrid>
                <a:gridCol w="522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5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5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04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起始地址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/KB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大小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/KB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4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4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4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alatino Linotype"/>
                        </a:defRPr>
                      </a:lvl9pPr>
                    </a:lstStyle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891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AB906B0C-60D3-CD5C-879C-4F9C78ED4FA6}"/>
              </a:ext>
            </a:extLst>
          </p:cNvPr>
          <p:cNvGrpSpPr/>
          <p:nvPr/>
        </p:nvGrpSpPr>
        <p:grpSpPr>
          <a:xfrm>
            <a:off x="8697978" y="3153849"/>
            <a:ext cx="3086903" cy="1964971"/>
            <a:chOff x="947303" y="3388269"/>
            <a:chExt cx="3086903" cy="1964971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DF6E2219-A6B4-5881-804E-04D64A677D68}"/>
                </a:ext>
              </a:extLst>
            </p:cNvPr>
            <p:cNvGrpSpPr/>
            <p:nvPr/>
          </p:nvGrpSpPr>
          <p:grpSpPr>
            <a:xfrm>
              <a:off x="1631504" y="3706718"/>
              <a:ext cx="2297390" cy="246221"/>
              <a:chOff x="1492969" y="3585490"/>
              <a:chExt cx="2297390" cy="246221"/>
            </a:xfrm>
          </p:grpSpPr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13B2558E-37B3-5E41-D057-F0A5D2E78867}"/>
                  </a:ext>
                </a:extLst>
              </p:cNvPr>
              <p:cNvSpPr/>
              <p:nvPr/>
            </p:nvSpPr>
            <p:spPr>
              <a:xfrm>
                <a:off x="1492969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70F38272-CA6F-06F3-9250-1CBAB4B7A0C1}"/>
                  </a:ext>
                </a:extLst>
              </p:cNvPr>
              <p:cNvSpPr/>
              <p:nvPr/>
            </p:nvSpPr>
            <p:spPr>
              <a:xfrm>
                <a:off x="1636985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375ADBF8-609D-A21C-4CC2-645FF4F8C2DD}"/>
                  </a:ext>
                </a:extLst>
              </p:cNvPr>
              <p:cNvSpPr/>
              <p:nvPr/>
            </p:nvSpPr>
            <p:spPr>
              <a:xfrm>
                <a:off x="1781001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F5A158CA-35B7-69D6-077D-8900FB0A3C21}"/>
                  </a:ext>
                </a:extLst>
              </p:cNvPr>
              <p:cNvSpPr/>
              <p:nvPr/>
            </p:nvSpPr>
            <p:spPr>
              <a:xfrm>
                <a:off x="1925017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C15C0B5B-62DC-D92B-4B1E-C16D990659C9}"/>
                  </a:ext>
                </a:extLst>
              </p:cNvPr>
              <p:cNvSpPr/>
              <p:nvPr/>
            </p:nvSpPr>
            <p:spPr>
              <a:xfrm>
                <a:off x="2069033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A30B68F3-26FC-6C9F-56AB-F7AD6049F0C9}"/>
                  </a:ext>
                </a:extLst>
              </p:cNvPr>
              <p:cNvSpPr/>
              <p:nvPr/>
            </p:nvSpPr>
            <p:spPr>
              <a:xfrm>
                <a:off x="2213049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F021616C-CD1C-4702-1061-BE5B675EA6BE}"/>
                  </a:ext>
                </a:extLst>
              </p:cNvPr>
              <p:cNvSpPr/>
              <p:nvPr/>
            </p:nvSpPr>
            <p:spPr>
              <a:xfrm>
                <a:off x="2357065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710F572A-3155-B29F-A8FD-6C8E1348AB17}"/>
                  </a:ext>
                </a:extLst>
              </p:cNvPr>
              <p:cNvSpPr/>
              <p:nvPr/>
            </p:nvSpPr>
            <p:spPr>
              <a:xfrm>
                <a:off x="2501081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C3533026-1D8F-5AAA-4B22-3E91227416C9}"/>
                  </a:ext>
                </a:extLst>
              </p:cNvPr>
              <p:cNvSpPr/>
              <p:nvPr/>
            </p:nvSpPr>
            <p:spPr>
              <a:xfrm>
                <a:off x="2541300" y="3585490"/>
                <a:ext cx="81839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……..</a:t>
                </a:r>
                <a:endParaRPr lang="zh-CN" altLang="en-US" sz="1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CA75505D-5C1B-4483-029D-DEF7B68E5F63}"/>
                  </a:ext>
                </a:extLst>
              </p:cNvPr>
              <p:cNvSpPr/>
              <p:nvPr/>
            </p:nvSpPr>
            <p:spPr>
              <a:xfrm>
                <a:off x="3214295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E5646ABF-5567-115A-6E3D-333642559714}"/>
                  </a:ext>
                </a:extLst>
              </p:cNvPr>
              <p:cNvSpPr/>
              <p:nvPr/>
            </p:nvSpPr>
            <p:spPr>
              <a:xfrm>
                <a:off x="3358311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86C1001A-0098-CC4C-4F81-74E5EAA4A1EB}"/>
                  </a:ext>
                </a:extLst>
              </p:cNvPr>
              <p:cNvSpPr/>
              <p:nvPr/>
            </p:nvSpPr>
            <p:spPr>
              <a:xfrm>
                <a:off x="3502327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1FF426E1-6A65-38A1-65C2-6A6459C4B5C9}"/>
                  </a:ext>
                </a:extLst>
              </p:cNvPr>
              <p:cNvSpPr/>
              <p:nvPr/>
            </p:nvSpPr>
            <p:spPr>
              <a:xfrm>
                <a:off x="3646343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A618C40-050F-195D-653A-3D40AF6AE1DA}"/>
                </a:ext>
              </a:extLst>
            </p:cNvPr>
            <p:cNvSpPr/>
            <p:nvPr/>
          </p:nvSpPr>
          <p:spPr>
            <a:xfrm>
              <a:off x="1906617" y="3388269"/>
              <a:ext cx="150530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64</a:t>
              </a:r>
              <a:r>
                <a:rPr lang="zh-CN" altLang="en-US" sz="12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位无符号长整型</a:t>
              </a:r>
              <a:endPara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82531933-AF92-B5BA-1B66-A04CE1261C1F}"/>
                </a:ext>
              </a:extLst>
            </p:cNvPr>
            <p:cNvSpPr txBox="1"/>
            <p:nvPr/>
          </p:nvSpPr>
          <p:spPr>
            <a:xfrm>
              <a:off x="1317033" y="4891575"/>
              <a:ext cx="271717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 fontAlgn="base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zh-CN" sz="1200" b="1" dirty="0"/>
                <a:t>每个</a:t>
              </a:r>
              <a:r>
                <a:rPr lang="en-US" altLang="zh-CN" sz="1200" b="1" dirty="0"/>
                <a:t>bit</a:t>
              </a:r>
              <a:r>
                <a:rPr lang="zh-CN" altLang="zh-CN" sz="1200" b="1" dirty="0"/>
                <a:t>对应一个物理页框，</a:t>
              </a:r>
              <a:r>
                <a:rPr lang="en-US" altLang="zh-CN" sz="1200" b="1" dirty="0"/>
                <a:t>4096</a:t>
              </a:r>
              <a:r>
                <a:rPr lang="zh-CN" altLang="zh-CN" sz="1200" b="1" dirty="0"/>
                <a:t>字节；</a:t>
              </a:r>
              <a:r>
                <a:rPr lang="en-US" altLang="zh-CN" sz="1200" b="1" dirty="0">
                  <a:solidFill>
                    <a:srgbClr val="FF0000"/>
                  </a:solidFill>
                </a:rPr>
                <a:t>0</a:t>
              </a:r>
              <a:r>
                <a:rPr lang="zh-CN" altLang="zh-CN" sz="1200" b="1" dirty="0"/>
                <a:t>表示空闲，</a:t>
              </a:r>
              <a:r>
                <a:rPr lang="en-US" altLang="zh-CN" sz="1200" b="1" dirty="0">
                  <a:solidFill>
                    <a:srgbClr val="FF0000"/>
                  </a:solidFill>
                </a:rPr>
                <a:t>1</a:t>
              </a:r>
              <a:r>
                <a:rPr lang="zh-CN" altLang="zh-CN" sz="1200" b="1" dirty="0"/>
                <a:t>表示已分配</a:t>
              </a:r>
              <a:endParaRPr lang="zh-CN" altLang="en-US" sz="1200" b="1" dirty="0"/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C85198A1-CEA4-4894-F56E-0879D4871584}"/>
                </a:ext>
              </a:extLst>
            </p:cNvPr>
            <p:cNvGrpSpPr/>
            <p:nvPr/>
          </p:nvGrpSpPr>
          <p:grpSpPr>
            <a:xfrm>
              <a:off x="1631504" y="3895967"/>
              <a:ext cx="2297390" cy="246221"/>
              <a:chOff x="1492969" y="3585490"/>
              <a:chExt cx="2297390" cy="246221"/>
            </a:xfrm>
          </p:grpSpPr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8CAB12EB-BE85-81E3-3023-C4BCF867F13D}"/>
                  </a:ext>
                </a:extLst>
              </p:cNvPr>
              <p:cNvSpPr/>
              <p:nvPr/>
            </p:nvSpPr>
            <p:spPr>
              <a:xfrm>
                <a:off x="1492969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E50AC224-F459-807E-16F0-5722F2B201FD}"/>
                  </a:ext>
                </a:extLst>
              </p:cNvPr>
              <p:cNvSpPr/>
              <p:nvPr/>
            </p:nvSpPr>
            <p:spPr>
              <a:xfrm>
                <a:off x="1636985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E2B8A788-F3C1-5653-6A86-C01294BE17C3}"/>
                  </a:ext>
                </a:extLst>
              </p:cNvPr>
              <p:cNvSpPr/>
              <p:nvPr/>
            </p:nvSpPr>
            <p:spPr>
              <a:xfrm>
                <a:off x="1781001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28E4F399-FA43-8CE6-ABAD-EA3EA75B57DC}"/>
                  </a:ext>
                </a:extLst>
              </p:cNvPr>
              <p:cNvSpPr/>
              <p:nvPr/>
            </p:nvSpPr>
            <p:spPr>
              <a:xfrm>
                <a:off x="1925017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F4D391C9-BF3E-9491-AE4B-503C21EA43F1}"/>
                  </a:ext>
                </a:extLst>
              </p:cNvPr>
              <p:cNvSpPr/>
              <p:nvPr/>
            </p:nvSpPr>
            <p:spPr>
              <a:xfrm>
                <a:off x="2069033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BE1E54AD-4148-A487-BA99-BC74985AC80C}"/>
                  </a:ext>
                </a:extLst>
              </p:cNvPr>
              <p:cNvSpPr/>
              <p:nvPr/>
            </p:nvSpPr>
            <p:spPr>
              <a:xfrm>
                <a:off x="2213049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7B17DD5D-A951-8A9E-E087-1F18F9305D99}"/>
                  </a:ext>
                </a:extLst>
              </p:cNvPr>
              <p:cNvSpPr/>
              <p:nvPr/>
            </p:nvSpPr>
            <p:spPr>
              <a:xfrm>
                <a:off x="2357065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FF1549B-7FC4-C2BE-FCAE-CDA869C8277B}"/>
                  </a:ext>
                </a:extLst>
              </p:cNvPr>
              <p:cNvSpPr/>
              <p:nvPr/>
            </p:nvSpPr>
            <p:spPr>
              <a:xfrm>
                <a:off x="2501081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1B63A13A-17A7-E626-C52D-CCC8756DBBBE}"/>
                  </a:ext>
                </a:extLst>
              </p:cNvPr>
              <p:cNvSpPr/>
              <p:nvPr/>
            </p:nvSpPr>
            <p:spPr>
              <a:xfrm>
                <a:off x="2541300" y="3585490"/>
                <a:ext cx="81839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……..</a:t>
                </a:r>
                <a:endParaRPr lang="zh-CN" altLang="en-US" sz="1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472F3F72-83CB-011B-67B4-8396FF79DC64}"/>
                  </a:ext>
                </a:extLst>
              </p:cNvPr>
              <p:cNvSpPr/>
              <p:nvPr/>
            </p:nvSpPr>
            <p:spPr>
              <a:xfrm>
                <a:off x="3214295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72A434CD-EA90-70D9-2B5B-7FFF63AF1BFA}"/>
                  </a:ext>
                </a:extLst>
              </p:cNvPr>
              <p:cNvSpPr/>
              <p:nvPr/>
            </p:nvSpPr>
            <p:spPr>
              <a:xfrm>
                <a:off x="3358311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6729E1ED-AB19-3F90-C2F3-6B073BF73F2F}"/>
                  </a:ext>
                </a:extLst>
              </p:cNvPr>
              <p:cNvSpPr/>
              <p:nvPr/>
            </p:nvSpPr>
            <p:spPr>
              <a:xfrm>
                <a:off x="3502327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DC0ED44C-4662-EAB3-649C-19086F1AFCDF}"/>
                  </a:ext>
                </a:extLst>
              </p:cNvPr>
              <p:cNvSpPr/>
              <p:nvPr/>
            </p:nvSpPr>
            <p:spPr>
              <a:xfrm>
                <a:off x="3646343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D63E21B5-9AF8-7EDF-DEDF-36566708DE29}"/>
                </a:ext>
              </a:extLst>
            </p:cNvPr>
            <p:cNvGrpSpPr/>
            <p:nvPr/>
          </p:nvGrpSpPr>
          <p:grpSpPr>
            <a:xfrm>
              <a:off x="1631504" y="4415385"/>
              <a:ext cx="2297390" cy="246221"/>
              <a:chOff x="1492969" y="3585490"/>
              <a:chExt cx="2297390" cy="246221"/>
            </a:xfrm>
          </p:grpSpPr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65CF0B52-A10C-89D0-037C-3C585F9CC106}"/>
                  </a:ext>
                </a:extLst>
              </p:cNvPr>
              <p:cNvSpPr/>
              <p:nvPr/>
            </p:nvSpPr>
            <p:spPr>
              <a:xfrm>
                <a:off x="1492969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2A8F862-5CE6-DD9B-F12F-4AC4B61DDDF2}"/>
                  </a:ext>
                </a:extLst>
              </p:cNvPr>
              <p:cNvSpPr/>
              <p:nvPr/>
            </p:nvSpPr>
            <p:spPr>
              <a:xfrm>
                <a:off x="1636985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890CFA69-129A-73F7-DEFA-E52A0A4B9D7C}"/>
                  </a:ext>
                </a:extLst>
              </p:cNvPr>
              <p:cNvSpPr/>
              <p:nvPr/>
            </p:nvSpPr>
            <p:spPr>
              <a:xfrm>
                <a:off x="1781001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CF20FB0F-7337-CC2E-0AF9-ED982E17E01F}"/>
                  </a:ext>
                </a:extLst>
              </p:cNvPr>
              <p:cNvSpPr/>
              <p:nvPr/>
            </p:nvSpPr>
            <p:spPr>
              <a:xfrm>
                <a:off x="1925017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F721321A-14EB-9A24-22B8-D0BFCFA5DBB3}"/>
                  </a:ext>
                </a:extLst>
              </p:cNvPr>
              <p:cNvSpPr/>
              <p:nvPr/>
            </p:nvSpPr>
            <p:spPr>
              <a:xfrm>
                <a:off x="2069033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B803133F-5868-C78E-9978-F9E154FA8C16}"/>
                  </a:ext>
                </a:extLst>
              </p:cNvPr>
              <p:cNvSpPr/>
              <p:nvPr/>
            </p:nvSpPr>
            <p:spPr>
              <a:xfrm>
                <a:off x="2213049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C1D391ED-F4CB-8135-ECAE-84B7635C24EE}"/>
                  </a:ext>
                </a:extLst>
              </p:cNvPr>
              <p:cNvSpPr/>
              <p:nvPr/>
            </p:nvSpPr>
            <p:spPr>
              <a:xfrm>
                <a:off x="2357065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A23842FD-B783-6F2C-7508-491AD54195BC}"/>
                  </a:ext>
                </a:extLst>
              </p:cNvPr>
              <p:cNvSpPr/>
              <p:nvPr/>
            </p:nvSpPr>
            <p:spPr>
              <a:xfrm>
                <a:off x="2501081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272F20DF-AF5C-AF51-0773-EF5983C881F8}"/>
                  </a:ext>
                </a:extLst>
              </p:cNvPr>
              <p:cNvSpPr/>
              <p:nvPr/>
            </p:nvSpPr>
            <p:spPr>
              <a:xfrm>
                <a:off x="2541300" y="3585490"/>
                <a:ext cx="81839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……..</a:t>
                </a:r>
                <a:endParaRPr lang="zh-CN" altLang="en-US" sz="1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0D66FDBD-98C9-73B9-0DBC-7BCB08677C6D}"/>
                  </a:ext>
                </a:extLst>
              </p:cNvPr>
              <p:cNvSpPr/>
              <p:nvPr/>
            </p:nvSpPr>
            <p:spPr>
              <a:xfrm>
                <a:off x="3214295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28732DBC-47CE-9E5D-808C-5D93CC7D39C8}"/>
                  </a:ext>
                </a:extLst>
              </p:cNvPr>
              <p:cNvSpPr/>
              <p:nvPr/>
            </p:nvSpPr>
            <p:spPr>
              <a:xfrm>
                <a:off x="3358311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38A71C3D-2D7F-72D9-1AA1-D2F8F52BE34A}"/>
                  </a:ext>
                </a:extLst>
              </p:cNvPr>
              <p:cNvSpPr/>
              <p:nvPr/>
            </p:nvSpPr>
            <p:spPr>
              <a:xfrm>
                <a:off x="3502327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0DF43824-41ED-5A05-2C32-DA18E51B64FA}"/>
                  </a:ext>
                </a:extLst>
              </p:cNvPr>
              <p:cNvSpPr/>
              <p:nvPr/>
            </p:nvSpPr>
            <p:spPr>
              <a:xfrm>
                <a:off x="3646343" y="3636593"/>
                <a:ext cx="144016" cy="144016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899E46E3-28C6-66A3-45D1-0EB8A0CD8EA7}"/>
                </a:ext>
              </a:extLst>
            </p:cNvPr>
            <p:cNvSpPr/>
            <p:nvPr/>
          </p:nvSpPr>
          <p:spPr>
            <a:xfrm>
              <a:off x="1728245" y="4125815"/>
              <a:ext cx="81839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……..</a:t>
              </a:r>
              <a:endParaRPr lang="zh-CN" altLang="en-US" sz="1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3922C710-0848-3977-79E7-5A4012028B03}"/>
                </a:ext>
              </a:extLst>
            </p:cNvPr>
            <p:cNvSpPr/>
            <p:nvPr/>
          </p:nvSpPr>
          <p:spPr>
            <a:xfrm>
              <a:off x="2675620" y="4140572"/>
              <a:ext cx="81839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……..</a:t>
              </a:r>
              <a:endParaRPr lang="zh-CN" altLang="en-US" sz="1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CB0CB4AF-0638-274C-14A6-F3C6B0FBDAD6}"/>
                </a:ext>
              </a:extLst>
            </p:cNvPr>
            <p:cNvSpPr/>
            <p:nvPr/>
          </p:nvSpPr>
          <p:spPr>
            <a:xfrm>
              <a:off x="3199459" y="4144282"/>
              <a:ext cx="81839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……..</a:t>
              </a:r>
              <a:endParaRPr lang="zh-CN" altLang="en-US" sz="1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左大括号 23">
              <a:extLst>
                <a:ext uri="{FF2B5EF4-FFF2-40B4-BE49-F238E27FC236}">
                  <a16:creationId xmlns:a16="http://schemas.microsoft.com/office/drawing/2014/main" id="{DAE6AA1F-11E7-FB58-998A-A6B235577972}"/>
                </a:ext>
              </a:extLst>
            </p:cNvPr>
            <p:cNvSpPr/>
            <p:nvPr/>
          </p:nvSpPr>
          <p:spPr>
            <a:xfrm>
              <a:off x="1471142" y="3827707"/>
              <a:ext cx="111778" cy="720080"/>
            </a:xfrm>
            <a:prstGeom prst="leftBrace">
              <a:avLst/>
            </a:prstGeom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8CA2DE5-30EC-2C78-D503-47E96C95EC20}"/>
                </a:ext>
              </a:extLst>
            </p:cNvPr>
            <p:cNvSpPr/>
            <p:nvPr/>
          </p:nvSpPr>
          <p:spPr>
            <a:xfrm>
              <a:off x="947303" y="4064636"/>
              <a:ext cx="60732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rows</a:t>
              </a:r>
              <a:endPara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66" name="表格 65">
            <a:extLst>
              <a:ext uri="{FF2B5EF4-FFF2-40B4-BE49-F238E27FC236}">
                <a16:creationId xmlns:a16="http://schemas.microsoft.com/office/drawing/2014/main" id="{8FF9C33F-A3AC-5669-DD77-6EDC99BB5D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994103"/>
              </p:ext>
            </p:extLst>
          </p:nvPr>
        </p:nvGraphicFramePr>
        <p:xfrm>
          <a:off x="1229642" y="4640484"/>
          <a:ext cx="6277091" cy="1447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77091">
                  <a:extLst>
                    <a:ext uri="{9D8B030D-6E8A-4147-A177-3AD203B41FA5}">
                      <a16:colId xmlns:a16="http://schemas.microsoft.com/office/drawing/2014/main" val="3811497806"/>
                    </a:ext>
                  </a:extLst>
                </a:gridCol>
              </a:tblGrid>
              <a:tr h="218596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BitMapAllocator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184675"/>
                  </a:ext>
                </a:extLst>
              </a:tr>
              <a:tr h="218596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static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m_Instance_bitmap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308309"/>
                  </a:ext>
                </a:extLst>
              </a:tr>
              <a:tr h="642929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Alloc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bitmap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size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Free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bitmap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size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addrIdx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is_free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bitmap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index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set_bit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bitmap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index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value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static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GetInstance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();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5538370"/>
                  </a:ext>
                </a:extLst>
              </a:tr>
            </a:tbl>
          </a:graphicData>
        </a:graphic>
      </p:graphicFrame>
      <p:sp>
        <p:nvSpPr>
          <p:cNvPr id="67" name="矩形 66">
            <a:extLst>
              <a:ext uri="{FF2B5EF4-FFF2-40B4-BE49-F238E27FC236}">
                <a16:creationId xmlns:a16="http://schemas.microsoft.com/office/drawing/2014/main" id="{D6ABDD9C-8881-0B42-A724-6D51CE77828B}"/>
              </a:ext>
            </a:extLst>
          </p:cNvPr>
          <p:cNvSpPr/>
          <p:nvPr/>
        </p:nvSpPr>
        <p:spPr>
          <a:xfrm>
            <a:off x="2970229" y="5212828"/>
            <a:ext cx="1152128" cy="14326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E2426748-7144-0DAA-B841-0911A02DED3D}"/>
              </a:ext>
            </a:extLst>
          </p:cNvPr>
          <p:cNvSpPr/>
          <p:nvPr/>
        </p:nvSpPr>
        <p:spPr>
          <a:xfrm>
            <a:off x="2896286" y="5399735"/>
            <a:ext cx="1152128" cy="14326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95EDDAB2-41F0-2DA9-82D8-F47480F029AE}"/>
              </a:ext>
            </a:extLst>
          </p:cNvPr>
          <p:cNvSpPr/>
          <p:nvPr/>
        </p:nvSpPr>
        <p:spPr>
          <a:xfrm>
            <a:off x="1175042" y="2850947"/>
            <a:ext cx="11782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000" b="1" dirty="0" err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Allocator.h</a:t>
            </a:r>
            <a:r>
              <a:rPr lang="en-US" altLang="zh-CN" sz="1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zh-CN" altLang="en-US" sz="10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3628D365-7EDD-8EB4-221D-2BC6345CEBC8}"/>
              </a:ext>
            </a:extLst>
          </p:cNvPr>
          <p:cNvSpPr/>
          <p:nvPr/>
        </p:nvSpPr>
        <p:spPr>
          <a:xfrm>
            <a:off x="1138886" y="3077973"/>
            <a:ext cx="13868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&lt;Allocator.cpp&gt;</a:t>
            </a:r>
            <a:endParaRPr lang="zh-CN" altLang="en-US" sz="10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1" name="表格 70">
            <a:extLst>
              <a:ext uri="{FF2B5EF4-FFF2-40B4-BE49-F238E27FC236}">
                <a16:creationId xmlns:a16="http://schemas.microsoft.com/office/drawing/2014/main" id="{A275F109-A511-4349-38A2-AEE2BA913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702107"/>
              </p:ext>
            </p:extLst>
          </p:nvPr>
        </p:nvGraphicFramePr>
        <p:xfrm>
          <a:off x="1229642" y="3341171"/>
          <a:ext cx="6264696" cy="11289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4696">
                  <a:extLst>
                    <a:ext uri="{9D8B030D-6E8A-4147-A177-3AD203B41FA5}">
                      <a16:colId xmlns:a16="http://schemas.microsoft.com/office/drawing/2014/main" val="3811497806"/>
                    </a:ext>
                  </a:extLst>
                </a:gridCol>
              </a:tblGrid>
              <a:tr h="246119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184675"/>
                  </a:ext>
                </a:extLst>
              </a:tr>
              <a:tr h="246119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static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m_Instance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308309"/>
                  </a:ext>
                </a:extLst>
              </a:tr>
              <a:tr h="610766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Alloc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MapNode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[],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size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Free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MapNode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[],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size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addrIdx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 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static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GetInstance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();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5538370"/>
                  </a:ext>
                </a:extLst>
              </a:tr>
            </a:tbl>
          </a:graphicData>
        </a:graphic>
      </p:graphicFrame>
      <p:sp>
        <p:nvSpPr>
          <p:cNvPr id="72" name="矩形 71">
            <a:extLst>
              <a:ext uri="{FF2B5EF4-FFF2-40B4-BE49-F238E27FC236}">
                <a16:creationId xmlns:a16="http://schemas.microsoft.com/office/drawing/2014/main" id="{30A69122-B6C3-4A1D-F77C-710DF05C2317}"/>
              </a:ext>
            </a:extLst>
          </p:cNvPr>
          <p:cNvSpPr/>
          <p:nvPr/>
        </p:nvSpPr>
        <p:spPr>
          <a:xfrm>
            <a:off x="2522278" y="3910735"/>
            <a:ext cx="1485490" cy="15377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CAFE1DE1-A365-BB4C-B3B1-55BCF4C86167}"/>
              </a:ext>
            </a:extLst>
          </p:cNvPr>
          <p:cNvSpPr/>
          <p:nvPr/>
        </p:nvSpPr>
        <p:spPr>
          <a:xfrm>
            <a:off x="2522278" y="4104344"/>
            <a:ext cx="1485902" cy="15377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26972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0CE557B2-7530-F5DF-C9B2-E54DD3E1D6D1}"/>
              </a:ext>
            </a:extLst>
          </p:cNvPr>
          <p:cNvSpPr/>
          <p:nvPr/>
        </p:nvSpPr>
        <p:spPr>
          <a:xfrm>
            <a:off x="1116084" y="2838405"/>
            <a:ext cx="4475860" cy="3398907"/>
          </a:xfrm>
          <a:prstGeom prst="roundRect">
            <a:avLst>
              <a:gd name="adj" fmla="val 2526"/>
            </a:avLst>
          </a:prstGeom>
          <a:solidFill>
            <a:srgbClr val="F1F8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26641552-5D27-AFE7-37EA-018F015704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767864"/>
              </p:ext>
            </p:extLst>
          </p:nvPr>
        </p:nvGraphicFramePr>
        <p:xfrm>
          <a:off x="1229643" y="4640484"/>
          <a:ext cx="4218286" cy="1447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18286">
                  <a:extLst>
                    <a:ext uri="{9D8B030D-6E8A-4147-A177-3AD203B41FA5}">
                      <a16:colId xmlns:a16="http://schemas.microsoft.com/office/drawing/2014/main" val="3811497806"/>
                    </a:ext>
                  </a:extLst>
                </a:gridCol>
              </a:tblGrid>
              <a:tr h="218596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BitMapAllocator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184675"/>
                  </a:ext>
                </a:extLst>
              </a:tr>
              <a:tr h="218596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static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m_Instance_bitmap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308309"/>
                  </a:ext>
                </a:extLst>
              </a:tr>
              <a:tr h="642929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Alloc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Free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is_free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bitmap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index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set_bit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bitmap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index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value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static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GetInstance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();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5538370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D93CDAD9-A233-FF8A-2CEA-92F8FF86EB00}"/>
              </a:ext>
            </a:extLst>
          </p:cNvPr>
          <p:cNvSpPr/>
          <p:nvPr/>
        </p:nvSpPr>
        <p:spPr>
          <a:xfrm>
            <a:off x="1175042" y="2850947"/>
            <a:ext cx="11782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000" b="1" dirty="0" err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Allocator.h</a:t>
            </a:r>
            <a:r>
              <a:rPr lang="en-US" altLang="zh-CN" sz="1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zh-CN" altLang="en-US" sz="10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40CC5C5-CB34-E10A-6978-936B0689C504}"/>
              </a:ext>
            </a:extLst>
          </p:cNvPr>
          <p:cNvSpPr/>
          <p:nvPr/>
        </p:nvSpPr>
        <p:spPr>
          <a:xfrm>
            <a:off x="1138886" y="3077973"/>
            <a:ext cx="13868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&lt;Allocator.cpp&gt;</a:t>
            </a:r>
            <a:endParaRPr lang="zh-CN" altLang="en-US" sz="10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BEF0292A-167D-911D-A21A-33940D7BD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276658"/>
              </p:ext>
            </p:extLst>
          </p:nvPr>
        </p:nvGraphicFramePr>
        <p:xfrm>
          <a:off x="1229642" y="3341171"/>
          <a:ext cx="2778126" cy="11289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8126">
                  <a:extLst>
                    <a:ext uri="{9D8B030D-6E8A-4147-A177-3AD203B41FA5}">
                      <a16:colId xmlns:a16="http://schemas.microsoft.com/office/drawing/2014/main" val="3811497806"/>
                    </a:ext>
                  </a:extLst>
                </a:gridCol>
              </a:tblGrid>
              <a:tr h="246119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184675"/>
                  </a:ext>
                </a:extLst>
              </a:tr>
              <a:tr h="246119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static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m_Instance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308309"/>
                  </a:ext>
                </a:extLst>
              </a:tr>
              <a:tr h="610766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Alloc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Free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 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static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GetInstance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();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5538370"/>
                  </a:ext>
                </a:extLst>
              </a:tr>
            </a:tbl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C5AF3CE7-E567-E6AC-BA5A-63ED771EEC47}"/>
              </a:ext>
            </a:extLst>
          </p:cNvPr>
          <p:cNvGrpSpPr/>
          <p:nvPr/>
        </p:nvGrpSpPr>
        <p:grpSpPr>
          <a:xfrm>
            <a:off x="1534048" y="924043"/>
            <a:ext cx="5714079" cy="1136805"/>
            <a:chOff x="1703511" y="2103761"/>
            <a:chExt cx="5714079" cy="1136805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1014630F-5CC8-7E24-97A7-CF8DA7BC6597}"/>
                </a:ext>
              </a:extLst>
            </p:cNvPr>
            <p:cNvSpPr/>
            <p:nvPr/>
          </p:nvSpPr>
          <p:spPr>
            <a:xfrm>
              <a:off x="1703511" y="2103761"/>
              <a:ext cx="5714079" cy="1136805"/>
            </a:xfrm>
            <a:prstGeom prst="roundRect">
              <a:avLst>
                <a:gd name="adj" fmla="val 6035"/>
              </a:avLst>
            </a:prstGeom>
            <a:solidFill>
              <a:srgbClr val="F1F8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3916ABE-2778-2DB1-0042-2DF91244886F}"/>
                </a:ext>
              </a:extLst>
            </p:cNvPr>
            <p:cNvSpPr/>
            <p:nvPr/>
          </p:nvSpPr>
          <p:spPr>
            <a:xfrm>
              <a:off x="1761721" y="2966423"/>
              <a:ext cx="117829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&lt;MapNode.h&gt;</a:t>
              </a:r>
              <a:endParaRPr lang="zh-CN" altLang="en-US" sz="1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82E4A4-4B4D-41BF-9F68-1575C742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353A2E-92EE-4F23-A078-2A07C43737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C4DE104-5DA1-4B88-B642-58DE3423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存储空间管理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52BE9DD-DEA9-325C-1D0F-ED9651C26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29" y="2715812"/>
            <a:ext cx="244012" cy="142637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wrap="square" tIns="0" bIns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位示图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管理内存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3D8890F-DAFA-3DB9-881B-E35B7CAE76E6}"/>
              </a:ext>
            </a:extLst>
          </p:cNvPr>
          <p:cNvGraphicFramePr>
            <a:graphicFrameLocks noGrp="1"/>
          </p:cNvGraphicFramePr>
          <p:nvPr/>
        </p:nvGraphicFramePr>
        <p:xfrm>
          <a:off x="1631504" y="1015801"/>
          <a:ext cx="2376264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6264">
                  <a:extLst>
                    <a:ext uri="{9D8B030D-6E8A-4147-A177-3AD203B41FA5}">
                      <a16:colId xmlns:a16="http://schemas.microsoft.com/office/drawing/2014/main" val="3811497806"/>
                    </a:ext>
                  </a:extLst>
                </a:gridCol>
              </a:tblGrid>
              <a:tr h="226824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struct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MapNode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184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m_Size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m_AddressIdx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308309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6FC5231-F849-46AF-07A3-92689D200DE1}"/>
              </a:ext>
            </a:extLst>
          </p:cNvPr>
          <p:cNvGraphicFramePr>
            <a:graphicFrameLocks noGrp="1"/>
          </p:cNvGraphicFramePr>
          <p:nvPr/>
        </p:nvGraphicFramePr>
        <p:xfrm>
          <a:off x="4295800" y="1015801"/>
          <a:ext cx="2808312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8312">
                  <a:extLst>
                    <a:ext uri="{9D8B030D-6E8A-4147-A177-3AD203B41FA5}">
                      <a16:colId xmlns:a16="http://schemas.microsoft.com/office/drawing/2014/main" val="3811497806"/>
                    </a:ext>
                  </a:extLst>
                </a:gridCol>
              </a:tblGrid>
              <a:tr h="226824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184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m_AddressIdx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</a:p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rows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CN" sz="11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256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];</a:t>
                      </a: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308309"/>
                  </a:ext>
                </a:extLst>
              </a:tr>
            </a:tbl>
          </a:graphicData>
        </a:graphic>
      </p:graphicFrame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04093D98-1F2B-9057-E9EC-028FC621FAD1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65946" y="2908576"/>
            <a:ext cx="2689623" cy="560964"/>
          </a:xfrm>
          <a:prstGeom prst="bentConnector3">
            <a:avLst/>
          </a:prstGeom>
          <a:ln w="952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CD3830C8-C0A4-40D2-C048-58DB9137913F}"/>
              </a:ext>
            </a:extLst>
          </p:cNvPr>
          <p:cNvCxnSpPr>
            <a:cxnSpLocks/>
            <a:endCxn id="4" idx="2"/>
          </p:cNvCxnSpPr>
          <p:nvPr/>
        </p:nvCxnSpPr>
        <p:spPr>
          <a:xfrm rot="10800000">
            <a:off x="2819636" y="1701601"/>
            <a:ext cx="3835930" cy="1031736"/>
          </a:xfrm>
          <a:prstGeom prst="bentConnector2">
            <a:avLst/>
          </a:prstGeom>
          <a:ln w="952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53F70F26-DD2C-2637-9322-CCB4366CE275}"/>
              </a:ext>
            </a:extLst>
          </p:cNvPr>
          <p:cNvSpPr/>
          <p:nvPr/>
        </p:nvSpPr>
        <p:spPr>
          <a:xfrm>
            <a:off x="9156492" y="1808371"/>
            <a:ext cx="1430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000" b="1" dirty="0" err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PageManager.h</a:t>
            </a:r>
            <a:r>
              <a:rPr lang="en-US" altLang="zh-CN" sz="1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zh-CN" altLang="en-US" sz="10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81FA8E1-6099-7F00-44BF-A99D969C0FAA}"/>
              </a:ext>
            </a:extLst>
          </p:cNvPr>
          <p:cNvSpPr/>
          <p:nvPr/>
        </p:nvSpPr>
        <p:spPr>
          <a:xfrm>
            <a:off x="9120336" y="2035397"/>
            <a:ext cx="15909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&lt;PageManager.cpp&gt;</a:t>
            </a:r>
            <a:endParaRPr lang="zh-CN" altLang="en-US" sz="10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4" name="表格 43">
            <a:extLst>
              <a:ext uri="{FF2B5EF4-FFF2-40B4-BE49-F238E27FC236}">
                <a16:creationId xmlns:a16="http://schemas.microsoft.com/office/drawing/2014/main" id="{0B2CED4D-84FD-575E-50FC-AF8EC0C9B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455287"/>
              </p:ext>
            </p:extLst>
          </p:nvPr>
        </p:nvGraphicFramePr>
        <p:xfrm>
          <a:off x="6656845" y="2353772"/>
          <a:ext cx="4881310" cy="3627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81310">
                  <a:extLst>
                    <a:ext uri="{9D8B030D-6E8A-4147-A177-3AD203B41FA5}">
                      <a16:colId xmlns:a16="http://schemas.microsoft.com/office/drawing/2014/main" val="3811497806"/>
                    </a:ext>
                  </a:extLst>
                </a:gridCol>
              </a:tblGrid>
              <a:tr h="250435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PageManager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184675"/>
                  </a:ext>
                </a:extLst>
              </a:tr>
              <a:tr h="574528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MapNode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PageManager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::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MEMORY_MAP_ARRAY_SIZE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];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  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m_pAllocator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308309"/>
                  </a:ext>
                </a:extLst>
              </a:tr>
              <a:tr h="16493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 /* </a:t>
                      </a:r>
                      <a:r>
                        <a:rPr lang="zh-CN" alt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设置</a:t>
                      </a: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m_pAllocator  */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PageManager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</a:p>
                    <a:p>
                      <a:endParaRPr lang="en-US" altLang="zh-CN" sz="1100" b="0" dirty="0">
                        <a:solidFill>
                          <a:srgbClr val="008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altLang="zh-CN" sz="1100" b="0" dirty="0">
                        <a:solidFill>
                          <a:srgbClr val="008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 /* </a:t>
                      </a:r>
                      <a:r>
                        <a:rPr lang="zh-CN" alt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初始化分区表</a:t>
                      </a: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map  */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Initialize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(); 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</a:p>
                    <a:p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/* </a:t>
                      </a:r>
                      <a:r>
                        <a:rPr kumimoji="0" lang="zh-CN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调用</a:t>
                      </a:r>
                      <a:r>
                        <a:rPr kumimoji="0" lang="en-US" altLang="zh-CN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m_pAllocator-&gt;</a:t>
                      </a:r>
                      <a:r>
                        <a:rPr kumimoji="0" lang="en-US" altLang="zh-CN" sz="11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Alloc</a:t>
                      </a:r>
                      <a:r>
                        <a:rPr kumimoji="0" lang="zh-CN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完成内存分配   </a:t>
                      </a:r>
                      <a:r>
                        <a:rPr kumimoji="0" lang="en-US" altLang="zh-CN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*/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AllocMemory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size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endParaRPr kumimoji="0" lang="en-US" altLang="zh-CN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</a:p>
                    <a:p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B3B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/* </a:t>
                      </a:r>
                      <a:r>
                        <a:rPr kumimoji="0" lang="zh-CN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调用</a:t>
                      </a:r>
                      <a:r>
                        <a:rPr kumimoji="0" lang="en-US" altLang="zh-CN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m_pAllocator-&gt;Free</a:t>
                      </a:r>
                      <a:r>
                        <a:rPr kumimoji="0" lang="zh-CN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完成内存回收    </a:t>
                      </a:r>
                      <a:r>
                        <a:rPr kumimoji="0" lang="en-US" altLang="zh-CN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*/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FreeMemory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size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                          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memoryStartAddress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endParaRPr kumimoji="0" lang="en-US" altLang="zh-CN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5538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6416749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0CE557B2-7530-F5DF-C9B2-E54DD3E1D6D1}"/>
              </a:ext>
            </a:extLst>
          </p:cNvPr>
          <p:cNvSpPr/>
          <p:nvPr/>
        </p:nvSpPr>
        <p:spPr>
          <a:xfrm>
            <a:off x="1116084" y="2838405"/>
            <a:ext cx="4475860" cy="3398907"/>
          </a:xfrm>
          <a:prstGeom prst="roundRect">
            <a:avLst>
              <a:gd name="adj" fmla="val 2526"/>
            </a:avLst>
          </a:prstGeom>
          <a:solidFill>
            <a:srgbClr val="F1F8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26641552-5D27-AFE7-37EA-018F01570497}"/>
              </a:ext>
            </a:extLst>
          </p:cNvPr>
          <p:cNvGraphicFramePr>
            <a:graphicFrameLocks noGrp="1"/>
          </p:cNvGraphicFramePr>
          <p:nvPr/>
        </p:nvGraphicFramePr>
        <p:xfrm>
          <a:off x="1229643" y="4640484"/>
          <a:ext cx="4218286" cy="1447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18286">
                  <a:extLst>
                    <a:ext uri="{9D8B030D-6E8A-4147-A177-3AD203B41FA5}">
                      <a16:colId xmlns:a16="http://schemas.microsoft.com/office/drawing/2014/main" val="3811497806"/>
                    </a:ext>
                  </a:extLst>
                </a:gridCol>
              </a:tblGrid>
              <a:tr h="218596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BitMapAllocator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184675"/>
                  </a:ext>
                </a:extLst>
              </a:tr>
              <a:tr h="218596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static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m_Instance_bitmap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308309"/>
                  </a:ext>
                </a:extLst>
              </a:tr>
              <a:tr h="642929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Alloc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Free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is_free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bitmap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index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set_bit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bitmap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index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value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static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GetInstance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();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5538370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D93CDAD9-A233-FF8A-2CEA-92F8FF86EB00}"/>
              </a:ext>
            </a:extLst>
          </p:cNvPr>
          <p:cNvSpPr/>
          <p:nvPr/>
        </p:nvSpPr>
        <p:spPr>
          <a:xfrm>
            <a:off x="1175042" y="2850947"/>
            <a:ext cx="11782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000" b="1" dirty="0" err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Allocator.h</a:t>
            </a:r>
            <a:r>
              <a:rPr lang="en-US" altLang="zh-CN" sz="1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zh-CN" altLang="en-US" sz="10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40CC5C5-CB34-E10A-6978-936B0689C504}"/>
              </a:ext>
            </a:extLst>
          </p:cNvPr>
          <p:cNvSpPr/>
          <p:nvPr/>
        </p:nvSpPr>
        <p:spPr>
          <a:xfrm>
            <a:off x="1138886" y="3077973"/>
            <a:ext cx="13868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&lt;Allocator.cpp&gt;</a:t>
            </a:r>
            <a:endParaRPr lang="zh-CN" altLang="en-US" sz="10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BEF0292A-167D-911D-A21A-33940D7BD533}"/>
              </a:ext>
            </a:extLst>
          </p:cNvPr>
          <p:cNvGraphicFramePr>
            <a:graphicFrameLocks noGrp="1"/>
          </p:cNvGraphicFramePr>
          <p:nvPr/>
        </p:nvGraphicFramePr>
        <p:xfrm>
          <a:off x="1229642" y="3341171"/>
          <a:ext cx="2778126" cy="11289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8126">
                  <a:extLst>
                    <a:ext uri="{9D8B030D-6E8A-4147-A177-3AD203B41FA5}">
                      <a16:colId xmlns:a16="http://schemas.microsoft.com/office/drawing/2014/main" val="3811497806"/>
                    </a:ext>
                  </a:extLst>
                </a:gridCol>
              </a:tblGrid>
              <a:tr h="246119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184675"/>
                  </a:ext>
                </a:extLst>
              </a:tr>
              <a:tr h="246119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static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m_Instance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308309"/>
                  </a:ext>
                </a:extLst>
              </a:tr>
              <a:tr h="610766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Alloc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Free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 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static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&amp;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GetInstance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();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5538370"/>
                  </a:ext>
                </a:extLst>
              </a:tr>
            </a:tbl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C5AF3CE7-E567-E6AC-BA5A-63ED771EEC47}"/>
              </a:ext>
            </a:extLst>
          </p:cNvPr>
          <p:cNvGrpSpPr/>
          <p:nvPr/>
        </p:nvGrpSpPr>
        <p:grpSpPr>
          <a:xfrm>
            <a:off x="1534048" y="924043"/>
            <a:ext cx="5714079" cy="1136805"/>
            <a:chOff x="1703511" y="2103761"/>
            <a:chExt cx="5714079" cy="1136805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1014630F-5CC8-7E24-97A7-CF8DA7BC6597}"/>
                </a:ext>
              </a:extLst>
            </p:cNvPr>
            <p:cNvSpPr/>
            <p:nvPr/>
          </p:nvSpPr>
          <p:spPr>
            <a:xfrm>
              <a:off x="1703511" y="2103761"/>
              <a:ext cx="5714079" cy="1136805"/>
            </a:xfrm>
            <a:prstGeom prst="roundRect">
              <a:avLst>
                <a:gd name="adj" fmla="val 6035"/>
              </a:avLst>
            </a:prstGeom>
            <a:solidFill>
              <a:srgbClr val="F1F8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3916ABE-2778-2DB1-0042-2DF91244886F}"/>
                </a:ext>
              </a:extLst>
            </p:cNvPr>
            <p:cNvSpPr/>
            <p:nvPr/>
          </p:nvSpPr>
          <p:spPr>
            <a:xfrm>
              <a:off x="1761721" y="2966423"/>
              <a:ext cx="117829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&lt;MapNode.h&gt;</a:t>
              </a:r>
              <a:endParaRPr lang="zh-CN" altLang="en-US" sz="1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82E4A4-4B4D-41BF-9F68-1575C742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353A2E-92EE-4F23-A078-2A07C43737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C4DE104-5DA1-4B88-B642-58DE3423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存储空间管理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52BE9DD-DEA9-325C-1D0F-ED9651C26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29" y="2715812"/>
            <a:ext cx="244012" cy="142637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wrap="square" tIns="0" bIns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位示图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管理内存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3D8890F-DAFA-3DB9-881B-E35B7CAE76E6}"/>
              </a:ext>
            </a:extLst>
          </p:cNvPr>
          <p:cNvGraphicFramePr>
            <a:graphicFrameLocks noGrp="1"/>
          </p:cNvGraphicFramePr>
          <p:nvPr/>
        </p:nvGraphicFramePr>
        <p:xfrm>
          <a:off x="1631504" y="1015801"/>
          <a:ext cx="2376264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6264">
                  <a:extLst>
                    <a:ext uri="{9D8B030D-6E8A-4147-A177-3AD203B41FA5}">
                      <a16:colId xmlns:a16="http://schemas.microsoft.com/office/drawing/2014/main" val="3811497806"/>
                    </a:ext>
                  </a:extLst>
                </a:gridCol>
              </a:tblGrid>
              <a:tr h="226824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struct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MapNode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184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m_Size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m_AddressIdx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308309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6FC5231-F849-46AF-07A3-92689D200DE1}"/>
              </a:ext>
            </a:extLst>
          </p:cNvPr>
          <p:cNvGraphicFramePr>
            <a:graphicFrameLocks noGrp="1"/>
          </p:cNvGraphicFramePr>
          <p:nvPr/>
        </p:nvGraphicFramePr>
        <p:xfrm>
          <a:off x="4295800" y="1015801"/>
          <a:ext cx="2808312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8312">
                  <a:extLst>
                    <a:ext uri="{9D8B030D-6E8A-4147-A177-3AD203B41FA5}">
                      <a16:colId xmlns:a16="http://schemas.microsoft.com/office/drawing/2014/main" val="3811497806"/>
                    </a:ext>
                  </a:extLst>
                </a:gridCol>
              </a:tblGrid>
              <a:tr h="226824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184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m_AddressIdx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</a:p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rows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CN" sz="11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256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];</a:t>
                      </a: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308309"/>
                  </a:ext>
                </a:extLst>
              </a:tr>
            </a:tbl>
          </a:graphicData>
        </a:graphic>
      </p:graphicFrame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04093D98-1F2B-9057-E9EC-028FC621FAD1}"/>
              </a:ext>
            </a:extLst>
          </p:cNvPr>
          <p:cNvCxnSpPr>
            <a:cxnSpLocks/>
            <a:endCxn id="14" idx="0"/>
          </p:cNvCxnSpPr>
          <p:nvPr/>
        </p:nvCxnSpPr>
        <p:spPr>
          <a:xfrm rot="10800000" flipV="1">
            <a:off x="3338786" y="2908576"/>
            <a:ext cx="3316784" cy="1731908"/>
          </a:xfrm>
          <a:prstGeom prst="bentConnector2">
            <a:avLst/>
          </a:prstGeom>
          <a:ln w="952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CD3830C8-C0A4-40D2-C048-58DB9137913F}"/>
              </a:ext>
            </a:extLst>
          </p:cNvPr>
          <p:cNvCxnSpPr>
            <a:cxnSpLocks/>
            <a:endCxn id="4" idx="2"/>
          </p:cNvCxnSpPr>
          <p:nvPr/>
        </p:nvCxnSpPr>
        <p:spPr>
          <a:xfrm rot="10800000">
            <a:off x="2819636" y="1701601"/>
            <a:ext cx="3835930" cy="1031736"/>
          </a:xfrm>
          <a:prstGeom prst="bentConnector2">
            <a:avLst/>
          </a:prstGeom>
          <a:ln w="952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53F70F26-DD2C-2637-9322-CCB4366CE275}"/>
              </a:ext>
            </a:extLst>
          </p:cNvPr>
          <p:cNvSpPr/>
          <p:nvPr/>
        </p:nvSpPr>
        <p:spPr>
          <a:xfrm>
            <a:off x="9156492" y="1808371"/>
            <a:ext cx="1430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000" b="1" dirty="0" err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PageManager.h</a:t>
            </a:r>
            <a:r>
              <a:rPr lang="en-US" altLang="zh-CN" sz="1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zh-CN" altLang="en-US" sz="10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81FA8E1-6099-7F00-44BF-A99D969C0FAA}"/>
              </a:ext>
            </a:extLst>
          </p:cNvPr>
          <p:cNvSpPr/>
          <p:nvPr/>
        </p:nvSpPr>
        <p:spPr>
          <a:xfrm>
            <a:off x="9120336" y="2035397"/>
            <a:ext cx="15909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&lt;PageManager.cpp&gt;</a:t>
            </a:r>
            <a:endParaRPr lang="zh-CN" altLang="en-US" sz="10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4" name="表格 43">
            <a:extLst>
              <a:ext uri="{FF2B5EF4-FFF2-40B4-BE49-F238E27FC236}">
                <a16:creationId xmlns:a16="http://schemas.microsoft.com/office/drawing/2014/main" id="{0B2CED4D-84FD-575E-50FC-AF8EC0C9B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128097"/>
              </p:ext>
            </p:extLst>
          </p:nvPr>
        </p:nvGraphicFramePr>
        <p:xfrm>
          <a:off x="6656845" y="2353772"/>
          <a:ext cx="3955799" cy="3459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55799">
                  <a:extLst>
                    <a:ext uri="{9D8B030D-6E8A-4147-A177-3AD203B41FA5}">
                      <a16:colId xmlns:a16="http://schemas.microsoft.com/office/drawing/2014/main" val="3811497806"/>
                    </a:ext>
                  </a:extLst>
                </a:gridCol>
              </a:tblGrid>
              <a:tr h="250435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PageManager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184675"/>
                  </a:ext>
                </a:extLst>
              </a:tr>
              <a:tr h="574528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MapNode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PageManager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::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MEMORY_MAP_ARRAY_SIZE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];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 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</a:t>
                      </a:r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m_pAllocator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bitmap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-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</a:t>
                      </a:r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r>
                        <a:rPr lang="en-US" altLang="zh-CN" sz="11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m_pAllocator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308309"/>
                  </a:ext>
                </a:extLst>
              </a:tr>
              <a:tr h="16493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 /* </a:t>
                      </a:r>
                      <a:r>
                        <a:rPr lang="zh-CN" alt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设置</a:t>
                      </a: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m_pAllocator  */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PageManager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 /* </a:t>
                      </a:r>
                      <a:r>
                        <a:rPr lang="zh-CN" alt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设置</a:t>
                      </a:r>
                      <a:r>
                        <a:rPr lang="en-US" altLang="zh-CN" sz="11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bm_pAllocator</a:t>
                      </a: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 */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PageManager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 /* </a:t>
                      </a:r>
                      <a:r>
                        <a:rPr lang="zh-CN" alt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初始化</a:t>
                      </a:r>
                      <a:r>
                        <a:rPr kumimoji="0" lang="zh-CN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位示图</a:t>
                      </a: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bitmap</a:t>
                      </a:r>
                      <a:r>
                        <a:rPr kumimoji="0" lang="zh-CN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*/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Initialize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(); 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</a:p>
                    <a:p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/* </a:t>
                      </a:r>
                      <a:r>
                        <a:rPr kumimoji="0" lang="zh-CN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调用</a:t>
                      </a:r>
                      <a:r>
                        <a:rPr kumimoji="0" lang="en-US" altLang="zh-CN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m_pAllocator-&gt;</a:t>
                      </a:r>
                      <a:r>
                        <a:rPr kumimoji="0" lang="en-US" altLang="zh-CN" sz="11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Alloc</a:t>
                      </a:r>
                      <a:r>
                        <a:rPr kumimoji="0" lang="zh-CN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完成内存分配   </a:t>
                      </a:r>
                      <a:r>
                        <a:rPr kumimoji="0" lang="en-US" altLang="zh-CN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*/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AllocMemory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endParaRPr kumimoji="0" lang="en-US" altLang="zh-CN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</a:p>
                    <a:p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B3B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/* </a:t>
                      </a:r>
                      <a:r>
                        <a:rPr kumimoji="0" lang="zh-CN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调用</a:t>
                      </a:r>
                      <a:r>
                        <a:rPr kumimoji="0" lang="en-US" altLang="zh-CN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m_pAllocator-&gt;Free</a:t>
                      </a:r>
                      <a:r>
                        <a:rPr kumimoji="0" lang="zh-CN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完成内存回收    </a:t>
                      </a:r>
                      <a:r>
                        <a:rPr kumimoji="0" lang="en-US" altLang="zh-CN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*/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FreeMemory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endParaRPr kumimoji="0" lang="en-US" altLang="zh-CN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5538370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BF4DF9AF-A187-5D56-03D0-3A6AD33ED6BB}"/>
              </a:ext>
            </a:extLst>
          </p:cNvPr>
          <p:cNvSpPr/>
          <p:nvPr/>
        </p:nvSpPr>
        <p:spPr>
          <a:xfrm>
            <a:off x="10711322" y="2958365"/>
            <a:ext cx="1404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需要添加关于位示图的数据成员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95FA73D-9FD8-E02B-D32E-209B8DE06A8E}"/>
              </a:ext>
            </a:extLst>
          </p:cNvPr>
          <p:cNvSpPr/>
          <p:nvPr/>
        </p:nvSpPr>
        <p:spPr>
          <a:xfrm>
            <a:off x="6600058" y="2991867"/>
            <a:ext cx="4111264" cy="36512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1960DA09-DE32-75FE-B8E5-507C80A28A78}"/>
              </a:ext>
            </a:extLst>
          </p:cNvPr>
          <p:cNvCxnSpPr>
            <a:cxnSpLocks/>
            <a:endCxn id="9" idx="2"/>
          </p:cNvCxnSpPr>
          <p:nvPr/>
        </p:nvCxnSpPr>
        <p:spPr>
          <a:xfrm rot="16200000" flipV="1">
            <a:off x="5573396" y="1995801"/>
            <a:ext cx="1208730" cy="955610"/>
          </a:xfrm>
          <a:prstGeom prst="bentConnector3">
            <a:avLst>
              <a:gd name="adj1" fmla="val -840"/>
            </a:avLst>
          </a:prstGeom>
          <a:ln w="952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419CE147-11C5-61CE-6DC3-6D9BB4267BB4}"/>
              </a:ext>
            </a:extLst>
          </p:cNvPr>
          <p:cNvSpPr/>
          <p:nvPr/>
        </p:nvSpPr>
        <p:spPr>
          <a:xfrm>
            <a:off x="10721323" y="3909424"/>
            <a:ext cx="1404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添加一个使用位示图的构造函数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CB14E788-BCF8-B5E7-F7E1-3450F98F23B4}"/>
              </a:ext>
            </a:extLst>
          </p:cNvPr>
          <p:cNvSpPr/>
          <p:nvPr/>
        </p:nvSpPr>
        <p:spPr>
          <a:xfrm>
            <a:off x="6610059" y="3910399"/>
            <a:ext cx="4111264" cy="36512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0A78D95-86E0-2FB0-94E6-0B288269A2A8}"/>
              </a:ext>
            </a:extLst>
          </p:cNvPr>
          <p:cNvSpPr/>
          <p:nvPr/>
        </p:nvSpPr>
        <p:spPr>
          <a:xfrm>
            <a:off x="6594528" y="4417701"/>
            <a:ext cx="4126795" cy="1343319"/>
          </a:xfrm>
          <a:prstGeom prst="roundRect">
            <a:avLst>
              <a:gd name="adj" fmla="val 957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38F8113-6EBD-1EA5-402A-4C85B981E035}"/>
              </a:ext>
            </a:extLst>
          </p:cNvPr>
          <p:cNvSpPr/>
          <p:nvPr/>
        </p:nvSpPr>
        <p:spPr>
          <a:xfrm>
            <a:off x="10776520" y="4889305"/>
            <a:ext cx="124296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接口不变，所有实现需修改为针对位示图的实现</a:t>
            </a:r>
          </a:p>
        </p:txBody>
      </p:sp>
    </p:spTree>
    <p:extLst>
      <p:ext uri="{BB962C8B-B14F-4D97-AF65-F5344CB8AC3E}">
        <p14:creationId xmlns:p14="http://schemas.microsoft.com/office/powerpoint/2010/main" val="111183644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82E4A4-4B4D-41BF-9F68-1575C742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353A2E-92EE-4F23-A078-2A07C43737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C4DE104-5DA1-4B88-B642-58DE3423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存储空间管理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52BE9DD-DEA9-325C-1D0F-ED9651C26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29" y="2715812"/>
            <a:ext cx="244012" cy="142637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wrap="square" tIns="0" bIns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位示图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管理内存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15F141F-891A-074F-66FD-AEACBA875A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010858"/>
              </p:ext>
            </p:extLst>
          </p:nvPr>
        </p:nvGraphicFramePr>
        <p:xfrm>
          <a:off x="3170109" y="1268760"/>
          <a:ext cx="4104456" cy="1466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3811497806"/>
                    </a:ext>
                  </a:extLst>
                </a:gridCol>
              </a:tblGrid>
              <a:tr h="241527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KernelPageManager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: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PageManager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184675"/>
                  </a:ext>
                </a:extLst>
              </a:tr>
              <a:tr h="241527">
                <a:tc>
                  <a:txBody>
                    <a:bodyPr/>
                    <a:lstStyle/>
                    <a:p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308309"/>
                  </a:ext>
                </a:extLst>
              </a:tr>
              <a:tr h="948130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KernelPageManager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/* </a:t>
                      </a:r>
                      <a:r>
                        <a:rPr lang="zh-CN" alt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初始化</a:t>
                      </a: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MapNode map[0]</a:t>
                      </a:r>
                      <a:r>
                        <a:rPr lang="zh-CN" alt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为内核物理页区起始地址、大小 *</a:t>
                      </a: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</a:t>
                      </a:r>
                      <a:endParaRPr lang="zh-CN" altLang="en-US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Initialize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();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5538370"/>
                  </a:ext>
                </a:extLst>
              </a:tr>
            </a:tbl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D4B7DACB-88D1-97E2-D11D-ABA1C5C6BFF5}"/>
              </a:ext>
            </a:extLst>
          </p:cNvPr>
          <p:cNvGrpSpPr/>
          <p:nvPr/>
        </p:nvGrpSpPr>
        <p:grpSpPr>
          <a:xfrm>
            <a:off x="943829" y="805845"/>
            <a:ext cx="1935683" cy="5407858"/>
            <a:chOff x="6956797" y="692696"/>
            <a:chExt cx="1935683" cy="5407858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811D149-4AF4-A6BB-59BF-A791350D1AAB}"/>
                </a:ext>
              </a:extLst>
            </p:cNvPr>
            <p:cNvSpPr/>
            <p:nvPr/>
          </p:nvSpPr>
          <p:spPr>
            <a:xfrm>
              <a:off x="6959695" y="850692"/>
              <a:ext cx="1103810" cy="1239828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zh-CN" altLang="en-US" sz="1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A3F067-BBD7-4452-E71B-82EC23B04AF0}"/>
                </a:ext>
              </a:extLst>
            </p:cNvPr>
            <p:cNvSpPr/>
            <p:nvPr/>
          </p:nvSpPr>
          <p:spPr>
            <a:xfrm>
              <a:off x="6959695" y="2106400"/>
              <a:ext cx="1103809" cy="989012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400" b="1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页表区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EA49D01F-BDC3-C652-D365-53405ED411D5}"/>
                </a:ext>
              </a:extLst>
            </p:cNvPr>
            <p:cNvSpPr/>
            <p:nvPr/>
          </p:nvSpPr>
          <p:spPr>
            <a:xfrm>
              <a:off x="6961281" y="3111292"/>
              <a:ext cx="1103809" cy="2989262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400" b="1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用户区</a:t>
              </a:r>
            </a:p>
          </p:txBody>
        </p:sp>
        <p:sp>
          <p:nvSpPr>
            <p:cNvPr id="19" name="矩形 47">
              <a:extLst>
                <a:ext uri="{FF2B5EF4-FFF2-40B4-BE49-F238E27FC236}">
                  <a16:creationId xmlns:a16="http://schemas.microsoft.com/office/drawing/2014/main" id="{E83CD6AD-0022-558A-EEA3-A8D033D8B7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56810" y="692696"/>
              <a:ext cx="690562" cy="338361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E60994A-21AD-6BE9-D81C-759C2057D8E1}"/>
                </a:ext>
              </a:extLst>
            </p:cNvPr>
            <p:cNvSpPr/>
            <p:nvPr/>
          </p:nvSpPr>
          <p:spPr>
            <a:xfrm>
              <a:off x="6956797" y="852279"/>
              <a:ext cx="1106708" cy="5248275"/>
            </a:xfrm>
            <a:prstGeom prst="rect">
              <a:avLst/>
            </a:prstGeom>
            <a:noFill/>
            <a:ln w="19050" cap="flat" cmpd="sng" algn="ctr">
              <a:solidFill>
                <a:srgbClr val="008000"/>
              </a:solidFill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14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 41">
              <a:extLst>
                <a:ext uri="{FF2B5EF4-FFF2-40B4-BE49-F238E27FC236}">
                  <a16:creationId xmlns:a16="http://schemas.microsoft.com/office/drawing/2014/main" id="{2CDD47FF-3C7D-226B-C5CE-C35AF9B4BC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17595" y="1909040"/>
              <a:ext cx="865187" cy="4349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2M</a:t>
              </a:r>
            </a:p>
          </p:txBody>
        </p:sp>
        <p:sp>
          <p:nvSpPr>
            <p:cNvPr id="26" name="矩形 43">
              <a:extLst>
                <a:ext uri="{FF2B5EF4-FFF2-40B4-BE49-F238E27FC236}">
                  <a16:creationId xmlns:a16="http://schemas.microsoft.com/office/drawing/2014/main" id="{0120AB13-8587-C180-ED3E-102D50C37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7293" y="2896439"/>
              <a:ext cx="865187" cy="4349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4M</a:t>
              </a:r>
            </a:p>
          </p:txBody>
        </p:sp>
      </p:grpSp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FDC1F0A2-9E58-A845-C045-A4EF22094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527601"/>
              </p:ext>
            </p:extLst>
          </p:nvPr>
        </p:nvGraphicFramePr>
        <p:xfrm>
          <a:off x="3185336" y="3933057"/>
          <a:ext cx="4104456" cy="1499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3811497806"/>
                    </a:ext>
                  </a:extLst>
                </a:gridCol>
              </a:tblGrid>
              <a:tr h="229343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UserPageManager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: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PageManager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184675"/>
                  </a:ext>
                </a:extLst>
              </a:tr>
              <a:tr h="229343">
                <a:tc>
                  <a:txBody>
                    <a:bodyPr/>
                    <a:lstStyle/>
                    <a:p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308309"/>
                  </a:ext>
                </a:extLst>
              </a:tr>
              <a:tr h="981475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UserPageManager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/* </a:t>
                      </a:r>
                      <a:r>
                        <a:rPr lang="zh-CN" alt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初始化</a:t>
                      </a: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MapNode map[0]</a:t>
                      </a:r>
                      <a:r>
                        <a:rPr lang="zh-CN" alt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为内核物理页区起始地址、大小 *</a:t>
                      </a: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</a:t>
                      </a:r>
                      <a:endParaRPr lang="zh-CN" altLang="en-US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Initialize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();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5538370"/>
                  </a:ext>
                </a:extLst>
              </a:tr>
            </a:tbl>
          </a:graphicData>
        </a:graphic>
      </p:graphicFrame>
      <p:sp>
        <p:nvSpPr>
          <p:cNvPr id="40" name="右中括号 39">
            <a:extLst>
              <a:ext uri="{FF2B5EF4-FFF2-40B4-BE49-F238E27FC236}">
                <a16:creationId xmlns:a16="http://schemas.microsoft.com/office/drawing/2014/main" id="{8D3C2DF5-3E76-D5C7-6A2B-52027F8A41AA}"/>
              </a:ext>
            </a:extLst>
          </p:cNvPr>
          <p:cNvSpPr/>
          <p:nvPr/>
        </p:nvSpPr>
        <p:spPr>
          <a:xfrm>
            <a:off x="2423592" y="2259703"/>
            <a:ext cx="45719" cy="908704"/>
          </a:xfrm>
          <a:prstGeom prst="rightBracket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右中括号 40">
            <a:extLst>
              <a:ext uri="{FF2B5EF4-FFF2-40B4-BE49-F238E27FC236}">
                <a16:creationId xmlns:a16="http://schemas.microsoft.com/office/drawing/2014/main" id="{D00ED36A-0173-17D4-2628-C776C33EA6D1}"/>
              </a:ext>
            </a:extLst>
          </p:cNvPr>
          <p:cNvSpPr/>
          <p:nvPr/>
        </p:nvSpPr>
        <p:spPr>
          <a:xfrm>
            <a:off x="2423592" y="3324701"/>
            <a:ext cx="45719" cy="2727454"/>
          </a:xfrm>
          <a:prstGeom prst="rightBracket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5C9BCF45-CF5A-1085-39EE-17D38BF411ED}"/>
              </a:ext>
            </a:extLst>
          </p:cNvPr>
          <p:cNvCxnSpPr>
            <a:cxnSpLocks/>
            <a:stCxn id="5" idx="1"/>
            <a:endCxn id="40" idx="2"/>
          </p:cNvCxnSpPr>
          <p:nvPr/>
        </p:nvCxnSpPr>
        <p:spPr>
          <a:xfrm flipH="1">
            <a:off x="2469311" y="2001905"/>
            <a:ext cx="700798" cy="712150"/>
          </a:xfrm>
          <a:prstGeom prst="straightConnector1">
            <a:avLst/>
          </a:prstGeom>
          <a:noFill/>
          <a:ln w="22225" cap="flat" cmpd="sng" algn="ctr">
            <a:solidFill>
              <a:schemeClr val="accent6">
                <a:lumMod val="50000"/>
              </a:schemeClr>
            </a:solidFill>
            <a:prstDash val="solid"/>
            <a:headEnd type="none" w="med" len="med"/>
            <a:tailEnd type="triangle" w="med" len="lg"/>
          </a:ln>
          <a:effectLst/>
        </p:spPr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F9370557-8BEA-71E0-60D9-12444D34E0BA}"/>
              </a:ext>
            </a:extLst>
          </p:cNvPr>
          <p:cNvCxnSpPr>
            <a:cxnSpLocks/>
            <a:stCxn id="28" idx="1"/>
            <a:endCxn id="41" idx="2"/>
          </p:cNvCxnSpPr>
          <p:nvPr/>
        </p:nvCxnSpPr>
        <p:spPr>
          <a:xfrm flipH="1">
            <a:off x="2469311" y="4682874"/>
            <a:ext cx="716025" cy="5554"/>
          </a:xfrm>
          <a:prstGeom prst="straightConnector1">
            <a:avLst/>
          </a:prstGeom>
          <a:noFill/>
          <a:ln w="22225" cap="flat" cmpd="sng" algn="ctr">
            <a:solidFill>
              <a:schemeClr val="accent6">
                <a:lumMod val="50000"/>
              </a:schemeClr>
            </a:solidFill>
            <a:prstDash val="solid"/>
            <a:headEnd type="none" w="med" len="med"/>
            <a:tailEnd type="triangle" w="med" len="lg"/>
          </a:ln>
          <a:effectLst/>
        </p:spPr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F6E78F07-D4FD-D5C9-CB13-1D0860C28A12}"/>
              </a:ext>
            </a:extLst>
          </p:cNvPr>
          <p:cNvSpPr/>
          <p:nvPr/>
        </p:nvSpPr>
        <p:spPr>
          <a:xfrm>
            <a:off x="3106416" y="2798232"/>
            <a:ext cx="42940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负责管理页表区，其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初始化为：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00C0"/>
                </a:solidFill>
                <a:latin typeface="Consolas"/>
                <a:ea typeface="宋体" charset="-122"/>
              </a:rPr>
              <a:t>map[0]. </a:t>
            </a:r>
            <a:r>
              <a:rPr lang="en-US" altLang="zh-CN" sz="1200" b="1" dirty="0" err="1">
                <a:solidFill>
                  <a:srgbClr val="0000C0"/>
                </a:solidFill>
                <a:latin typeface="Consolas"/>
                <a:ea typeface="宋体" charset="-122"/>
              </a:rPr>
              <a:t>m_AddressIdx</a:t>
            </a:r>
            <a:r>
              <a:rPr lang="en-US" altLang="zh-CN" sz="1200" b="1" dirty="0">
                <a:solidFill>
                  <a:srgbClr val="0000C0"/>
                </a:solidFill>
                <a:latin typeface="Consolas"/>
                <a:ea typeface="宋体" charset="-122"/>
              </a:rPr>
              <a:t> = 2M+16K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，即：从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204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号页框开始。</a:t>
            </a:r>
            <a:r>
              <a:rPr lang="en-US" altLang="zh-CN" sz="1200" b="1" dirty="0">
                <a:solidFill>
                  <a:srgbClr val="0000C0"/>
                </a:solidFill>
                <a:latin typeface="Consolas"/>
                <a:ea typeface="宋体" charset="-122"/>
              </a:rPr>
              <a:t> map[0]. </a:t>
            </a:r>
            <a:r>
              <a:rPr lang="en-US" altLang="zh-CN" sz="1200" b="1" dirty="0" err="1">
                <a:solidFill>
                  <a:srgbClr val="0000C0"/>
                </a:solidFill>
                <a:latin typeface="Consolas"/>
                <a:ea typeface="宋体" charset="-122"/>
              </a:rPr>
              <a:t>m_Size</a:t>
            </a:r>
            <a:r>
              <a:rPr lang="en-US" altLang="zh-CN" sz="1200" b="1" dirty="0">
                <a:solidFill>
                  <a:srgbClr val="0000C0"/>
                </a:solidFill>
                <a:latin typeface="Consolas"/>
                <a:ea typeface="宋体" charset="-122"/>
              </a:rPr>
              <a:t> = 2M-16K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，即：剩余的页表区。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73329F7-6EC8-A559-C1BD-54683313030F}"/>
              </a:ext>
            </a:extLst>
          </p:cNvPr>
          <p:cNvSpPr/>
          <p:nvPr/>
        </p:nvSpPr>
        <p:spPr>
          <a:xfrm>
            <a:off x="10435650" y="1133380"/>
            <a:ext cx="1430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000" b="1" dirty="0" err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PageManager.h</a:t>
            </a:r>
            <a:r>
              <a:rPr lang="en-US" altLang="zh-CN" sz="1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zh-CN" altLang="en-US" sz="10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E0A9A46-3139-CA8F-A968-C16C69E5C31A}"/>
              </a:ext>
            </a:extLst>
          </p:cNvPr>
          <p:cNvSpPr/>
          <p:nvPr/>
        </p:nvSpPr>
        <p:spPr>
          <a:xfrm>
            <a:off x="10399494" y="1360406"/>
            <a:ext cx="15909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&lt;PageManager.cpp&gt;</a:t>
            </a:r>
            <a:endParaRPr lang="zh-CN" altLang="en-US" sz="10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CD8AE967-667A-3F92-F4BB-7D4327C0EFC7}"/>
              </a:ext>
            </a:extLst>
          </p:cNvPr>
          <p:cNvCxnSpPr>
            <a:cxnSpLocks/>
            <a:stCxn id="5" idx="0"/>
            <a:endCxn id="27" idx="0"/>
          </p:cNvCxnSpPr>
          <p:nvPr/>
        </p:nvCxnSpPr>
        <p:spPr>
          <a:xfrm rot="16200000" flipH="1">
            <a:off x="7364809" y="-873712"/>
            <a:ext cx="430500" cy="4715445"/>
          </a:xfrm>
          <a:prstGeom prst="bentConnector3">
            <a:avLst>
              <a:gd name="adj1" fmla="val -53101"/>
            </a:avLst>
          </a:prstGeom>
          <a:ln w="952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7AA96AE0-5994-6434-97AB-3937086F6F65}"/>
              </a:ext>
            </a:extLst>
          </p:cNvPr>
          <p:cNvCxnSpPr>
            <a:cxnSpLocks/>
            <a:stCxn id="28" idx="2"/>
            <a:endCxn id="27" idx="2"/>
          </p:cNvCxnSpPr>
          <p:nvPr/>
        </p:nvCxnSpPr>
        <p:spPr>
          <a:xfrm rot="5400000" flipH="1" flipV="1">
            <a:off x="7450697" y="2945607"/>
            <a:ext cx="273952" cy="4700218"/>
          </a:xfrm>
          <a:prstGeom prst="bentConnector3">
            <a:avLst>
              <a:gd name="adj1" fmla="val -83445"/>
            </a:avLst>
          </a:prstGeom>
          <a:ln w="952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5593052F-0EA0-A49D-4FFD-1B55249216A9}"/>
              </a:ext>
            </a:extLst>
          </p:cNvPr>
          <p:cNvSpPr/>
          <p:nvPr/>
        </p:nvSpPr>
        <p:spPr>
          <a:xfrm>
            <a:off x="3114893" y="5531212"/>
            <a:ext cx="41833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用户区，其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初始化为：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宋体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00C0"/>
                </a:solidFill>
                <a:latin typeface="Consolas"/>
                <a:ea typeface="宋体" charset="-122"/>
              </a:rPr>
              <a:t>map[0]. </a:t>
            </a:r>
            <a:r>
              <a:rPr lang="en-US" altLang="zh-CN" sz="1200" b="1" dirty="0" err="1">
                <a:solidFill>
                  <a:srgbClr val="0000C0"/>
                </a:solidFill>
                <a:latin typeface="Consolas"/>
                <a:ea typeface="宋体" charset="-122"/>
              </a:rPr>
              <a:t>m_AddressIdx</a:t>
            </a:r>
            <a:r>
              <a:rPr lang="en-US" altLang="zh-CN" sz="1200" b="1" dirty="0">
                <a:solidFill>
                  <a:srgbClr val="0000C0"/>
                </a:solidFill>
                <a:latin typeface="Consolas"/>
                <a:ea typeface="宋体" charset="-122"/>
              </a:rPr>
              <a:t> = 4M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，大小至整个物理内存。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F8893DBC-B9D1-1885-34DC-09C4A204F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844040"/>
              </p:ext>
            </p:extLst>
          </p:nvPr>
        </p:nvGraphicFramePr>
        <p:xfrm>
          <a:off x="7959883" y="1699260"/>
          <a:ext cx="3955799" cy="3459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55799">
                  <a:extLst>
                    <a:ext uri="{9D8B030D-6E8A-4147-A177-3AD203B41FA5}">
                      <a16:colId xmlns:a16="http://schemas.microsoft.com/office/drawing/2014/main" val="3811497806"/>
                    </a:ext>
                  </a:extLst>
                </a:gridCol>
              </a:tblGrid>
              <a:tr h="250435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PageManager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184675"/>
                  </a:ext>
                </a:extLst>
              </a:tr>
              <a:tr h="574528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MapNode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PageManager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::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MEMORY_MAP_ARRAY_SIZE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];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 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</a:t>
                      </a:r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m_pAllocator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bitmap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-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</a:t>
                      </a:r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r>
                        <a:rPr lang="en-US" altLang="zh-CN" sz="11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m_pAllocator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308309"/>
                  </a:ext>
                </a:extLst>
              </a:tr>
              <a:tr h="16493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 /* </a:t>
                      </a:r>
                      <a:r>
                        <a:rPr lang="zh-CN" alt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设置</a:t>
                      </a: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m_pAllocator  */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PageManager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 /* </a:t>
                      </a:r>
                      <a:r>
                        <a:rPr lang="zh-CN" alt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设置</a:t>
                      </a:r>
                      <a:r>
                        <a:rPr lang="en-US" altLang="zh-CN" sz="11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bm_pAllocator</a:t>
                      </a: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 */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PageManager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 /* </a:t>
                      </a:r>
                      <a:r>
                        <a:rPr lang="zh-CN" alt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初始化</a:t>
                      </a:r>
                      <a:r>
                        <a:rPr kumimoji="0" lang="zh-CN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位示图</a:t>
                      </a: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bitmap</a:t>
                      </a:r>
                      <a:r>
                        <a:rPr kumimoji="0" lang="zh-CN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*/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Initialize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(); 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</a:p>
                    <a:p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/* </a:t>
                      </a:r>
                      <a:r>
                        <a:rPr kumimoji="0" lang="zh-CN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调用</a:t>
                      </a:r>
                      <a:r>
                        <a:rPr kumimoji="0" lang="en-US" altLang="zh-CN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m_pAllocator-&gt;</a:t>
                      </a:r>
                      <a:r>
                        <a:rPr kumimoji="0" lang="en-US" altLang="zh-CN" sz="11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Alloc</a:t>
                      </a:r>
                      <a:r>
                        <a:rPr kumimoji="0" lang="zh-CN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完成内存分配   </a:t>
                      </a:r>
                      <a:r>
                        <a:rPr kumimoji="0" lang="en-US" altLang="zh-CN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*/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AllocMemory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endParaRPr kumimoji="0" lang="en-US" altLang="zh-CN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</a:p>
                    <a:p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B3B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/* </a:t>
                      </a:r>
                      <a:r>
                        <a:rPr kumimoji="0" lang="zh-CN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调用</a:t>
                      </a:r>
                      <a:r>
                        <a:rPr kumimoji="0" lang="en-US" altLang="zh-CN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m_pAllocator-&gt;Free</a:t>
                      </a:r>
                      <a:r>
                        <a:rPr kumimoji="0" lang="zh-CN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完成内存回收    </a:t>
                      </a:r>
                      <a:r>
                        <a:rPr kumimoji="0" lang="en-US" altLang="zh-CN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*/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FreeMemory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endParaRPr kumimoji="0" lang="en-US" altLang="zh-CN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5538370"/>
                  </a:ext>
                </a:extLst>
              </a:tr>
            </a:tbl>
          </a:graphicData>
        </a:graphic>
      </p:graphicFrame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A18FEFF-D224-84F3-5ADF-1FD3B081EC44}"/>
              </a:ext>
            </a:extLst>
          </p:cNvPr>
          <p:cNvSpPr/>
          <p:nvPr/>
        </p:nvSpPr>
        <p:spPr>
          <a:xfrm>
            <a:off x="7903096" y="2337355"/>
            <a:ext cx="4111264" cy="36512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F922F859-F74A-6A76-1AA0-7951194EA120}"/>
              </a:ext>
            </a:extLst>
          </p:cNvPr>
          <p:cNvSpPr/>
          <p:nvPr/>
        </p:nvSpPr>
        <p:spPr>
          <a:xfrm>
            <a:off x="7913097" y="3255887"/>
            <a:ext cx="4111264" cy="36512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C5251502-8AF6-9739-41D4-BBA6C419F103}"/>
              </a:ext>
            </a:extLst>
          </p:cNvPr>
          <p:cNvSpPr/>
          <p:nvPr/>
        </p:nvSpPr>
        <p:spPr>
          <a:xfrm>
            <a:off x="7897566" y="3763189"/>
            <a:ext cx="4126795" cy="1343319"/>
          </a:xfrm>
          <a:prstGeom prst="roundRect">
            <a:avLst>
              <a:gd name="adj" fmla="val 957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2545344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82E4A4-4B4D-41BF-9F68-1575C742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353A2E-92EE-4F23-A078-2A07C43737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C4DE104-5DA1-4B88-B642-58DE3423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存储空间管理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52BE9DD-DEA9-325C-1D0F-ED9651C26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29" y="2715812"/>
            <a:ext cx="244012" cy="1426376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wrap="square" tIns="0" bIns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位示图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管理内存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15F141F-891A-074F-66FD-AEACBA875A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010656"/>
              </p:ext>
            </p:extLst>
          </p:nvPr>
        </p:nvGraphicFramePr>
        <p:xfrm>
          <a:off x="3170109" y="1268760"/>
          <a:ext cx="4104456" cy="1466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3811497806"/>
                    </a:ext>
                  </a:extLst>
                </a:gridCol>
              </a:tblGrid>
              <a:tr h="241527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KernelPageManager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: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PageManager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184675"/>
                  </a:ext>
                </a:extLst>
              </a:tr>
              <a:tr h="241527">
                <a:tc>
                  <a:txBody>
                    <a:bodyPr/>
                    <a:lstStyle/>
                    <a:p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308309"/>
                  </a:ext>
                </a:extLst>
              </a:tr>
              <a:tr h="948130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KernelPageManager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KernelPageManager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/* </a:t>
                      </a:r>
                      <a:r>
                        <a:rPr lang="zh-CN" alt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初始化</a:t>
                      </a: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MapNode map[0]</a:t>
                      </a:r>
                      <a:r>
                        <a:rPr lang="zh-CN" alt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为内核物理页区起始地址、大小 *</a:t>
                      </a: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</a:t>
                      </a:r>
                      <a:endParaRPr lang="zh-CN" altLang="en-US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Initialize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();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5538370"/>
                  </a:ext>
                </a:extLst>
              </a:tr>
            </a:tbl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D4B7DACB-88D1-97E2-D11D-ABA1C5C6BFF5}"/>
              </a:ext>
            </a:extLst>
          </p:cNvPr>
          <p:cNvGrpSpPr/>
          <p:nvPr/>
        </p:nvGrpSpPr>
        <p:grpSpPr>
          <a:xfrm>
            <a:off x="943829" y="805845"/>
            <a:ext cx="1935683" cy="5407858"/>
            <a:chOff x="6956797" y="692696"/>
            <a:chExt cx="1935683" cy="5407858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811D149-4AF4-A6BB-59BF-A791350D1AAB}"/>
                </a:ext>
              </a:extLst>
            </p:cNvPr>
            <p:cNvSpPr/>
            <p:nvPr/>
          </p:nvSpPr>
          <p:spPr>
            <a:xfrm>
              <a:off x="6959695" y="850692"/>
              <a:ext cx="1103810" cy="1239828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zh-CN" altLang="en-US" sz="1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DA3F067-BBD7-4452-E71B-82EC23B04AF0}"/>
                </a:ext>
              </a:extLst>
            </p:cNvPr>
            <p:cNvSpPr/>
            <p:nvPr/>
          </p:nvSpPr>
          <p:spPr>
            <a:xfrm>
              <a:off x="6959695" y="2106400"/>
              <a:ext cx="1103809" cy="989012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400" b="1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页表区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EA49D01F-BDC3-C652-D365-53405ED411D5}"/>
                </a:ext>
              </a:extLst>
            </p:cNvPr>
            <p:cNvSpPr/>
            <p:nvPr/>
          </p:nvSpPr>
          <p:spPr>
            <a:xfrm>
              <a:off x="6961281" y="3111292"/>
              <a:ext cx="1103809" cy="2989262"/>
            </a:xfrm>
            <a:prstGeom prst="rect">
              <a:avLst/>
            </a:prstGeom>
            <a:gradFill rotWithShape="1">
              <a:gsLst>
                <a:gs pos="0">
                  <a:srgbClr val="63891F">
                    <a:tint val="50000"/>
                    <a:satMod val="300000"/>
                  </a:srgbClr>
                </a:gs>
                <a:gs pos="35000">
                  <a:srgbClr val="63891F">
                    <a:tint val="37000"/>
                    <a:satMod val="300000"/>
                  </a:srgbClr>
                </a:gs>
                <a:gs pos="100000">
                  <a:srgbClr val="63891F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63891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sz="1400" b="1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用户区</a:t>
              </a:r>
            </a:p>
          </p:txBody>
        </p:sp>
        <p:sp>
          <p:nvSpPr>
            <p:cNvPr id="19" name="矩形 47">
              <a:extLst>
                <a:ext uri="{FF2B5EF4-FFF2-40B4-BE49-F238E27FC236}">
                  <a16:creationId xmlns:a16="http://schemas.microsoft.com/office/drawing/2014/main" id="{E83CD6AD-0022-558A-EEA3-A8D033D8B7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56810" y="692696"/>
              <a:ext cx="690562" cy="338361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E60994A-21AD-6BE9-D81C-759C2057D8E1}"/>
                </a:ext>
              </a:extLst>
            </p:cNvPr>
            <p:cNvSpPr/>
            <p:nvPr/>
          </p:nvSpPr>
          <p:spPr>
            <a:xfrm>
              <a:off x="6956797" y="852279"/>
              <a:ext cx="1106708" cy="5248275"/>
            </a:xfrm>
            <a:prstGeom prst="rect">
              <a:avLst/>
            </a:prstGeom>
            <a:noFill/>
            <a:ln w="19050" cap="flat" cmpd="sng" algn="ctr">
              <a:solidFill>
                <a:srgbClr val="008000"/>
              </a:solidFill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14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 41">
              <a:extLst>
                <a:ext uri="{FF2B5EF4-FFF2-40B4-BE49-F238E27FC236}">
                  <a16:creationId xmlns:a16="http://schemas.microsoft.com/office/drawing/2014/main" id="{2CDD47FF-3C7D-226B-C5CE-C35AF9B4BC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17595" y="1909040"/>
              <a:ext cx="865187" cy="4349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2M</a:t>
              </a:r>
            </a:p>
          </p:txBody>
        </p:sp>
        <p:sp>
          <p:nvSpPr>
            <p:cNvPr id="26" name="矩形 43">
              <a:extLst>
                <a:ext uri="{FF2B5EF4-FFF2-40B4-BE49-F238E27FC236}">
                  <a16:creationId xmlns:a16="http://schemas.microsoft.com/office/drawing/2014/main" id="{0120AB13-8587-C180-ED3E-102D50C37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7293" y="2896439"/>
              <a:ext cx="865187" cy="434975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r>
                <a:rPr lang="en-US" altLang="zh-CN" sz="1400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4M</a:t>
              </a:r>
            </a:p>
          </p:txBody>
        </p:sp>
      </p:grpSp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FDC1F0A2-9E58-A845-C045-A4EF22094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340329"/>
              </p:ext>
            </p:extLst>
          </p:nvPr>
        </p:nvGraphicFramePr>
        <p:xfrm>
          <a:off x="3185336" y="3933057"/>
          <a:ext cx="4104456" cy="1499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3811497806"/>
                    </a:ext>
                  </a:extLst>
                </a:gridCol>
              </a:tblGrid>
              <a:tr h="229343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UserPageManager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: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public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PageManager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184675"/>
                  </a:ext>
                </a:extLst>
              </a:tr>
              <a:tr h="229343">
                <a:tc>
                  <a:txBody>
                    <a:bodyPr/>
                    <a:lstStyle/>
                    <a:p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308309"/>
                  </a:ext>
                </a:extLst>
              </a:tr>
              <a:tr h="981475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UserPageManager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UserPageManager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/* </a:t>
                      </a:r>
                      <a:r>
                        <a:rPr lang="zh-CN" alt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初始化</a:t>
                      </a: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MapNode map[0]</a:t>
                      </a:r>
                      <a:r>
                        <a:rPr lang="zh-CN" alt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为内核物理页区起始地址、大小 *</a:t>
                      </a: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</a:t>
                      </a:r>
                      <a:endParaRPr lang="zh-CN" altLang="en-US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Initialize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();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5538370"/>
                  </a:ext>
                </a:extLst>
              </a:tr>
            </a:tbl>
          </a:graphicData>
        </a:graphic>
      </p:graphicFrame>
      <p:sp>
        <p:nvSpPr>
          <p:cNvPr id="40" name="右中括号 39">
            <a:extLst>
              <a:ext uri="{FF2B5EF4-FFF2-40B4-BE49-F238E27FC236}">
                <a16:creationId xmlns:a16="http://schemas.microsoft.com/office/drawing/2014/main" id="{8D3C2DF5-3E76-D5C7-6A2B-52027F8A41AA}"/>
              </a:ext>
            </a:extLst>
          </p:cNvPr>
          <p:cNvSpPr/>
          <p:nvPr/>
        </p:nvSpPr>
        <p:spPr>
          <a:xfrm>
            <a:off x="2423592" y="2259703"/>
            <a:ext cx="45719" cy="908704"/>
          </a:xfrm>
          <a:prstGeom prst="rightBracket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右中括号 40">
            <a:extLst>
              <a:ext uri="{FF2B5EF4-FFF2-40B4-BE49-F238E27FC236}">
                <a16:creationId xmlns:a16="http://schemas.microsoft.com/office/drawing/2014/main" id="{D00ED36A-0173-17D4-2628-C776C33EA6D1}"/>
              </a:ext>
            </a:extLst>
          </p:cNvPr>
          <p:cNvSpPr/>
          <p:nvPr/>
        </p:nvSpPr>
        <p:spPr>
          <a:xfrm>
            <a:off x="2423592" y="3324701"/>
            <a:ext cx="45719" cy="2727454"/>
          </a:xfrm>
          <a:prstGeom prst="rightBracket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5C9BCF45-CF5A-1085-39EE-17D38BF411ED}"/>
              </a:ext>
            </a:extLst>
          </p:cNvPr>
          <p:cNvCxnSpPr>
            <a:cxnSpLocks/>
            <a:stCxn id="5" idx="1"/>
            <a:endCxn id="40" idx="2"/>
          </p:cNvCxnSpPr>
          <p:nvPr/>
        </p:nvCxnSpPr>
        <p:spPr>
          <a:xfrm flipH="1">
            <a:off x="2469311" y="2001905"/>
            <a:ext cx="700798" cy="712150"/>
          </a:xfrm>
          <a:prstGeom prst="straightConnector1">
            <a:avLst/>
          </a:prstGeom>
          <a:noFill/>
          <a:ln w="22225" cap="flat" cmpd="sng" algn="ctr">
            <a:solidFill>
              <a:schemeClr val="accent6">
                <a:lumMod val="50000"/>
              </a:schemeClr>
            </a:solidFill>
            <a:prstDash val="solid"/>
            <a:headEnd type="none" w="med" len="med"/>
            <a:tailEnd type="triangle" w="med" len="lg"/>
          </a:ln>
          <a:effectLst/>
        </p:spPr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F9370557-8BEA-71E0-60D9-12444D34E0BA}"/>
              </a:ext>
            </a:extLst>
          </p:cNvPr>
          <p:cNvCxnSpPr>
            <a:cxnSpLocks/>
            <a:stCxn id="28" idx="1"/>
            <a:endCxn id="41" idx="2"/>
          </p:cNvCxnSpPr>
          <p:nvPr/>
        </p:nvCxnSpPr>
        <p:spPr>
          <a:xfrm flipH="1">
            <a:off x="2469311" y="4682874"/>
            <a:ext cx="716025" cy="5554"/>
          </a:xfrm>
          <a:prstGeom prst="straightConnector1">
            <a:avLst/>
          </a:prstGeom>
          <a:noFill/>
          <a:ln w="22225" cap="flat" cmpd="sng" algn="ctr">
            <a:solidFill>
              <a:schemeClr val="accent6">
                <a:lumMod val="50000"/>
              </a:schemeClr>
            </a:solidFill>
            <a:prstDash val="solid"/>
            <a:headEnd type="none" w="med" len="med"/>
            <a:tailEnd type="triangle" w="med" len="lg"/>
          </a:ln>
          <a:effectLst/>
        </p:spPr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F6E78F07-D4FD-D5C9-CB13-1D0860C28A12}"/>
              </a:ext>
            </a:extLst>
          </p:cNvPr>
          <p:cNvSpPr/>
          <p:nvPr/>
        </p:nvSpPr>
        <p:spPr>
          <a:xfrm>
            <a:off x="3106416" y="2798232"/>
            <a:ext cx="42940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负责管理页表区，其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bitmap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初始化为：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00C0"/>
                </a:solidFill>
                <a:latin typeface="Consolas"/>
                <a:ea typeface="宋体" charset="-122"/>
              </a:rPr>
              <a:t>map[0]. </a:t>
            </a:r>
            <a:r>
              <a:rPr lang="en-US" altLang="zh-CN" sz="1200" b="1" dirty="0" err="1">
                <a:solidFill>
                  <a:srgbClr val="0000C0"/>
                </a:solidFill>
                <a:latin typeface="Consolas"/>
                <a:ea typeface="宋体" charset="-122"/>
              </a:rPr>
              <a:t>m_AddressIdx</a:t>
            </a:r>
            <a:r>
              <a:rPr lang="en-US" altLang="zh-CN" sz="1200" b="1" dirty="0">
                <a:solidFill>
                  <a:srgbClr val="0000C0"/>
                </a:solidFill>
                <a:latin typeface="Consolas"/>
                <a:ea typeface="宋体" charset="-122"/>
              </a:rPr>
              <a:t> = 2M+16K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，即：从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204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号页框开始。</a:t>
            </a:r>
            <a:r>
              <a:rPr lang="en-US" altLang="zh-CN" sz="1200" b="1" dirty="0">
                <a:solidFill>
                  <a:srgbClr val="0000C0"/>
                </a:solidFill>
                <a:latin typeface="Consolas"/>
                <a:ea typeface="宋体" charset="-122"/>
              </a:rPr>
              <a:t> map[0]. </a:t>
            </a:r>
            <a:r>
              <a:rPr lang="en-US" altLang="zh-CN" sz="1200" b="1" dirty="0" err="1">
                <a:solidFill>
                  <a:srgbClr val="0000C0"/>
                </a:solidFill>
                <a:latin typeface="Consolas"/>
                <a:ea typeface="宋体" charset="-122"/>
              </a:rPr>
              <a:t>m_Size</a:t>
            </a:r>
            <a:r>
              <a:rPr lang="en-US" altLang="zh-CN" sz="1200" b="1" dirty="0">
                <a:solidFill>
                  <a:srgbClr val="0000C0"/>
                </a:solidFill>
                <a:latin typeface="Consolas"/>
                <a:ea typeface="宋体" charset="-122"/>
              </a:rPr>
              <a:t> = 2M-16K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，即：剩余的页表区。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2DCBEDF-5425-8EA6-64C4-2EF48DD866D0}"/>
              </a:ext>
            </a:extLst>
          </p:cNvPr>
          <p:cNvSpPr/>
          <p:nvPr/>
        </p:nvSpPr>
        <p:spPr>
          <a:xfrm>
            <a:off x="3114893" y="5531212"/>
            <a:ext cx="41833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用户区，其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bitmap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初始化为：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宋体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00C0"/>
                </a:solidFill>
                <a:latin typeface="Consolas"/>
                <a:ea typeface="宋体" charset="-122"/>
              </a:rPr>
              <a:t>map[0]. </a:t>
            </a:r>
            <a:r>
              <a:rPr lang="en-US" altLang="zh-CN" sz="1200" b="1" dirty="0" err="1">
                <a:solidFill>
                  <a:srgbClr val="0000C0"/>
                </a:solidFill>
                <a:latin typeface="Consolas"/>
                <a:ea typeface="宋体" charset="-122"/>
              </a:rPr>
              <a:t>m_AddressIdx</a:t>
            </a:r>
            <a:r>
              <a:rPr lang="en-US" altLang="zh-CN" sz="1200" b="1" dirty="0">
                <a:solidFill>
                  <a:srgbClr val="0000C0"/>
                </a:solidFill>
                <a:latin typeface="Consolas"/>
                <a:ea typeface="宋体" charset="-122"/>
              </a:rPr>
              <a:t> = 4M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，大小至整个物理内存。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73329F7-6EC8-A559-C1BD-54683313030F}"/>
              </a:ext>
            </a:extLst>
          </p:cNvPr>
          <p:cNvSpPr/>
          <p:nvPr/>
        </p:nvSpPr>
        <p:spPr>
          <a:xfrm>
            <a:off x="10435650" y="1133380"/>
            <a:ext cx="1430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000" b="1" dirty="0" err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PageManager.h</a:t>
            </a:r>
            <a:r>
              <a:rPr lang="en-US" altLang="zh-CN" sz="1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zh-CN" altLang="en-US" sz="10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E0A9A46-3139-CA8F-A968-C16C69E5C31A}"/>
              </a:ext>
            </a:extLst>
          </p:cNvPr>
          <p:cNvSpPr/>
          <p:nvPr/>
        </p:nvSpPr>
        <p:spPr>
          <a:xfrm>
            <a:off x="10399494" y="1360406"/>
            <a:ext cx="15909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&lt;PageManager.cpp&gt;</a:t>
            </a:r>
            <a:endParaRPr lang="zh-CN" altLang="en-US" sz="10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CD8AE967-667A-3F92-F4BB-7D4327C0EFC7}"/>
              </a:ext>
            </a:extLst>
          </p:cNvPr>
          <p:cNvCxnSpPr>
            <a:cxnSpLocks/>
            <a:stCxn id="5" idx="0"/>
            <a:endCxn id="18" idx="0"/>
          </p:cNvCxnSpPr>
          <p:nvPr/>
        </p:nvCxnSpPr>
        <p:spPr>
          <a:xfrm rot="16200000" flipH="1">
            <a:off x="7364809" y="-873712"/>
            <a:ext cx="430500" cy="4715445"/>
          </a:xfrm>
          <a:prstGeom prst="bentConnector3">
            <a:avLst>
              <a:gd name="adj1" fmla="val -53101"/>
            </a:avLst>
          </a:prstGeom>
          <a:ln w="952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7AA96AE0-5994-6434-97AB-3937086F6F65}"/>
              </a:ext>
            </a:extLst>
          </p:cNvPr>
          <p:cNvCxnSpPr>
            <a:cxnSpLocks/>
            <a:stCxn id="28" idx="2"/>
            <a:endCxn id="18" idx="2"/>
          </p:cNvCxnSpPr>
          <p:nvPr/>
        </p:nvCxnSpPr>
        <p:spPr>
          <a:xfrm rot="5400000" flipH="1" flipV="1">
            <a:off x="7450697" y="2945607"/>
            <a:ext cx="273952" cy="4700218"/>
          </a:xfrm>
          <a:prstGeom prst="bentConnector3">
            <a:avLst>
              <a:gd name="adj1" fmla="val -83445"/>
            </a:avLst>
          </a:prstGeom>
          <a:ln w="952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5CB3E51-E090-D40D-6543-98496D0FBB14}"/>
              </a:ext>
            </a:extLst>
          </p:cNvPr>
          <p:cNvSpPr/>
          <p:nvPr/>
        </p:nvSpPr>
        <p:spPr>
          <a:xfrm>
            <a:off x="3059233" y="2107817"/>
            <a:ext cx="4294042" cy="62012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DD5D485-DF7C-18BB-0729-BDFC132C0C3C}"/>
              </a:ext>
            </a:extLst>
          </p:cNvPr>
          <p:cNvSpPr/>
          <p:nvPr/>
        </p:nvSpPr>
        <p:spPr>
          <a:xfrm>
            <a:off x="5114126" y="2495940"/>
            <a:ext cx="21631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添加构造函数，修改初始化操作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940E7EB-B34E-1EAF-19B6-0007498DF894}"/>
              </a:ext>
            </a:extLst>
          </p:cNvPr>
          <p:cNvSpPr/>
          <p:nvPr/>
        </p:nvSpPr>
        <p:spPr>
          <a:xfrm>
            <a:off x="3071744" y="4810047"/>
            <a:ext cx="4294042" cy="62012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69A0FB2-5145-20F4-685D-A400CD4FE4DF}"/>
              </a:ext>
            </a:extLst>
          </p:cNvPr>
          <p:cNvSpPr/>
          <p:nvPr/>
        </p:nvSpPr>
        <p:spPr>
          <a:xfrm>
            <a:off x="5126637" y="5198170"/>
            <a:ext cx="21631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添加构造函数，修改初始化操作</a:t>
            </a: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3839AFBA-F9FA-247F-9FC0-85825A13BA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925388"/>
              </p:ext>
            </p:extLst>
          </p:nvPr>
        </p:nvGraphicFramePr>
        <p:xfrm>
          <a:off x="7959883" y="1699260"/>
          <a:ext cx="3955799" cy="3459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55799">
                  <a:extLst>
                    <a:ext uri="{9D8B030D-6E8A-4147-A177-3AD203B41FA5}">
                      <a16:colId xmlns:a16="http://schemas.microsoft.com/office/drawing/2014/main" val="3811497806"/>
                    </a:ext>
                  </a:extLst>
                </a:gridCol>
              </a:tblGrid>
              <a:tr h="250435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PageManager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184675"/>
                  </a:ext>
                </a:extLst>
              </a:tr>
              <a:tr h="574528">
                <a:tc>
                  <a:txBody>
                    <a:bodyPr/>
                    <a:lstStyle/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MapNode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PageManager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::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MEMORY_MAP_ARRAY_SIZE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];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 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</a:t>
                      </a:r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m_pAllocator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bitmap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- 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</a:t>
                      </a:r>
                      <a:r>
                        <a:rPr lang="en-US" altLang="zh-CN" sz="11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r>
                        <a:rPr lang="en-US" altLang="zh-CN" sz="11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m_pAllocator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308309"/>
                  </a:ext>
                </a:extLst>
              </a:tr>
              <a:tr h="16493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 /* </a:t>
                      </a:r>
                      <a:r>
                        <a:rPr lang="zh-CN" alt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设置</a:t>
                      </a: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m_pAllocator  */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PageManager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 /* </a:t>
                      </a:r>
                      <a:r>
                        <a:rPr lang="zh-CN" alt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设置</a:t>
                      </a:r>
                      <a:r>
                        <a:rPr lang="en-US" altLang="zh-CN" sz="11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bm_pAllocator</a:t>
                      </a: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 */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PageManager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BitMapAllocator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allocator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 /* </a:t>
                      </a:r>
                      <a:r>
                        <a:rPr lang="zh-CN" altLang="en-US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初始化</a:t>
                      </a:r>
                      <a:r>
                        <a:rPr kumimoji="0" lang="zh-CN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位示图</a:t>
                      </a: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bitmap</a:t>
                      </a:r>
                      <a:r>
                        <a:rPr kumimoji="0" lang="zh-CN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*/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Initialize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(); </a:t>
                      </a: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</a:p>
                    <a:p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/* </a:t>
                      </a:r>
                      <a:r>
                        <a:rPr kumimoji="0" lang="zh-CN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调用</a:t>
                      </a:r>
                      <a:r>
                        <a:rPr kumimoji="0" lang="en-US" altLang="zh-CN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m_pAllocator-&gt;</a:t>
                      </a:r>
                      <a:r>
                        <a:rPr kumimoji="0" lang="en-US" altLang="zh-CN" sz="11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Alloc</a:t>
                      </a:r>
                      <a:r>
                        <a:rPr kumimoji="0" lang="zh-CN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完成内存分配   </a:t>
                      </a:r>
                      <a:r>
                        <a:rPr kumimoji="0" lang="en-US" altLang="zh-CN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*/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AllocMemory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endParaRPr kumimoji="0" lang="en-US" altLang="zh-CN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</a:p>
                    <a:p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B3B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/* </a:t>
                      </a:r>
                      <a:r>
                        <a:rPr kumimoji="0" lang="zh-CN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调用</a:t>
                      </a:r>
                      <a:r>
                        <a:rPr kumimoji="0" lang="en-US" altLang="zh-CN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m_pAllocator-&gt;Free</a:t>
                      </a:r>
                      <a:r>
                        <a:rPr kumimoji="0" lang="zh-CN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完成内存回收    </a:t>
                      </a:r>
                      <a:r>
                        <a:rPr kumimoji="0" lang="en-US" altLang="zh-CN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*/</a:t>
                      </a:r>
                      <a:endParaRPr lang="en-US" altLang="zh-CN" sz="11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+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CN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FreeMemory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r>
                        <a:rPr lang="en-US" altLang="zh-CN" sz="11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  <a:r>
                        <a:rPr lang="en-US" altLang="zh-CN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endParaRPr kumimoji="0" lang="en-US" altLang="zh-CN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5538370"/>
                  </a:ext>
                </a:extLst>
              </a:tr>
            </a:tbl>
          </a:graphicData>
        </a:graphic>
      </p:graphicFrame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26AE2B1-C53C-DDC1-52AE-AAF287069986}"/>
              </a:ext>
            </a:extLst>
          </p:cNvPr>
          <p:cNvSpPr/>
          <p:nvPr/>
        </p:nvSpPr>
        <p:spPr>
          <a:xfrm>
            <a:off x="7903096" y="2337355"/>
            <a:ext cx="4111264" cy="36512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7B22A7C-ED72-9A0B-3A51-7DA1204EA42B}"/>
              </a:ext>
            </a:extLst>
          </p:cNvPr>
          <p:cNvSpPr/>
          <p:nvPr/>
        </p:nvSpPr>
        <p:spPr>
          <a:xfrm>
            <a:off x="7913097" y="3255887"/>
            <a:ext cx="4111264" cy="36512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7599272-E035-3736-BDF6-677CB3BFAC84}"/>
              </a:ext>
            </a:extLst>
          </p:cNvPr>
          <p:cNvSpPr/>
          <p:nvPr/>
        </p:nvSpPr>
        <p:spPr>
          <a:xfrm>
            <a:off x="7897566" y="3763189"/>
            <a:ext cx="4126795" cy="1343319"/>
          </a:xfrm>
          <a:prstGeom prst="roundRect">
            <a:avLst>
              <a:gd name="adj" fmla="val 957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956311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82E4A4-4B4D-41BF-9F68-1575C742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353A2E-92EE-4F23-A078-2A07C43737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C4DE104-5DA1-4B88-B642-58DE3423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需要完成的设计内容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39E414-46C6-82FA-90D6-990D035D542D}"/>
              </a:ext>
            </a:extLst>
          </p:cNvPr>
          <p:cNvSpPr txBox="1"/>
          <p:nvPr/>
        </p:nvSpPr>
        <p:spPr>
          <a:xfrm>
            <a:off x="3503712" y="3093173"/>
            <a:ext cx="53826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离散化存储</a:t>
            </a:r>
          </a:p>
        </p:txBody>
      </p:sp>
    </p:spTree>
    <p:extLst>
      <p:ext uri="{BB962C8B-B14F-4D97-AF65-F5344CB8AC3E}">
        <p14:creationId xmlns:p14="http://schemas.microsoft.com/office/powerpoint/2010/main" val="81910630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17745</TotalTime>
  <Words>3888</Words>
  <Application>Microsoft Office PowerPoint</Application>
  <PresentationFormat>宽屏</PresentationFormat>
  <Paragraphs>1020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等线</vt:lpstr>
      <vt:lpstr>等线 Light</vt:lpstr>
      <vt:lpstr>微软雅黑</vt:lpstr>
      <vt:lpstr>Arial</vt:lpstr>
      <vt:lpstr>Consolas</vt:lpstr>
      <vt:lpstr>Impact</vt:lpstr>
      <vt:lpstr>Times New Roman</vt:lpstr>
      <vt:lpstr>1_Office 主题​​</vt:lpstr>
      <vt:lpstr>PowerPoint 演示文稿</vt:lpstr>
      <vt:lpstr>内存管理方式</vt:lpstr>
      <vt:lpstr>需要完成的设计内容</vt:lpstr>
      <vt:lpstr>页表系统</vt:lpstr>
      <vt:lpstr>页表系统</vt:lpstr>
      <vt:lpstr>页表系统</vt:lpstr>
      <vt:lpstr>页表系统</vt:lpstr>
      <vt:lpstr>页表系统</vt:lpstr>
      <vt:lpstr>页表系统</vt:lpstr>
      <vt:lpstr>页表系统</vt:lpstr>
      <vt:lpstr>页表系统</vt:lpstr>
      <vt:lpstr>页表系统</vt:lpstr>
      <vt:lpstr>页表系统</vt:lpstr>
      <vt:lpstr>页表系统</vt:lpstr>
      <vt:lpstr>页表系统</vt:lpstr>
      <vt:lpstr>页表系统</vt:lpstr>
      <vt:lpstr>页表系统</vt:lpstr>
      <vt:lpstr>页表系统</vt:lpstr>
      <vt:lpstr>需要完成的设计内容</vt:lpstr>
      <vt:lpstr>存储空间管理</vt:lpstr>
      <vt:lpstr>存储空间管理</vt:lpstr>
      <vt:lpstr>存储空间管理</vt:lpstr>
      <vt:lpstr>存储空间管理</vt:lpstr>
      <vt:lpstr>存储空间管理</vt:lpstr>
      <vt:lpstr>存储空间管理</vt:lpstr>
      <vt:lpstr>存储空间管理</vt:lpstr>
      <vt:lpstr>存储空间管理</vt:lpstr>
      <vt:lpstr>需要完成的设计内容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fangyu</dc:creator>
  <cp:lastModifiedBy>FangYu</cp:lastModifiedBy>
  <cp:revision>276</cp:revision>
  <dcterms:created xsi:type="dcterms:W3CDTF">2013-03-27T02:55:19Z</dcterms:created>
  <dcterms:modified xsi:type="dcterms:W3CDTF">2026-04-03T00:19:08Z</dcterms:modified>
</cp:coreProperties>
</file>